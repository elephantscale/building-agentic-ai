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Building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Foundations of Agentic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Reflection &amp; Self-Evaluation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Tools, Structured Output &amp; MCP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&amp; Vector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Evaluation, Error Analysis &amp; Debugging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Multi-Agent Systems &amp; Planning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LangGraph &amp; Tavily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Low-Code Agentic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Agentic on AWS Bedrock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DSPy &amp; Databricks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Agentic with Claude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Voice Agents with Google ADK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Governance with Databricks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Capstone: Enterprise AI Agent Challenge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Pre-requisites and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Comfortable with</a:t>
            </a:r>
            <a:r>
              <a:rPr b="1"/>
              <a:t> Python</a:t>
            </a:r>
            <a:r>
              <a:t> (functions, packages, virtual environments)</a:t>
            </a:r>
          </a:p>
          <a:p>
            <a:r>
              <a:t> Comfortable with</a:t>
            </a:r>
            <a:r>
              <a:rPr b="1"/>
              <a:t> API calls and JSON</a:t>
            </a:r>
          </a:p>
          <a:p>
            <a:r>
              <a:t> Basic</a:t>
            </a:r>
            <a:r>
              <a:rPr b="1"/>
              <a:t> machine-learning / LLM</a:t>
            </a:r>
            <a:r>
              <a:t> familiarity is helpful, not required</a:t>
            </a:r>
          </a:p>
          <a:p>
            <a:r>
              <a:t> Curiosity!</a:t>
            </a:r>
          </a:p>
          <a:p>
            <a:pPr lvl="1"/>
            <a:r>
              <a:t> Ask a lot of questions</a:t>
            </a:r>
          </a:p>
          <a:p>
            <a:pPr lvl="1"/>
            <a:r>
              <a:t> Agents are new — we are all still learning the patterns</a:t>
            </a:r>
          </a:p>
          <a:p>
            <a:r>
              <a:t> Class will move at the pace of the majority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Teaching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Emphasis on concepts &amp; fundamentals — patterns outlive frameworks</a:t>
            </a:r>
          </a:p>
          <a:p>
            <a:r>
              <a:t> API — no need to learn anything by heart</a:t>
            </a:r>
          </a:p>
          <a:p>
            <a:r>
              <a:t> Highly interactive (questions and discussions are welcome)</a:t>
            </a:r>
          </a:p>
          <a:p>
            <a:r>
              <a:t> Hands-on (learn by doing)</a:t>
            </a:r>
          </a:p>
          <a:p>
            <a:r>
              <a:t> You will</a:t>
            </a:r>
            <a:r>
              <a:rPr i="1"/>
              <a:t> build</a:t>
            </a:r>
            <a:r>
              <a:t> an agent on every major framework in production use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Lots of Labs: Learn By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15 labs + a team capstone</a:t>
            </a:r>
          </a:p>
          <a:p>
            <a:r>
              <a:t> Every lab has copy-ready code and a "what a correct run looks like"</a:t>
            </a:r>
          </a:p>
          <a:p>
            <a:r>
              <a:t> Cloud labs have a</a:t>
            </a:r>
            <a:r>
              <a:rPr b="1"/>
              <a:t> local fallback</a:t>
            </a:r>
            <a:r>
              <a:t> — nobody is ever blocked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038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We build the pattern by hand first, then let the framework carry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Learning To Fly...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learn-to-f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883664"/>
            <a:ext cx="8165592" cy="44714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lassroom-i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3664"/>
            <a:ext cx="8266175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+ Flight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ockp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883664"/>
            <a:ext cx="826617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Will Take A Lot Of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883664"/>
            <a:ext cx="8110727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You And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About the instructor</a:t>
            </a:r>
          </a:p>
          <a:p>
            <a:r>
              <a:t> About you</a:t>
            </a:r>
          </a:p>
          <a:p>
            <a:pPr lvl="1"/>
            <a:r>
              <a:t> Your name</a:t>
            </a:r>
          </a:p>
          <a:p>
            <a:pPr lvl="1"/>
            <a:r>
              <a:t> Your role (developer, data scientist, lead, PM, ...)</a:t>
            </a:r>
          </a:p>
          <a:p>
            <a:pPr lvl="1"/>
            <a:r>
              <a:t> Languages / stacks you use every day</a:t>
            </a:r>
          </a:p>
          <a:p>
            <a:pPr lvl="1"/>
            <a:r>
              <a:t> Agent experience so far (1 - new ... 4 - I ship them)</a:t>
            </a:r>
          </a:p>
          <a:p>
            <a:pPr lvl="1"/>
            <a:r>
              <a:t> Something non-technical about you!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hiking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5559552"/>
            <a:ext cx="2057400" cy="1819656"/>
          </a:xfrm>
          <a:prstGeom prst="rect">
            <a:avLst/>
          </a:prstGeom>
        </p:spPr>
      </p:pic>
      <p:pic>
        <p:nvPicPr>
          <p:cNvPr id="6" name="Picture 5" descr="ice-cream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5577840"/>
            <a:ext cx="3236976" cy="1755648"/>
          </a:xfrm>
          <a:prstGeom prst="rect">
            <a:avLst/>
          </a:prstGeom>
        </p:spPr>
      </p:pic>
      <p:pic>
        <p:nvPicPr>
          <p:cNvPr id="7" name="Picture 6" descr="biking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5559552"/>
            <a:ext cx="2057400" cy="18196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Agent? (One-Line Version)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</a:t>
            </a:r>
            <a:r>
              <a:rPr b="1"/>
              <a:t> LLM in a loop</a:t>
            </a:r>
            <a:r>
              <a:t> that can</a:t>
            </a:r>
            <a:r>
              <a:rPr b="1"/>
              <a:t> use tools</a:t>
            </a:r>
            <a:r>
              <a:t> to pursue a</a:t>
            </a:r>
            <a:r>
              <a:rPr b="1"/>
              <a:t> goal</a:t>
            </a:r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2015331"/>
            <a:ext cx="8915400" cy="3397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739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chatbot answers. An agent acts — so it needs limits, evaluation, and governance.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Five-Day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In every module you build a real artifact you can take back to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693706"/>
              </p:ext>
            </p:extLst>
          </p:nvPr>
        </p:nvGraphicFramePr>
        <p:xfrm>
          <a:off x="237744" y="1502251"/>
          <a:ext cx="8915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5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 go from...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mental model → a hand-built agent loop (ReAct) + a research assistant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reflection → tools, structured output, MCP, an email assistant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evaluation &amp; debugging → multi-agent + planning-driven agents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frameworks: LangGraph, low-code, Bedrock, DSPy, Claude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voice agents, governance, and the team capstone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 Rules for Building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Least privilege</a:t>
            </a:r>
            <a:r>
              <a:t> — an agent gets the fewest tools and permissions that work.</a:t>
            </a:r>
          </a:p>
          <a:p>
            <a:r>
              <a:rPr b="1"/>
              <a:t> Human-in-the-loop</a:t>
            </a:r>
            <a:r>
              <a:t> for anything that sends, publishes, deletes, buys, or changes records.</a:t>
            </a:r>
          </a:p>
          <a:p>
            <a:r>
              <a:rPr b="1"/>
              <a:t> Log everything</a:t>
            </a:r>
            <a:r>
              <a:t> — every plan, tool call, and result is auditable.</a:t>
            </a:r>
          </a:p>
          <a:p>
            <a:r>
              <a:rPr b="1"/>
              <a:t> Evaluate before you trust</a:t>
            </a:r>
            <a:r>
              <a:t> — a demo that works once is not a pilot.</a:t>
            </a:r>
          </a:p>
          <a:p>
            <a:r>
              <a:rPr b="1"/>
              <a:t> Treat tool output and retrieved text as untrusted data</a:t>
            </a:r>
            <a:r>
              <a:t> , not instructions.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These five habits separate a useful agent from an expensive incident. We build them in from Lab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378294</TotalTime>
  <Words>683</Words>
  <Application>Microsoft Macintosh PowerPoint</Application>
  <PresentationFormat>Custom</PresentationFormat>
  <Paragraphs>168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  <vt:lpstr>Building Agentic AI</vt:lpstr>
      <vt:lpstr>Agenda</vt:lpstr>
      <vt:lpstr>Pre-requisites and Expectations</vt:lpstr>
      <vt:lpstr>Our Teaching Philosophy</vt:lpstr>
      <vt:lpstr>Lots of Labs: Learn By Doing</vt:lpstr>
      <vt:lpstr>Analogy: Learning To Fly...</vt:lpstr>
      <vt:lpstr>Introductions</vt:lpstr>
      <vt:lpstr>+ Flight Time</vt:lpstr>
      <vt:lpstr>This Will Take A Lot Of Practice</vt:lpstr>
      <vt:lpstr>About You And Me</vt:lpstr>
      <vt:lpstr>What Is An Agent? (One-Line Version)</vt:lpstr>
      <vt:lpstr>The Five-Day Map</vt:lpstr>
      <vt:lpstr>Ground Rules for Building Agents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4138</cp:revision>
  <cp:lastPrinted>2010-01-03T02:41:41Z</cp:lastPrinted>
  <dcterms:created xsi:type="dcterms:W3CDTF">2010-07-13T15:22:01Z</dcterms:created>
  <dcterms:modified xsi:type="dcterms:W3CDTF">2026-10-08T23:19:28Z</dcterms:modified>
</cp:coreProperties>
</file>