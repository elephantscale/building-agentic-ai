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59" autoAdjust="0"/>
    <p:restoredTop sz="86027" autoAdjust="0"/>
  </p:normalViewPr>
  <p:slideViewPr>
    <p:cSldViewPr>
      <p:cViewPr varScale="1">
        <p:scale>
          <a:sx n="90" d="100"/>
          <a:sy n="90" d="100"/>
        </p:scale>
        <p:origin x="3312" y="192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Foundations of Agentic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I — What We'll Cover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What Agentic AI</a:t>
            </a:r>
            <a:r>
              <a:rPr i="1"/>
              <a:t> is</a:t>
            </a:r>
            <a:r>
              <a:t> — and what it is not</a:t>
            </a:r>
          </a:p>
          <a:p>
            <a:r>
              <a:t> From prompt-based AI to agents that act</a:t>
            </a:r>
          </a:p>
          <a:p>
            <a:r>
              <a:t> OpenAI's guidance:</a:t>
            </a:r>
            <a:r>
              <a:rPr b="1"/>
              <a:t> when</a:t>
            </a:r>
            <a:r>
              <a:t> to use an agent vs. a plain workflow</a:t>
            </a:r>
          </a:p>
          <a:p>
            <a:r>
              <a:t> Design principles: autonomy, reasoning, reflection, planning, safety</a:t>
            </a:r>
          </a:p>
          <a:p>
            <a:r>
              <a:t> The canonical</a:t>
            </a:r>
            <a:r>
              <a:rPr b="1"/>
              <a:t> agent loop</a:t>
            </a:r>
            <a:r>
              <a:t> and the</a:t>
            </a:r>
            <a:r>
              <a:rPr b="1"/>
              <a:t> ReAct</a:t>
            </a:r>
            <a:r>
              <a:t> pattern</a:t>
            </a:r>
          </a:p>
          <a:p>
            <a:r>
              <a:t> Tools and memory — how an agent reaches the world</a:t>
            </a:r>
          </a:p>
          <a:p>
            <a:r>
              <a:t> Two labs: hand-build a ReAct loop, then a logged research assistant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9100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Today's goal: a correct mental model first, then a working agent you built by hand.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Agentic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An</a:t>
            </a:r>
            <a:r>
              <a:rPr b="1"/>
              <a:t> LLM in a loop</a:t>
            </a:r>
            <a:r>
              <a:t> that pursues a</a:t>
            </a:r>
            <a:r>
              <a:rPr b="1"/>
              <a:t> goal</a:t>
            </a:r>
            <a:r>
              <a:t> by</a:t>
            </a:r>
            <a:r>
              <a:rPr b="1"/>
              <a:t> using tools</a:t>
            </a:r>
          </a:p>
          <a:p>
            <a:pPr lvl="1"/>
            <a:r>
              <a:t> not one prompt, one answer — many steps</a:t>
            </a:r>
          </a:p>
          <a:p>
            <a:pPr lvl="1"/>
            <a:r>
              <a:t> the model decides</a:t>
            </a:r>
            <a:r>
              <a:rPr i="1"/>
              <a:t> what to do next</a:t>
            </a:r>
            <a:r>
              <a:t> each turn</a:t>
            </a:r>
          </a:p>
          <a:p>
            <a:r>
              <a:t> Three ingredients:</a:t>
            </a:r>
          </a:p>
          <a:p>
            <a:pPr lvl="1"/>
            <a:r>
              <a:t> a</a:t>
            </a:r>
            <a:r>
              <a:rPr b="1"/>
              <a:t> goal</a:t>
            </a:r>
            <a:r>
              <a:t> (what "done" means)</a:t>
            </a:r>
          </a:p>
          <a:p>
            <a:pPr lvl="1"/>
            <a:r>
              <a:rPr b="1"/>
              <a:t> tools</a:t>
            </a:r>
            <a:r>
              <a:t> (search, code, APIs, databases)</a:t>
            </a:r>
          </a:p>
          <a:p>
            <a:pPr lvl="1"/>
            <a:r>
              <a:t> a</a:t>
            </a:r>
            <a:r>
              <a:rPr b="1"/>
              <a:t> loop</a:t>
            </a:r>
            <a:r>
              <a:t> (act, observe, decide, repeat)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Agentic_Loop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0" y="5991746"/>
            <a:ext cx="3982212" cy="1991106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50" y="4204544"/>
            <a:ext cx="8915400" cy="33971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11137" y="4753253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Agentic ≠ a bigger model. It's a control loop wrapped around a model.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vs. Chatbot vs.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r>
              <a:t> A chatbot</a:t>
            </a:r>
            <a:r>
              <a:rPr b="1"/>
              <a:t> answers</a:t>
            </a:r>
            <a:r>
              <a:t> . A workflow</a:t>
            </a:r>
            <a:r>
              <a:rPr b="1"/>
              <a:t> executes a script</a:t>
            </a:r>
            <a:r>
              <a:t> . An agent</a:t>
            </a:r>
            <a:r>
              <a:rPr b="1"/>
              <a:t> decides</a:t>
            </a:r>
            <a:r>
              <a:t> 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426357"/>
              </p:ext>
            </p:extLst>
          </p:nvPr>
        </p:nvGraphicFramePr>
        <p:xfrm>
          <a:off x="237744" y="914400"/>
          <a:ext cx="89154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3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3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Chatbot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Fixed workflow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one turn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pre-wired, fixed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model chooses at runtime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 / 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called in fixed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called as needed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Adapts to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little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Predictable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less — needs guardrails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63525" y="6554057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More autonomy buys flexibility and costs predictability. You pay for it with evaluation and governance.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Prompt-Based AI to Autonomous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Prompt</a:t>
            </a:r>
            <a:r>
              <a:t> — one instruction in, one completion out</a:t>
            </a:r>
          </a:p>
          <a:p>
            <a:r>
              <a:rPr b="1"/>
              <a:t> Prompt chain</a:t>
            </a:r>
            <a:r>
              <a:t> — you wire step 2 to step 1 (you are the loop)</a:t>
            </a:r>
          </a:p>
          <a:p>
            <a:r>
              <a:rPr b="1"/>
              <a:t> Tool-use / function calling</a:t>
            </a:r>
            <a:r>
              <a:t> — the model can</a:t>
            </a:r>
            <a:r>
              <a:rPr i="1"/>
              <a:t> request</a:t>
            </a:r>
            <a:r>
              <a:t> an action</a:t>
            </a:r>
          </a:p>
          <a:p>
            <a:r>
              <a:rPr b="1"/>
              <a:t> Agent</a:t>
            </a:r>
            <a:r>
              <a:t> — the model runs its own loop: plan, call tools, observe, revise</a:t>
            </a:r>
          </a:p>
          <a:p>
            <a:r>
              <a:rPr b="1"/>
              <a:t> Multi-agent</a:t>
            </a:r>
            <a:r>
              <a:t> — several agents specialize and collaborate (Day 3)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50833"/>
            <a:ext cx="9372600" cy="69509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34950" y="662748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The shift is who holds the loop. In an agent, the model does — that is the whole idea.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OpenAI's Agentic Guidance — When to Build an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Reach for an agent when a task has</a:t>
            </a:r>
            <a:r>
              <a:rPr b="1"/>
              <a:t> all three</a:t>
            </a:r>
            <a:r>
              <a:t> :</a:t>
            </a:r>
          </a:p>
          <a:p>
            <a:pPr lvl="1"/>
            <a:r>
              <a:rPr b="1"/>
              <a:t> Complex, branching decisions</a:t>
            </a:r>
            <a:r>
              <a:t> — many "it depends" paths</a:t>
            </a:r>
          </a:p>
          <a:p>
            <a:pPr lvl="1"/>
            <a:r>
              <a:rPr b="1"/>
              <a:t> Rules too messy to hard-code</a:t>
            </a:r>
            <a:r>
              <a:t> — brittle or ever-changing logic</a:t>
            </a:r>
          </a:p>
          <a:p>
            <a:pPr lvl="1"/>
            <a:r>
              <a:rPr b="1"/>
              <a:t> Heavy reliance on unstructured input</a:t>
            </a:r>
            <a:r>
              <a:t> — language, documents, tickets</a:t>
            </a:r>
          </a:p>
          <a:p>
            <a:r>
              <a:t> Good fits: triage, research, multi-step support, document workflows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pexels-thisisengineering-38614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1788" y="3920331"/>
            <a:ext cx="3772182" cy="251605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33389" y="694560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If a flowchart would capture it cleanly, write the flowchart — not an agent.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NOT to Use an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task is</a:t>
            </a:r>
            <a:r>
              <a:rPr b="1"/>
              <a:t> deterministic</a:t>
            </a:r>
            <a:r>
              <a:t> — same input, same steps every time</a:t>
            </a:r>
          </a:p>
          <a:p>
            <a:r>
              <a:t> You need</a:t>
            </a:r>
            <a:r>
              <a:rPr b="1"/>
              <a:t> hard guarantees</a:t>
            </a:r>
            <a:r>
              <a:t> on cost, latency, or output shape</a:t>
            </a:r>
          </a:p>
          <a:p>
            <a:r>
              <a:t> A</a:t>
            </a:r>
            <a:r>
              <a:rPr b="1"/>
              <a:t> single prompt</a:t>
            </a:r>
            <a:r>
              <a:t> or a short</a:t>
            </a:r>
            <a:r>
              <a:rPr b="1"/>
              <a:t> script</a:t>
            </a:r>
            <a:r>
              <a:t> already does the job</a:t>
            </a:r>
          </a:p>
          <a:p>
            <a:r>
              <a:t> Errors are</a:t>
            </a:r>
            <a:r>
              <a:rPr b="1"/>
              <a:t> expensive and hard to catch</a:t>
            </a:r>
            <a:r>
              <a:t> with no human in the loop</a:t>
            </a:r>
          </a:p>
          <a:p>
            <a:r>
              <a:t> Prefer the simplest thing that works:</a:t>
            </a:r>
          </a:p>
          <a:p>
            <a:pPr lvl="1"/>
            <a:r>
              <a:t> one prompt  &lt;  prompt chain  &lt;  fixed workflow  &lt;  agent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Start at the lowest rung of autonomy. Climb only when the task forces you 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Autonomy</a:t>
            </a:r>
            <a:r>
              <a:t> — the agent decides next steps, within limits you set</a:t>
            </a:r>
          </a:p>
          <a:p>
            <a:r>
              <a:rPr b="1"/>
              <a:t> Reasoning</a:t>
            </a:r>
            <a:r>
              <a:t> — it thinks</a:t>
            </a:r>
            <a:r>
              <a:rPr i="1"/>
              <a:t> before</a:t>
            </a:r>
            <a:r>
              <a:t> it acts (make the thinking explicit)</a:t>
            </a:r>
          </a:p>
          <a:p>
            <a:r>
              <a:rPr b="1"/>
              <a:t> Reflection</a:t>
            </a:r>
            <a:r>
              <a:t> — it checks its own work and revises (Day 2)</a:t>
            </a:r>
          </a:p>
          <a:p>
            <a:r>
              <a:rPr b="1"/>
              <a:t> Planning</a:t>
            </a:r>
            <a:r>
              <a:t> — it breaks a goal into ordered sub-steps</a:t>
            </a:r>
          </a:p>
          <a:p>
            <a:r>
              <a:rPr b="1"/>
              <a:t> Safety</a:t>
            </a:r>
            <a:r>
              <a:t> — least privilege, human gates, everything logged, a step cap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08850" y="685016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These five are not features you add later. They are the shape of the agent from Lab 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Canonical Agent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r>
              <a:t> Every loop ends one of two ways:</a:t>
            </a:r>
            <a:r>
              <a:rPr b="1"/>
              <a:t> done</a:t>
            </a:r>
            <a:r>
              <a:t> , or</a:t>
            </a:r>
            <a:r>
              <a:rPr b="1"/>
              <a:t> max steps hit</a:t>
            </a:r>
            <a:r>
              <a:t> 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8130"/>
            <a:ext cx="9398778" cy="361076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5300" y="7026178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Input -&gt; Plan -&gt; Act -&gt; Reflect -&gt; Output. Memorize this — every framework this week is a variation of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Anatomy of the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Input</a:t>
            </a:r>
            <a:r>
              <a:t> — the goal plus available context and inputs</a:t>
            </a:r>
          </a:p>
          <a:p>
            <a:r>
              <a:rPr b="1"/>
              <a:t> Plan</a:t>
            </a:r>
            <a:r>
              <a:t> — pick the next action (or decide you're done)</a:t>
            </a:r>
          </a:p>
          <a:p>
            <a:r>
              <a:rPr b="1"/>
              <a:t> Act</a:t>
            </a:r>
            <a:r>
              <a:t> — call exactly one tool with concrete arguments</a:t>
            </a:r>
          </a:p>
          <a:p>
            <a:r>
              <a:rPr b="1"/>
              <a:t> Observe</a:t>
            </a:r>
            <a:r>
              <a:t> — read the tool result (treat it as</a:t>
            </a:r>
            <a:r>
              <a:rPr b="1"/>
              <a:t> untrusted data</a:t>
            </a:r>
            <a:r>
              <a:t> )</a:t>
            </a:r>
          </a:p>
          <a:p>
            <a:r>
              <a:rPr b="1"/>
              <a:t> Reflect</a:t>
            </a:r>
            <a:r>
              <a:t> — is the answer good enough, or loop again?</a:t>
            </a:r>
          </a:p>
          <a:p>
            <a:r>
              <a:rPr b="1"/>
              <a:t> Output</a:t>
            </a:r>
            <a:r>
              <a:t> — the final answer, ideally with sources</a:t>
            </a:r>
          </a:p>
          <a:p>
            <a:r>
              <a:t> The</a:t>
            </a:r>
            <a:r>
              <a:rPr b="1"/>
              <a:t> step cap</a:t>
            </a:r>
            <a:r>
              <a:t> is not optional — it's what stops a loop that never converges.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58762" y="703016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No cap, no ship. A runaway loop is a bill and an incident waiting to happen.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ReAct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 </a:t>
            </a:r>
            <a:r>
              <a:rPr b="1" dirty="0" err="1"/>
              <a:t>ReAct</a:t>
            </a:r>
            <a:r>
              <a:rPr b="1" dirty="0"/>
              <a:t> = Reasoning + Acting</a:t>
            </a:r>
            <a:r>
              <a:rPr dirty="0"/>
              <a:t> , interleaved in one trace</a:t>
            </a:r>
          </a:p>
          <a:p>
            <a:r>
              <a:rPr dirty="0"/>
              <a:t> The model emits a fixed cycle until it can answer:</a:t>
            </a:r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 Your code</a:t>
            </a:r>
            <a:r>
              <a:rPr b="1" dirty="0"/>
              <a:t> parses</a:t>
            </a:r>
            <a:r>
              <a:rPr dirty="0"/>
              <a:t> each turn,</a:t>
            </a:r>
            <a:r>
              <a:rPr b="1" dirty="0"/>
              <a:t> dispatches</a:t>
            </a:r>
            <a:r>
              <a:rPr dirty="0"/>
              <a:t> the Action,</a:t>
            </a:r>
            <a:r>
              <a:rPr b="1" dirty="0"/>
              <a:t> pastes back</a:t>
            </a:r>
            <a:r>
              <a:rPr dirty="0"/>
              <a:t> the Observation</a:t>
            </a:r>
          </a:p>
          <a:p>
            <a:r>
              <a:rPr dirty="0"/>
              <a:t> Simple, transparent, framework-free — you'll build it by hand in Lab 1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0" y="2273203"/>
            <a:ext cx="8642350" cy="17767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04088" y="7105028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ReAct makes the reasoning visible and auditable. That's why we teach it first.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ReAct — A Worked Trace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Goal:</a:t>
            </a:r>
            <a:r>
              <a:rPr i="1" dirty="0"/>
              <a:t> "What is the total cost if we buy 17 seats at $42/seat?"</a:t>
            </a:r>
          </a:p>
          <a:p>
            <a:endParaRPr lang="en-US" i="1" dirty="0"/>
          </a:p>
          <a:p>
            <a:endParaRPr lang="en-US" i="1" dirty="0"/>
          </a:p>
          <a:p>
            <a:endParaRPr i="1" dirty="0"/>
          </a:p>
          <a:p>
            <a:endParaRPr i="1" dirty="0"/>
          </a:p>
          <a:p>
            <a:r>
              <a:rPr dirty="0"/>
              <a:t> Notice:</a:t>
            </a:r>
            <a:r>
              <a:rPr b="1" dirty="0"/>
              <a:t> one action per step</a:t>
            </a:r>
            <a:r>
              <a:rPr dirty="0"/>
              <a:t> , and the model</a:t>
            </a:r>
            <a:r>
              <a:rPr b="1" dirty="0"/>
              <a:t> stops</a:t>
            </a:r>
            <a:r>
              <a:rPr dirty="0"/>
              <a:t> once it has enough.</a:t>
            </a:r>
          </a:p>
          <a:p>
            <a:r>
              <a:rPr dirty="0"/>
              <a:t> The runtime — not the model — produces each</a:t>
            </a:r>
            <a:r>
              <a:rPr dirty="0">
                <a:latin typeface="Courier New"/>
              </a:rPr>
              <a:t> Observation</a:t>
            </a:r>
            <a:r>
              <a:rPr dirty="0"/>
              <a:t> .</a:t>
            </a:r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" y="1636471"/>
            <a:ext cx="9334500" cy="1356759"/>
          </a:xfrm>
          <a:prstGeom prst="rect">
            <a:avLst/>
          </a:prstGeom>
        </p:spPr>
      </p:pic>
      <p:pic>
        <p:nvPicPr>
          <p:cNvPr id="6" name="Picture 5" descr="pexels-karola-g-768119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0838" y="6191644"/>
            <a:ext cx="2686812" cy="17912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95300" y="5029504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The loop is dumb and reliable; the intelligence lives in Thought and in the tools.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Single- vs. Multi-Step Reasoning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 Single-step</a:t>
            </a:r>
            <a:r>
              <a:rPr dirty="0"/>
              <a:t> — one tool call answers the goal</a:t>
            </a:r>
          </a:p>
          <a:p>
            <a:pPr lvl="1"/>
            <a:r>
              <a:rPr dirty="0"/>
              <a:t> "Convert 90F to Celsius" -&gt; one</a:t>
            </a:r>
            <a:r>
              <a:rPr dirty="0">
                <a:latin typeface="Courier New"/>
              </a:rPr>
              <a:t> calculator</a:t>
            </a:r>
            <a:r>
              <a:rPr dirty="0"/>
              <a:t> call -&gt; done</a:t>
            </a:r>
          </a:p>
          <a:p>
            <a:r>
              <a:rPr b="1" dirty="0"/>
              <a:t> Multi-step</a:t>
            </a:r>
            <a:r>
              <a:rPr dirty="0"/>
              <a:t> — the answer depends on earlier results</a:t>
            </a:r>
          </a:p>
          <a:p>
            <a:pPr lvl="1"/>
            <a:r>
              <a:rPr dirty="0"/>
              <a:t> "Compare the two most-cited </a:t>
            </a:r>
            <a:r>
              <a:rPr dirty="0" err="1"/>
              <a:t>ReAct</a:t>
            </a:r>
            <a:r>
              <a:rPr dirty="0"/>
              <a:t> follow-up papers" -&gt;</a:t>
            </a:r>
          </a:p>
          <a:p>
            <a:pPr lvl="2"/>
            <a:r>
              <a:rPr dirty="0"/>
              <a:t> search -&gt; read -&gt; search again -&gt; synthesize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 Multi-step needs a</a:t>
            </a:r>
            <a:r>
              <a:rPr b="1" dirty="0"/>
              <a:t> scratchpad</a:t>
            </a:r>
            <a:r>
              <a:rPr dirty="0"/>
              <a:t> (what have I learned so far?) and a</a:t>
            </a:r>
            <a:r>
              <a:rPr b="1" dirty="0"/>
              <a:t> cap</a:t>
            </a:r>
            <a:r>
              <a:rPr dirty="0"/>
              <a:t> .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0" y="3756096"/>
            <a:ext cx="9137650" cy="61579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5300" y="6951158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Most real tasks are multi-step. Lab 2 is where that becomes real.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— Giving the Agent Hands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A tool is a</a:t>
            </a:r>
            <a:r>
              <a:rPr b="1" dirty="0"/>
              <a:t> function the model may call</a:t>
            </a:r>
            <a:r>
              <a:rPr dirty="0"/>
              <a:t> : a name, a description, typed </a:t>
            </a:r>
            <a:r>
              <a:rPr dirty="0" err="1"/>
              <a:t>args</a:t>
            </a:r>
            <a:endParaRPr dirty="0"/>
          </a:p>
          <a:p>
            <a:r>
              <a:rPr dirty="0"/>
              <a:t> The model picks the tool and the arguments;</a:t>
            </a:r>
            <a:r>
              <a:rPr b="1" dirty="0"/>
              <a:t> your code runs it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b="1" dirty="0"/>
          </a:p>
          <a:p>
            <a:r>
              <a:rPr dirty="0"/>
              <a:t> Examples across this course:</a:t>
            </a:r>
            <a:r>
              <a:rPr dirty="0">
                <a:latin typeface="Courier New"/>
              </a:rPr>
              <a:t> calculator</a:t>
            </a:r>
            <a:r>
              <a:rPr dirty="0"/>
              <a:t> ,</a:t>
            </a:r>
            <a:r>
              <a:rPr dirty="0">
                <a:latin typeface="Courier New"/>
              </a:rPr>
              <a:t> </a:t>
            </a:r>
            <a:r>
              <a:rPr dirty="0" err="1">
                <a:latin typeface="Courier New"/>
              </a:rPr>
              <a:t>web_search</a:t>
            </a:r>
            <a:r>
              <a:rPr dirty="0"/>
              <a:t> , email, CRM query, code exec</a:t>
            </a:r>
          </a:p>
          <a:p>
            <a:r>
              <a:rPr b="1" dirty="0"/>
              <a:t> Least privilege</a:t>
            </a:r>
            <a:r>
              <a:rPr dirty="0"/>
              <a:t> : give the fewest tools, narrowest scopes, that still work.</a:t>
            </a:r>
          </a:p>
          <a:p>
            <a:r>
              <a:rPr b="1" dirty="0"/>
              <a:t> Untrusted output</a:t>
            </a:r>
            <a:r>
              <a:rPr dirty="0"/>
              <a:t> : a tool result is</a:t>
            </a:r>
            <a:r>
              <a:rPr i="1" dirty="0"/>
              <a:t> data</a:t>
            </a:r>
            <a:r>
              <a:rPr dirty="0"/>
              <a:t> , never new instructions.</a:t>
            </a:r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41979"/>
            <a:ext cx="9372600" cy="1002482"/>
          </a:xfrm>
          <a:prstGeom prst="rect">
            <a:avLst/>
          </a:prstGeom>
        </p:spPr>
      </p:pic>
      <p:pic>
        <p:nvPicPr>
          <p:cNvPr id="6" name="Picture 5" descr="pexels-shvetsa-458689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2684" y="5166415"/>
            <a:ext cx="1479916" cy="221987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25425" y="684782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The model proposes; your code disposes. That boundary is where safety lives.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 — What the Agent Remembers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No memory</a:t>
            </a:r>
            <a:r>
              <a:t> — each run starts blank (simplest, safest default)</a:t>
            </a:r>
          </a:p>
          <a:p>
            <a:r>
              <a:rPr b="1"/>
              <a:t> Scratchpad (this run)</a:t>
            </a:r>
            <a:r>
              <a:t> — the running Thought/Observation trace in context</a:t>
            </a:r>
          </a:p>
          <a:p>
            <a:r>
              <a:rPr b="1"/>
              <a:t> Persistent (across runs)</a:t>
            </a:r>
            <a:r>
              <a:t> — stored notes, vectors, a DB (Day 4+)</a:t>
            </a:r>
          </a:p>
          <a:p>
            <a:r>
              <a:t> Memory is context, and context has a</a:t>
            </a:r>
            <a:r>
              <a:rPr b="1"/>
              <a:t> budget</a:t>
            </a:r>
            <a:r>
              <a:t> — summarize, don't hoard</a:t>
            </a:r>
          </a:p>
          <a:p>
            <a:r>
              <a:t> More memory = more capability</a:t>
            </a:r>
            <a:r>
              <a:rPr i="1"/>
              <a:t> and</a:t>
            </a:r>
            <a:r>
              <a:t> more attack surface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63525" y="7066393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Start with a scratchpad. Add persistent memory only when the task can't succeed without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Motivating Example — A Support / Research 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Goal:</a:t>
            </a:r>
            <a:r>
              <a:rPr i="1"/>
              <a:t> "A customer asks why their invoice doubled this month. Explain it."</a:t>
            </a:r>
          </a:p>
          <a:p>
            <a:endParaRPr i="1"/>
          </a:p>
          <a:p>
            <a:endParaRPr i="1"/>
          </a:p>
          <a:p>
            <a:endParaRPr i="1"/>
          </a:p>
          <a:p>
            <a:endParaRPr i="1"/>
          </a:p>
          <a:p>
            <a:endParaRPr i="1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20897"/>
            <a:ext cx="9372600" cy="22777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5300" y="7066393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Same loop, real tools, cited sources — a demo the business actually recognizes.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From Line 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Max-steps cap</a:t>
            </a:r>
            <a:r>
              <a:t> in the loop — always</a:t>
            </a:r>
          </a:p>
          <a:p>
            <a:r>
              <a:rPr b="1"/>
              <a:t> Human-in-the-loop</a:t>
            </a:r>
            <a:r>
              <a:t> for anything that sends, buys, deletes, or changes records</a:t>
            </a:r>
          </a:p>
          <a:p>
            <a:r>
              <a:rPr b="1"/>
              <a:t> Least privilege</a:t>
            </a:r>
            <a:r>
              <a:t> — minimal tools and scopes</a:t>
            </a:r>
          </a:p>
          <a:p>
            <a:r>
              <a:rPr b="1"/>
              <a:t> Log everything</a:t>
            </a:r>
            <a:r>
              <a:t> — plan, tool call + args, result, final output (JSONL)</a:t>
            </a:r>
          </a:p>
          <a:p>
            <a:r>
              <a:rPr b="1"/>
              <a:t> Treat tool/retrieved text as untrusted</a:t>
            </a:r>
            <a:r>
              <a:t> — data, not instructions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42900" y="694560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A demo that works once is not a pilot. We build the guardrails in from the first lab, not after.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Putting It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An agent =</a:t>
            </a:r>
            <a:r>
              <a:rPr b="1"/>
              <a:t> model + tools + a capped loop</a:t>
            </a:r>
            <a:r>
              <a:t> pointed at a</a:t>
            </a:r>
            <a:r>
              <a:rPr b="1"/>
              <a:t> goal</a:t>
            </a:r>
          </a:p>
          <a:p>
            <a:r>
              <a:t> Use one only when the task is complex, messy, and language-driven</a:t>
            </a:r>
          </a:p>
          <a:p>
            <a:r>
              <a:rPr b="1"/>
              <a:t> ReAct</a:t>
            </a:r>
            <a:r>
              <a:t> makes the loop visible: Thought / Action / Observation / Final Answer</a:t>
            </a:r>
          </a:p>
          <a:p>
            <a:r>
              <a:t> Real tasks are</a:t>
            </a:r>
            <a:r>
              <a:rPr b="1"/>
              <a:t> multi-step</a:t>
            </a:r>
            <a:r>
              <a:t> — they need a scratchpad and a step cap</a:t>
            </a:r>
          </a:p>
          <a:p>
            <a:r>
              <a:t> Safety and logging are part of the design, not an afterthought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7066393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You now have the mental model. Next you build it — by hand, no framework.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1 — Environment Setup &amp; Your First Agent Loop (ReAct)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Stop here and run Lab 1.</a:t>
            </a:r>
          </a:p>
          <a:p>
            <a:r>
              <a:t> You will:</a:t>
            </a:r>
          </a:p>
          <a:p>
            <a:r>
              <a:t> Verify your Python env and</a:t>
            </a:r>
            <a:r>
              <a:rPr>
                <a:latin typeface="Courier New"/>
              </a:rPr>
              <a:t> labs/.env</a:t>
            </a:r>
            <a:r>
              <a:t> keys (</a:t>
            </a:r>
            <a:r>
              <a:rPr>
                <a:latin typeface="Courier New"/>
              </a:rPr>
              <a:t> ./labs/verify-setup.sh</a:t>
            </a:r>
            <a:r>
              <a:t> ).</a:t>
            </a:r>
          </a:p>
          <a:p>
            <a:r>
              <a:t> Register two tools: a</a:t>
            </a:r>
            <a:r>
              <a:rPr>
                <a:latin typeface="Courier New"/>
              </a:rPr>
              <a:t> calculator</a:t>
            </a:r>
            <a:r>
              <a:t> and a local</a:t>
            </a:r>
            <a:r>
              <a:rPr>
                <a:latin typeface="Courier New"/>
              </a:rPr>
              <a:t> lookup</a:t>
            </a:r>
            <a:r>
              <a:t> .</a:t>
            </a:r>
          </a:p>
          <a:p>
            <a:r>
              <a:t> Build a ReAct loop against the OpenAI API — Thought / Action / Observation / Final Answer.</a:t>
            </a:r>
          </a:p>
          <a:p>
            <a:r>
              <a:t> Parse each step, dispatch the action, and paste back the observation.</a:t>
            </a:r>
          </a:p>
          <a:p>
            <a:r>
              <a:t> Enforce a</a:t>
            </a:r>
            <a:r>
              <a:rPr b="1"/>
              <a:t> max-steps cap</a:t>
            </a:r>
            <a:r>
              <a:t> and print the full trace.</a:t>
            </a:r>
          </a:p>
          <a:p>
            <a:r>
              <a:rPr b="1"/>
              <a:t> Deliverable:</a:t>
            </a:r>
            <a:r>
              <a:t> a runnable</a:t>
            </a:r>
            <a:r>
              <a:rPr>
                <a:latin typeface="Courier New"/>
              </a:rPr>
              <a:t> agent_loop.py</a:t>
            </a:r>
            <a:r>
              <a:t> that solves a multi-step question and prints a ReAct trace ending in a Final Answer.</a:t>
            </a:r>
          </a:p>
          <a:p>
            <a:r>
              <a:rPr b="1"/>
              <a:t> Time:</a:t>
            </a:r>
            <a:r>
              <a:t> 45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2 — Research Assistant with Multi-Step Reasoning &amp; Logging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Stop here and run Lab 2.</a:t>
            </a:r>
          </a:p>
          <a:p>
            <a:r>
              <a:t> You will:</a:t>
            </a:r>
          </a:p>
          <a:p>
            <a:r>
              <a:t> Fill the</a:t>
            </a:r>
            <a:r>
              <a:rPr b="1"/>
              <a:t> Agent Design Canvas</a:t>
            </a:r>
            <a:r>
              <a:t> before writing code.</a:t>
            </a:r>
          </a:p>
          <a:p>
            <a:r>
              <a:t> Add a planning step, then loop a</a:t>
            </a:r>
            <a:r>
              <a:rPr>
                <a:latin typeface="Courier New"/>
              </a:rPr>
              <a:t> search</a:t>
            </a:r>
            <a:r>
              <a:t> tool multiple times (Tavily or local fallback).</a:t>
            </a:r>
          </a:p>
          <a:p>
            <a:r>
              <a:t> Enforce a max-steps cap and treat every result as untrusted data.</a:t>
            </a:r>
          </a:p>
          <a:p>
            <a:r>
              <a:t> Write a structured</a:t>
            </a:r>
            <a:r>
              <a:rPr b="1"/>
              <a:t> JSONL audit log</a:t>
            </a:r>
            <a:r>
              <a:t> (</a:t>
            </a:r>
            <a:r>
              <a:rPr>
                <a:latin typeface="Courier New"/>
              </a:rPr>
              <a:t> run_start</a:t>
            </a:r>
            <a:r>
              <a:t> ,</a:t>
            </a:r>
            <a:r>
              <a:rPr>
                <a:latin typeface="Courier New"/>
              </a:rPr>
              <a:t> plan</a:t>
            </a:r>
            <a:r>
              <a:t> ,</a:t>
            </a:r>
            <a:r>
              <a:rPr>
                <a:latin typeface="Courier New"/>
              </a:rPr>
              <a:t> tool_call</a:t>
            </a:r>
            <a:r>
              <a:t> ,</a:t>
            </a:r>
            <a:r>
              <a:rPr>
                <a:latin typeface="Courier New"/>
              </a:rPr>
              <a:t> tool_result</a:t>
            </a:r>
            <a:r>
              <a:t> ,</a:t>
            </a:r>
            <a:r>
              <a:rPr>
                <a:latin typeface="Courier New"/>
              </a:rPr>
              <a:t> run_end</a:t>
            </a:r>
            <a:r>
              <a:t> ).</a:t>
            </a:r>
          </a:p>
          <a:p>
            <a:r>
              <a:t> Synthesize a final answer</a:t>
            </a:r>
            <a:r>
              <a:rPr b="1"/>
              <a:t> with sources</a:t>
            </a:r>
            <a:r>
              <a:t> .</a:t>
            </a:r>
          </a:p>
          <a:p>
            <a:r>
              <a:rPr b="1"/>
              <a:t> Deliverable:</a:t>
            </a:r>
            <a:r>
              <a:t> a runnable</a:t>
            </a:r>
            <a:r>
              <a:rPr>
                <a:latin typeface="Courier New"/>
              </a:rPr>
              <a:t> research_agent.py</a:t>
            </a:r>
            <a:r>
              <a:t> plus a</a:t>
            </a:r>
            <a:r>
              <a:rPr>
                <a:latin typeface="Courier New"/>
              </a:rPr>
              <a:t> run-log.jsonl</a:t>
            </a:r>
            <a:r>
              <a:t> from one complete run.</a:t>
            </a:r>
          </a:p>
          <a:p>
            <a:r>
              <a:rPr b="1"/>
              <a:t> Time:</a:t>
            </a:r>
            <a:r>
              <a:t> 60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378301</TotalTime>
  <Words>1894</Words>
  <Application>Microsoft Macintosh PowerPoint</Application>
  <PresentationFormat>Custom</PresentationFormat>
  <Paragraphs>210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Arial Bold</vt:lpstr>
      <vt:lpstr>Courier New</vt:lpstr>
      <vt:lpstr>Garamond</vt:lpstr>
      <vt:lpstr>Monotype Sorts</vt:lpstr>
      <vt:lpstr>Times New Roman</vt:lpstr>
      <vt:lpstr>Verdana</vt:lpstr>
      <vt:lpstr>Wingdings</vt:lpstr>
      <vt:lpstr>LPc_New</vt:lpstr>
      <vt:lpstr>Foundations of Agentic AI</vt:lpstr>
      <vt:lpstr>Part I — What We'll Cover</vt:lpstr>
      <vt:lpstr>What Is Agentic AI?</vt:lpstr>
      <vt:lpstr>Agent vs. Chatbot vs. Workflow</vt:lpstr>
      <vt:lpstr>From Prompt-Based AI to Autonomous Agents</vt:lpstr>
      <vt:lpstr>OpenAI's Agentic Guidance — When to Build an Agent</vt:lpstr>
      <vt:lpstr>When NOT to Use an Agent</vt:lpstr>
      <vt:lpstr>Design Principles</vt:lpstr>
      <vt:lpstr>The Canonical Agent Loop</vt:lpstr>
      <vt:lpstr>Anatomy of the Loop</vt:lpstr>
      <vt:lpstr>The ReAct Pattern</vt:lpstr>
      <vt:lpstr>ReAct — A Worked Trace</vt:lpstr>
      <vt:lpstr>Single- vs. Multi-Step Reasoning</vt:lpstr>
      <vt:lpstr>Tools — Giving the Agent Hands</vt:lpstr>
      <vt:lpstr>Memory — What the Agent Remembers</vt:lpstr>
      <vt:lpstr>Motivating Example — A Support / Research Assistant</vt:lpstr>
      <vt:lpstr>Safety From Line One</vt:lpstr>
      <vt:lpstr>Putting It Together</vt:lpstr>
      <vt:lpstr>Lab 1 — Environment Setup &amp; Your First Agent Loop (ReAct)</vt:lpstr>
      <vt:lpstr>Lab 2 — Research Assistant with Multi-Step Reasoning &amp; Logging</vt:lpstr>
    </vt:vector>
  </TitlesOfParts>
  <Company>Elephant Scale LLC &amp; LearningPatterns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Warren Crawford</cp:lastModifiedBy>
  <cp:revision>4137</cp:revision>
  <cp:lastPrinted>2010-01-03T02:41:41Z</cp:lastPrinted>
  <dcterms:created xsi:type="dcterms:W3CDTF">2010-07-13T15:22:01Z</dcterms:created>
  <dcterms:modified xsi:type="dcterms:W3CDTF">2026-10-12T22:47:27Z</dcterms:modified>
</cp:coreProperties>
</file>