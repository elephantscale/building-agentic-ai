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Reflection &amp; Self-Evaluation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Reflection and self-evaluation patterns — an agent grading its own work</a:t>
            </a:r>
          </a:p>
          <a:p>
            <a:r>
              <a:t> The</a:t>
            </a:r>
            <a:r>
              <a:rPr b="1"/>
              <a:t> generator–critic</a:t>
            </a:r>
            <a:r>
              <a:t> loop and</a:t>
            </a:r>
            <a:r>
              <a:rPr b="1"/>
              <a:t> Reflexion</a:t>
            </a:r>
          </a:p>
          <a:p>
            <a:r>
              <a:t> Using reflection to improve</a:t>
            </a:r>
            <a:r>
              <a:rPr b="1"/>
              <a:t> factuality</a:t>
            </a:r>
            <a:r>
              <a:t> and</a:t>
            </a:r>
            <a:r>
              <a:rPr b="1"/>
              <a:t> style</a:t>
            </a:r>
          </a:p>
          <a:p>
            <a:r>
              <a:t> Reflecting to produce better</a:t>
            </a:r>
            <a:r>
              <a:rPr b="1"/>
              <a:t> charts and reports</a:t>
            </a:r>
          </a:p>
          <a:p>
            <a:r>
              <a:t> When reflection</a:t>
            </a:r>
            <a:r>
              <a:rPr b="1"/>
              <a:t> earns its tokens</a:t>
            </a:r>
            <a:r>
              <a:t> — and when it just burns them</a:t>
            </a:r>
          </a:p>
          <a:p>
            <a:r>
              <a:t> How to</a:t>
            </a:r>
            <a:r>
              <a:rPr b="1"/>
              <a:t> measure the lift</a:t>
            </a:r>
            <a:r>
              <a:t> so you can prove it helped</a:t>
            </a:r>
          </a:p>
          <a:p>
            <a:r>
              <a:t> Lab 3: direct vs. reflective summarization, head to head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Yesterday the agent acted. Today it learns to check itself before it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Reflection?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first draft from an LLM is a</a:t>
            </a:r>
            <a:r>
              <a:rPr b="1" dirty="0"/>
              <a:t> guess</a:t>
            </a:r>
            <a:r>
              <a:rPr dirty="0"/>
              <a:t> , confidently phrased</a:t>
            </a:r>
          </a:p>
          <a:p>
            <a:r>
              <a:rPr dirty="0"/>
              <a:t> Common first-draft failures:</a:t>
            </a:r>
          </a:p>
          <a:p>
            <a:pPr lvl="1"/>
            <a:r>
              <a:rPr dirty="0"/>
              <a:t> unsupported claims (hallucination)</a:t>
            </a:r>
          </a:p>
          <a:p>
            <a:pPr lvl="1"/>
            <a:r>
              <a:rPr dirty="0"/>
              <a:t> missed the actual question / requirement</a:t>
            </a:r>
          </a:p>
          <a:p>
            <a:pPr lvl="1"/>
            <a:r>
              <a:rPr dirty="0"/>
              <a:t> wrong tone, length, or format</a:t>
            </a:r>
          </a:p>
          <a:p>
            <a:r>
              <a:rPr dirty="0"/>
              <a:t> Humans don't ship first drafts — they</a:t>
            </a:r>
            <a:r>
              <a:rPr b="1" dirty="0"/>
              <a:t> review and revise</a:t>
            </a:r>
          </a:p>
          <a:p>
            <a:r>
              <a:rPr dirty="0"/>
              <a:t> Reflection gives the agent the same second look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damir-19720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4183062"/>
            <a:ext cx="1784350" cy="24283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cheapest reviewer you have is the model itself. Use it before a human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Reflection?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Reflection</a:t>
            </a:r>
            <a:r>
              <a:t> = the agent evaluates its own output and revises it</a:t>
            </a:r>
          </a:p>
          <a:p>
            <a:r>
              <a:t> Two roles, often the</a:t>
            </a:r>
            <a:r>
              <a:rPr b="1"/>
              <a:t> same model</a:t>
            </a:r>
            <a:r>
              <a:t> with different prompts:</a:t>
            </a:r>
          </a:p>
          <a:p>
            <a:pPr lvl="1"/>
            <a:r>
              <a:rPr b="1"/>
              <a:t> Generator</a:t>
            </a:r>
            <a:r>
              <a:t> — produces a draft</a:t>
            </a:r>
          </a:p>
          <a:p>
            <a:pPr lvl="1"/>
            <a:r>
              <a:rPr b="1"/>
              <a:t> Critic</a:t>
            </a:r>
            <a:r>
              <a:t> — finds specific, actionable problems in the draft</a:t>
            </a:r>
          </a:p>
          <a:p>
            <a:r>
              <a:t> Self-evaluation can be</a:t>
            </a:r>
            <a:r>
              <a:rPr b="1"/>
              <a:t> free-form</a:t>
            </a:r>
            <a:r>
              <a:t> ("what's wrong?") or</a:t>
            </a:r>
            <a:r>
              <a:rPr b="1"/>
              <a:t> rubric-driven</a:t>
            </a:r>
          </a:p>
          <a:p>
            <a:r>
              <a:t> Output improves without any new tool, data, or bigger model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Reflection is a control-flow pattern, not a model feature. You wrap it around any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Generator–Critic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Generator drafts -&gt; Critic lists concrete issues -&gt; </a:t>
            </a:r>
            <a:endParaRPr lang="en-US" dirty="0"/>
          </a:p>
          <a:p>
            <a:pPr marL="0" indent="0">
              <a:buNone/>
            </a:pPr>
            <a:r>
              <a:rPr dirty="0"/>
              <a:t>Generator revises</a:t>
            </a:r>
          </a:p>
          <a:p>
            <a:r>
              <a:rPr dirty="0"/>
              <a:t> Loop</a:t>
            </a:r>
            <a:r>
              <a:rPr b="1" dirty="0"/>
              <a:t> stops</a:t>
            </a:r>
            <a:r>
              <a:rPr dirty="0"/>
              <a:t> on "no material issues"</a:t>
            </a:r>
            <a:r>
              <a:rPr b="1" dirty="0"/>
              <a:t> or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a max-rounds cap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1065764"/>
            <a:ext cx="7874000" cy="3454400"/>
          </a:xfrm>
          <a:prstGeom prst="rect">
            <a:avLst/>
          </a:prstGeom>
        </p:spPr>
      </p:pic>
      <p:pic>
        <p:nvPicPr>
          <p:cNvPr id="6" name="Picture 5" descr="pexels-willfotografia-337159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4610382"/>
            <a:ext cx="1333543" cy="20003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6913" y="693653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loop shape as Day 1: act, observe, decide, repeat — the observation is now self-critique.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Reflection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Draft</a:t>
            </a:r>
            <a:r>
              <a:t> — the generator's current best answer</a:t>
            </a:r>
          </a:p>
          <a:p>
            <a:r>
              <a:rPr b="1"/>
              <a:t> Critique</a:t>
            </a:r>
            <a:r>
              <a:t> — the critic's findings, as a</a:t>
            </a:r>
            <a:r>
              <a:rPr b="1"/>
              <a:t> list of specific defects</a:t>
            </a:r>
          </a:p>
          <a:p>
            <a:pPr lvl="1"/>
            <a:r>
              <a:t> not "make it better" — "claim in ¶2 has no source; tone is too casual"</a:t>
            </a:r>
          </a:p>
          <a:p>
            <a:r>
              <a:rPr b="1"/>
              <a:t> Revision</a:t>
            </a:r>
            <a:r>
              <a:t> — the generator rewrites, addressing each finding</a:t>
            </a:r>
          </a:p>
          <a:p>
            <a:r>
              <a:rPr b="1"/>
              <a:t> Stop check</a:t>
            </a:r>
            <a:r>
              <a:t> — critic says "no material issues" or we hit the cap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88" y="4483623"/>
            <a:ext cx="78740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0588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Vague critique -&gt; vague revision. Force the critic to be specific and itemized.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Good Critic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Give the critic a</a:t>
            </a:r>
            <a:r>
              <a:rPr b="1"/>
              <a:t> role</a:t>
            </a:r>
            <a:r>
              <a:t> and a</a:t>
            </a:r>
            <a:r>
              <a:rPr b="1"/>
              <a:t> rubric</a:t>
            </a:r>
            <a:r>
              <a:t> , not just "review this"</a:t>
            </a:r>
          </a:p>
          <a:p>
            <a:r>
              <a:t> Ask for</a:t>
            </a:r>
            <a:r>
              <a:rPr b="1"/>
              <a:t> structured, itemized</a:t>
            </a:r>
            <a:r>
              <a:t> output it can act on</a:t>
            </a:r>
          </a:p>
          <a:p>
            <a:r>
              <a:t> Make "</a:t>
            </a:r>
            <a:r>
              <a:rPr b="1"/>
              <a:t> no issues</a:t>
            </a:r>
            <a:r>
              <a:t> " an explicit, allowed verdict — so the loop can end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8" y="3446161"/>
            <a:ext cx="8902700" cy="2156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critic that always finds something never stops. Let it say "accept."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 — Learning Within a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Reflexion</a:t>
            </a:r>
            <a:r>
              <a:t> = generate -&gt; evaluate -&gt; write a short</a:t>
            </a:r>
            <a:r>
              <a:rPr i="1"/>
              <a:t> lesson</a:t>
            </a:r>
            <a:r>
              <a:t> -&gt; retry</a:t>
            </a:r>
          </a:p>
          <a:p>
            <a:r>
              <a:t> The lesson (verbal feedback) is fed back as</a:t>
            </a:r>
            <a:r>
              <a:rPr b="1"/>
              <a:t> memory</a:t>
            </a:r>
            <a:r>
              <a:t> for the next attempt</a:t>
            </a:r>
          </a:p>
          <a:p>
            <a:r>
              <a:t> Useful when there's a</a:t>
            </a:r>
            <a:r>
              <a:rPr b="1"/>
              <a:t> signal</a:t>
            </a:r>
            <a:r>
              <a:t> : a test result, a tool error, a failed check</a:t>
            </a:r>
          </a:p>
          <a:p>
            <a:endParaRPr/>
          </a:p>
          <a:p>
            <a:r>
              <a:t> Differs from plain generator–critic: it</a:t>
            </a:r>
            <a:r>
              <a:rPr b="1"/>
              <a:t> accumulates</a:t>
            </a:r>
            <a:r>
              <a:t> lessons across attempts</a:t>
            </a:r>
          </a:p>
          <a:p>
            <a:r>
              <a:t> Great fit for code, math, or anything with an automatic check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471041"/>
            <a:ext cx="8915400" cy="377615"/>
          </a:xfrm>
          <a:prstGeom prst="rect">
            <a:avLst/>
          </a:prstGeom>
        </p:spPr>
      </p:pic>
      <p:pic>
        <p:nvPicPr>
          <p:cNvPr id="6" name="Picture 5" descr="pexels-ketut-subiyanto-47199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36" y="5213603"/>
            <a:ext cx="2400300" cy="1600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69606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Reflexion turns a failure into a note the agent reads before trying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for Factuality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Point the critic at the</a:t>
            </a:r>
            <a:r>
              <a:rPr b="1"/>
              <a:t> source</a:t>
            </a:r>
            <a:r>
              <a:t> , not at its own opinion</a:t>
            </a:r>
          </a:p>
          <a:p>
            <a:r>
              <a:t> The check:</a:t>
            </a:r>
            <a:r>
              <a:rPr i="1"/>
              <a:t> is every claim traceable to the provided evidence?</a:t>
            </a:r>
          </a:p>
          <a:p>
            <a:r>
              <a:t> The critic flags:</a:t>
            </a:r>
          </a:p>
          <a:p>
            <a:pPr lvl="1"/>
            <a:r>
              <a:t> claims with</a:t>
            </a:r>
            <a:r>
              <a:rPr b="1"/>
              <a:t> no support</a:t>
            </a:r>
            <a:r>
              <a:t> in the source</a:t>
            </a:r>
          </a:p>
          <a:p>
            <a:pPr lvl="1"/>
            <a:r>
              <a:t> numbers, names, or dates that</a:t>
            </a:r>
            <a:r>
              <a:rPr b="1"/>
              <a:t> don't match</a:t>
            </a:r>
          </a:p>
          <a:p>
            <a:pPr lvl="1"/>
            <a:r>
              <a:rPr b="1"/>
              <a:t> overstated</a:t>
            </a:r>
            <a:r>
              <a:t> confidence ("always", "guaranteed")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3067"/>
            <a:ext cx="9137650" cy="607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724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Grounded critique removes hallucinations. Ungrounded critique invents new 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for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Style is</a:t>
            </a:r>
            <a:r>
              <a:rPr b="1"/>
              <a:t> cheap</a:t>
            </a:r>
            <a:r>
              <a:t> to reflect on and easy to specify</a:t>
            </a:r>
          </a:p>
          <a:p>
            <a:r>
              <a:t> Give the critic the</a:t>
            </a:r>
            <a:r>
              <a:rPr b="1"/>
              <a:t> target</a:t>
            </a:r>
            <a:r>
              <a:t> : audience, tone, length, format</a:t>
            </a:r>
          </a:p>
          <a:p>
            <a:r>
              <a:t> Typical style findings:</a:t>
            </a:r>
          </a:p>
          <a:p>
            <a:pPr lvl="1"/>
            <a:r>
              <a:t> too long / buries the answer</a:t>
            </a:r>
          </a:p>
          <a:p>
            <a:pPr lvl="1"/>
            <a:r>
              <a:t> wrong register (casual where formal is needed)</a:t>
            </a:r>
          </a:p>
          <a:p>
            <a:pPr lvl="1"/>
            <a:r>
              <a:t> inconsistent format (headings, bullets, JSON shape)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8931"/>
            <a:ext cx="8915400" cy="578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Nail factuality first, then style. A well-worded wrong answer is still wrong.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Reflecting on Charts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Structured artifacts have</a:t>
            </a:r>
            <a:r>
              <a:rPr b="1"/>
              <a:t> checkable rules</a:t>
            </a:r>
            <a:r>
              <a:t> — perfect for a critic</a:t>
            </a:r>
          </a:p>
          <a:p>
            <a:r>
              <a:t> Chart critique:</a:t>
            </a:r>
          </a:p>
          <a:p>
            <a:pPr lvl="1"/>
            <a:r>
              <a:t> right</a:t>
            </a:r>
            <a:r>
              <a:rPr b="1"/>
              <a:t> chart type</a:t>
            </a:r>
            <a:r>
              <a:t> for the data? (trend -&gt; line, parts -&gt; bar)</a:t>
            </a:r>
          </a:p>
          <a:p>
            <a:pPr lvl="1"/>
            <a:r>
              <a:t> axes labeled, units shown, no misleading scale?</a:t>
            </a:r>
          </a:p>
          <a:p>
            <a:pPr lvl="1"/>
            <a:r>
              <a:t> does the title state the</a:t>
            </a:r>
            <a:r>
              <a:rPr b="1"/>
              <a:t> takeaway</a:t>
            </a:r>
            <a:r>
              <a:t> , not just the topic?</a:t>
            </a:r>
          </a:p>
          <a:p>
            <a:r>
              <a:t> Report critique:</a:t>
            </a:r>
          </a:p>
          <a:p>
            <a:pPr lvl="1"/>
            <a:r>
              <a:t> every figure</a:t>
            </a:r>
            <a:r>
              <a:rPr b="1"/>
              <a:t> cited</a:t>
            </a:r>
            <a:r>
              <a:t> ? numbers consistent across sections?</a:t>
            </a:r>
          </a:p>
          <a:p>
            <a:pPr lvl="1"/>
            <a:r>
              <a:t> does the summary match the body?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5246995"/>
            <a:ext cx="9272588" cy="4132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0566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For artifacts, the critic checks a spec, not prose — cheaper and more reliable.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Reflection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High-stakes</a:t>
            </a:r>
            <a:r>
              <a:t> output — a customer sees it, a decision rides on it</a:t>
            </a:r>
          </a:p>
          <a:p>
            <a:r>
              <a:rPr b="1"/>
              <a:t> Checkable</a:t>
            </a:r>
            <a:r>
              <a:t> correctness — grounded facts, tests, schema, format rules</a:t>
            </a:r>
          </a:p>
          <a:p>
            <a:r>
              <a:rPr b="1"/>
              <a:t> Complex</a:t>
            </a:r>
            <a:r>
              <a:t> requests — many requirements easy to miss on pass one</a:t>
            </a:r>
          </a:p>
          <a:p>
            <a:r>
              <a:t> Tasks where a</a:t>
            </a:r>
            <a:r>
              <a:rPr b="1"/>
              <a:t> rubric</a:t>
            </a:r>
            <a:r>
              <a:t> exists or can be written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bigger the gap between "first draft" and "shippable," the more reflection pays.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Reflection Wastes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task is</a:t>
            </a:r>
            <a:r>
              <a:rPr b="1"/>
              <a:t> simple</a:t>
            </a:r>
            <a:r>
              <a:t> — a lookup, a format, a one-liner</a:t>
            </a:r>
          </a:p>
          <a:p>
            <a:r>
              <a:t> There's</a:t>
            </a:r>
            <a:r>
              <a:rPr b="1"/>
              <a:t> no signal</a:t>
            </a:r>
            <a:r>
              <a:t> — the critic can't actually tell better from worse</a:t>
            </a:r>
          </a:p>
          <a:p>
            <a:r>
              <a:t> You've hit</a:t>
            </a:r>
            <a:r>
              <a:rPr b="1"/>
              <a:t> diminishing returns</a:t>
            </a:r>
            <a:r>
              <a:t> — round 3 rewords, doesn't improve</a:t>
            </a:r>
          </a:p>
          <a:p>
            <a:r>
              <a:rPr b="1"/>
              <a:t> Latency/cost budget</a:t>
            </a:r>
            <a:r>
              <a:t> is tight and the first draft is already fine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015501"/>
            <a:ext cx="93980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Reflection is a bet: extra tokens now for quality later. Don't bet on a sure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Conditions &amp; Budgets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Always cap reflection — it is a loop, and loops need brakes:</a:t>
            </a:r>
          </a:p>
          <a:p>
            <a:pPr lvl="1"/>
            <a:r>
              <a:rPr b="1"/>
              <a:t> max rounds</a:t>
            </a:r>
            <a:r>
              <a:t> (2–3 is usually enough)</a:t>
            </a:r>
          </a:p>
          <a:p>
            <a:pPr lvl="1"/>
            <a:r>
              <a:rPr b="1"/>
              <a:t> critic verdict = accept</a:t>
            </a:r>
          </a:p>
          <a:p>
            <a:pPr lvl="1"/>
            <a:r>
              <a:rPr b="1"/>
              <a:t> no-progress</a:t>
            </a:r>
            <a:r>
              <a:t> detector — revision ≈ previous draft -&gt; stop</a:t>
            </a:r>
          </a:p>
          <a:p>
            <a:r>
              <a:t> Track</a:t>
            </a:r>
            <a:r>
              <a:rPr b="1"/>
              <a:t> tokens per round</a:t>
            </a:r>
            <a:r>
              <a:t> ; abort if the budget is blown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354787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rule as Day 1: no cap, no ship. A reflection loop can burn a budget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the Lift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Never assume reflection helped —</a:t>
            </a:r>
            <a:r>
              <a:rPr b="1"/>
              <a:t> measure</a:t>
            </a:r>
            <a:r>
              <a:t> it</a:t>
            </a:r>
          </a:p>
          <a:p>
            <a:r>
              <a:t> Freeze a</a:t>
            </a:r>
            <a:r>
              <a:rPr b="1"/>
              <a:t> small eval set</a:t>
            </a:r>
            <a:r>
              <a:t> (5–10 items), run</a:t>
            </a:r>
            <a:r>
              <a:rPr b="1"/>
              <a:t> direct vs. reflective</a:t>
            </a:r>
          </a:p>
          <a:p>
            <a:r>
              <a:t> Score with a</a:t>
            </a:r>
            <a:r>
              <a:rPr b="1"/>
              <a:t> rubric</a:t>
            </a:r>
            <a:r>
              <a:t> (per</a:t>
            </a:r>
            <a:r>
              <a:rPr>
                <a:latin typeface="Courier New"/>
              </a:rPr>
              <a:t> course-materials/agent-evaluation-rubric.md</a:t>
            </a:r>
            <a:r>
              <a:t> )</a:t>
            </a:r>
          </a:p>
          <a:p>
            <a:r>
              <a:t> Record</a:t>
            </a:r>
            <a:r>
              <a:rPr b="1"/>
              <a:t> quality delta</a:t>
            </a:r>
            <a:r>
              <a:t> against</a:t>
            </a:r>
            <a:r>
              <a:rPr b="1"/>
              <a:t> token/latency cost</a:t>
            </a:r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4148931"/>
            <a:ext cx="87884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7497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"It felt better" is not a result. A quality delta per token 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in the Agent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Reflection is one</a:t>
            </a:r>
            <a:r>
              <a:rPr b="1"/>
              <a:t> REFLECT</a:t>
            </a:r>
            <a:r>
              <a:t> step in the Day-1 loop — now with teeth</a:t>
            </a:r>
          </a:p>
          <a:p>
            <a:r>
              <a:t> It composes with tools: critique can trigger</a:t>
            </a:r>
            <a:r>
              <a:rPr b="1"/>
              <a:t> another tool call</a:t>
            </a:r>
          </a:p>
          <a:p>
            <a:pPr lvl="1"/>
            <a:r>
              <a:t> "claim unsupported" -&gt; re-run</a:t>
            </a:r>
            <a:r>
              <a:rPr>
                <a:latin typeface="Courier New"/>
              </a:rPr>
              <a:t> search</a:t>
            </a:r>
            <a:r>
              <a:t> -&gt; revise with the new evidence</a:t>
            </a:r>
          </a:p>
          <a:p>
            <a:r>
              <a:t> Keep the roles</a:t>
            </a:r>
            <a:r>
              <a:rPr b="1"/>
              <a:t> separate</a:t>
            </a:r>
            <a:r>
              <a:t> in your logs: generator turns vs. critic turns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4409201"/>
            <a:ext cx="9398000" cy="520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Reflection doesn't replace tools or planning. It's the quality gate before you answer.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Reflection =</a:t>
            </a:r>
            <a:r>
              <a:rPr b="1"/>
              <a:t> generator + critic</a:t>
            </a:r>
            <a:r>
              <a:t> , looped under a cap</a:t>
            </a:r>
          </a:p>
          <a:p>
            <a:r>
              <a:t> Make the critic</a:t>
            </a:r>
            <a:r>
              <a:rPr b="1"/>
              <a:t> specific, rubric-driven, and allowed to say "accept"</a:t>
            </a:r>
          </a:p>
          <a:p>
            <a:r>
              <a:t> Ground factuality critique in the</a:t>
            </a:r>
            <a:r>
              <a:rPr b="1"/>
              <a:t> source</a:t>
            </a:r>
            <a:r>
              <a:t> ; style critique in the</a:t>
            </a:r>
            <a:r>
              <a:rPr b="1"/>
              <a:t> target</a:t>
            </a:r>
          </a:p>
          <a:p>
            <a:r>
              <a:t> Reflect on</a:t>
            </a:r>
            <a:r>
              <a:rPr b="1"/>
              <a:t> specs</a:t>
            </a:r>
            <a:r>
              <a:t> for charts and reports, not just prose</a:t>
            </a:r>
          </a:p>
          <a:p>
            <a:r>
              <a:t> Use it where output is</a:t>
            </a:r>
            <a:r>
              <a:rPr b="1"/>
              <a:t> high-stakes and checkable</a:t>
            </a:r>
            <a:r>
              <a:t> — skip it otherwise</a:t>
            </a:r>
          </a:p>
          <a:p>
            <a:r>
              <a:rPr b="1"/>
              <a:t> Measure</a:t>
            </a:r>
            <a:r>
              <a:t> the quality lift against the token cost, every time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You now know the pattern. Next you'll prove — with numbers — when it's worth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— Direct vs. Reflective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3.</a:t>
            </a:r>
          </a:p>
          <a:p>
            <a:r>
              <a:t> You will:</a:t>
            </a:r>
          </a:p>
          <a:p>
            <a:r>
              <a:t> Build a</a:t>
            </a:r>
            <a:r>
              <a:rPr b="1"/>
              <a:t> direct</a:t>
            </a:r>
            <a:r>
              <a:t> summarizer over a source document.</a:t>
            </a:r>
          </a:p>
          <a:p>
            <a:r>
              <a:t> Build a</a:t>
            </a:r>
            <a:r>
              <a:rPr b="1"/>
              <a:t> reflective</a:t>
            </a:r>
            <a:r>
              <a:t> summarizer: draft -&gt; critique -&gt; revise.</a:t>
            </a:r>
          </a:p>
          <a:p>
            <a:r>
              <a:t> Write a</a:t>
            </a:r>
            <a:r>
              <a:rPr b="1"/>
              <a:t> critic prompt</a:t>
            </a:r>
            <a:r>
              <a:t> that returns itemized, actionable issues.</a:t>
            </a:r>
          </a:p>
          <a:p>
            <a:r>
              <a:t> Compare the two outputs against a short</a:t>
            </a:r>
            <a:r>
              <a:rPr b="1"/>
              <a:t> rubric</a:t>
            </a:r>
            <a:r>
              <a:t> .</a:t>
            </a:r>
          </a:p>
          <a:p>
            <a:r>
              <a:t> Measure the</a:t>
            </a:r>
            <a:r>
              <a:rPr b="1"/>
              <a:t> token cost</a:t>
            </a:r>
            <a:r>
              <a:t> of reflection and decide if it paid off.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reflective_summarizer.py</a:t>
            </a:r>
            <a:r>
              <a:t> that prints both summaries, the critique, and a quality-vs-cost comparison.</a:t>
            </a:r>
          </a:p>
          <a:p>
            <a:r>
              <a:rPr b="1"/>
              <a:t> Time:</a:t>
            </a:r>
            <a:r>
              <a:t> 50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378311</TotalTime>
  <Words>1554</Words>
  <Application>Microsoft Macintosh PowerPoint</Application>
  <PresentationFormat>Custom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Reflection &amp; Self-Evaluation</vt:lpstr>
      <vt:lpstr>Part II — What We'll Cover</vt:lpstr>
      <vt:lpstr>Why Reflection?</vt:lpstr>
      <vt:lpstr>What Is Reflection?</vt:lpstr>
      <vt:lpstr>The Generator–Critic Loop</vt:lpstr>
      <vt:lpstr>Anatomy of a Reflection Round</vt:lpstr>
      <vt:lpstr>Writing a Good Critic Prompt</vt:lpstr>
      <vt:lpstr>Reflexion — Learning Within a Run</vt:lpstr>
      <vt:lpstr>Reflection for Factuality</vt:lpstr>
      <vt:lpstr>Reflection for Style</vt:lpstr>
      <vt:lpstr>Reflecting on Charts &amp; Reports</vt:lpstr>
      <vt:lpstr>When Reflection Helps</vt:lpstr>
      <vt:lpstr>When Reflection Wastes Tokens</vt:lpstr>
      <vt:lpstr>Stop Conditions &amp; Budgets</vt:lpstr>
      <vt:lpstr>Measuring the Lift</vt:lpstr>
      <vt:lpstr>Reflection in the Agent Loop</vt:lpstr>
      <vt:lpstr>Putting It Together</vt:lpstr>
      <vt:lpstr>Lab 3 — Direct vs. Reflective Summarization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2026-10-13T18:55:17Z</dcterms:modified>
</cp:coreProperties>
</file>