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Evaluation, Error Analysis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III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agents need real evaluation — a demo is not a pilot</a:t>
            </a:r>
          </a:p>
          <a:p>
            <a:r>
              <a:t> The five metrics that matter: task success, tool use, grounding, efficiency, safety</a:t>
            </a:r>
          </a:p>
          <a:p>
            <a:r>
              <a:t> Building a</a:t>
            </a:r>
            <a:r>
              <a:rPr b="1"/>
              <a:t> frozen eval set</a:t>
            </a:r>
            <a:r>
              <a:t> you can trust across versions</a:t>
            </a:r>
          </a:p>
          <a:p>
            <a:r>
              <a:t> Error analysis — the failure modes every agent has</a:t>
            </a:r>
          </a:p>
          <a:p>
            <a:r>
              <a:t> Reading the</a:t>
            </a:r>
            <a:r>
              <a:rPr b="1"/>
              <a:t> audit log</a:t>
            </a:r>
            <a:r>
              <a:t> to grade the</a:t>
            </a:r>
            <a:r>
              <a:rPr i="1"/>
              <a:t> process</a:t>
            </a:r>
            <a:r>
              <a:t> , not just the answer</a:t>
            </a:r>
          </a:p>
          <a:p>
            <a:r>
              <a:t> Workflow optimization — change one thing, re-run, prioritize the next fix</a:t>
            </a:r>
          </a:p>
          <a:p>
            <a:r>
              <a:rPr b="1"/>
              <a:t> LLM-as-judge</a:t>
            </a:r>
            <a:r>
              <a:t> — powerful, and where it lies to you</a:t>
            </a:r>
          </a:p>
          <a:p>
            <a:r>
              <a:t> Lab 7: benchmark two agent variants against a frozen set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can't improve what you don't measure — and with agents, the answer alone doesn't measure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Demo Is Not a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demo is</a:t>
            </a:r>
            <a:r>
              <a:rPr b="1"/>
              <a:t> one run that worked</a:t>
            </a:r>
            <a:r>
              <a:t> — cherry-picked, on the happy path</a:t>
            </a:r>
          </a:p>
          <a:p>
            <a:r>
              <a:t> A pilot survives</a:t>
            </a:r>
            <a:r>
              <a:rPr b="1"/>
              <a:t> the runs you didn't script</a:t>
            </a:r>
            <a:r>
              <a:t> :</a:t>
            </a:r>
          </a:p>
          <a:p>
            <a:pPr lvl="1"/>
            <a:r>
              <a:t> missing data, ambiguous asks, unsafe requests, tool outages</a:t>
            </a:r>
          </a:p>
          <a:p>
            <a:r>
              <a:t> The gap between them is</a:t>
            </a:r>
            <a:r>
              <a:rPr b="1"/>
              <a:t> evaluation</a:t>
            </a:r>
            <a:r>
              <a:t> — repeatable, adversarial, logged</a:t>
            </a:r>
          </a:p>
          <a:p>
            <a:r>
              <a:t> "It worked when I tried it" is a story, not evidence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ann-h-45017-384728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3312223"/>
            <a:ext cx="1716024" cy="1144115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5639"/>
            <a:ext cx="8902700" cy="71129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5300" y="6649818"/>
            <a:ext cx="7507224" cy="1136301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demo proves the agent can succeed. Evaluation proves how often it does — and how it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Agents Are Hard to Evaluate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Non-deterministic</a:t>
            </a:r>
            <a:r>
              <a:t> — same input, different path, different tokens</a:t>
            </a:r>
          </a:p>
          <a:p>
            <a:r>
              <a:rPr b="1"/>
              <a:t> Multi-step</a:t>
            </a:r>
            <a:r>
              <a:t> — the final answer can be right for the</a:t>
            </a:r>
            <a:r>
              <a:rPr i="1"/>
              <a:t> wrong reasons</a:t>
            </a:r>
          </a:p>
          <a:p>
            <a:r>
              <a:rPr b="1"/>
              <a:t> Tool-coupled</a:t>
            </a:r>
            <a:r>
              <a:t> — a good answer may hide a bad or unsafe tool call</a:t>
            </a:r>
          </a:p>
          <a:p>
            <a:r>
              <a:rPr b="1"/>
              <a:t> Open-ended output</a:t>
            </a:r>
            <a:r>
              <a:t> — no single "correct string" to diff against</a:t>
            </a:r>
          </a:p>
          <a:p>
            <a:r>
              <a:t> So we grade</a:t>
            </a:r>
            <a:r>
              <a:rPr b="1"/>
              <a:t> the process and the outcome</a:t>
            </a:r>
            <a:r>
              <a:t> , on</a:t>
            </a:r>
            <a:r>
              <a:rPr b="1"/>
              <a:t> many cases</a:t>
            </a:r>
            <a:r>
              <a:t> ,</a:t>
            </a:r>
            <a:r>
              <a:rPr b="1"/>
              <a:t> more than once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43061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One number on one run tells you almost nothing. Distribution over a fixed set tells you the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Five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Task success</a:t>
            </a:r>
            <a:r>
              <a:rPr dirty="0"/>
              <a:t> — did it actually accomplish the goal?</a:t>
            </a:r>
          </a:p>
          <a:p>
            <a:r>
              <a:rPr b="1" dirty="0"/>
              <a:t> Tool-call accuracy</a:t>
            </a:r>
            <a:r>
              <a:rPr dirty="0"/>
              <a:t> — right tool, valid </a:t>
            </a:r>
            <a:r>
              <a:rPr dirty="0" err="1"/>
              <a:t>args</a:t>
            </a:r>
            <a:r>
              <a:rPr dirty="0"/>
              <a:t>, handled errors?</a:t>
            </a:r>
          </a:p>
          <a:p>
            <a:r>
              <a:rPr b="1" dirty="0"/>
              <a:t> Factuality / grounding</a:t>
            </a:r>
            <a:r>
              <a:rPr dirty="0"/>
              <a:t> — is every claim traceable to a source or tool result?</a:t>
            </a:r>
          </a:p>
          <a:p>
            <a:r>
              <a:rPr b="1" dirty="0"/>
              <a:t> Efficiency</a:t>
            </a:r>
            <a:r>
              <a:rPr dirty="0"/>
              <a:t> — steps, tokens, cost, latency</a:t>
            </a:r>
          </a:p>
          <a:p>
            <a:r>
              <a:rPr b="1" dirty="0"/>
              <a:t> Safety</a:t>
            </a:r>
            <a:r>
              <a:rPr dirty="0"/>
              <a:t> — least privilege, human gates, clean audit log</a:t>
            </a:r>
          </a:p>
          <a:p>
            <a:r>
              <a:rPr dirty="0"/>
              <a:t> Scored 0–3 each in</a:t>
            </a:r>
            <a:r>
              <a:rPr dirty="0">
                <a:latin typeface="Courier New"/>
              </a:rPr>
              <a:t> course-materials/agent-evaluation-</a:t>
            </a:r>
            <a:r>
              <a:rPr dirty="0" err="1">
                <a:latin typeface="Courier New"/>
              </a:rPr>
              <a:t>rubric.md</a:t>
            </a:r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ann-h-45017-153513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4301331"/>
            <a:ext cx="3240024" cy="21600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Task success is necessary, not sufficient. A right answer that cost $4 or skipped a safety gate still fails.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Rubric (0–3 per Dimension)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rPr b="1"/>
              <a:t> Pilot-ready</a:t>
            </a:r>
            <a:r>
              <a:t> only when</a:t>
            </a:r>
            <a:r>
              <a:rPr b="1"/>
              <a:t> Safety = 3</a:t>
            </a:r>
            <a:r>
              <a:t> and</a:t>
            </a:r>
            <a:r>
              <a:rPr b="1"/>
              <a:t> total ≥ 12/15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20659"/>
              </p:ext>
            </p:extLst>
          </p:nvPr>
        </p:nvGraphicFramePr>
        <p:xfrm>
          <a:off x="237744" y="1253331"/>
          <a:ext cx="8915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69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— Failing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—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— 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Task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Wrong / no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Correct on happy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Correct across edge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Wrong/hallucinated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Right tool, valid args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Minimal, recovers from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Factuality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Invents 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Grounded, minor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 claim traceable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Loops / blows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Reasonable steps &amp;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Near-minimal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Unsafe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Gated but 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Least-privilege, clean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34950" y="694455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Safety is a gate, not a score you can average away. One unsafe action fails the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Success — Define "Done"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cannot score success you never defined</a:t>
            </a:r>
          </a:p>
          <a:p>
            <a:r>
              <a:t> For each case, write the</a:t>
            </a:r>
            <a:r>
              <a:rPr b="1"/>
              <a:t> expected outcome</a:t>
            </a:r>
            <a:r>
              <a:t> </a:t>
            </a:r>
            <a:r>
              <a:rPr i="1"/>
              <a:t> before</a:t>
            </a:r>
            <a:r>
              <a:t> you run:</a:t>
            </a:r>
          </a:p>
          <a:p>
            <a:pPr lvl="1"/>
            <a:r>
              <a:t> an exact value, a required substring, a required tool call, or a refusal</a:t>
            </a:r>
          </a:p>
          <a:p>
            <a:r>
              <a:t> Prefer</a:t>
            </a:r>
            <a:r>
              <a:rPr b="1"/>
              <a:t> checkable</a:t>
            </a:r>
            <a:r>
              <a:t> outcomes over "looks good"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2155"/>
            <a:ext cx="8915400" cy="557212"/>
          </a:xfrm>
          <a:prstGeom prst="rect">
            <a:avLst/>
          </a:prstGeom>
        </p:spPr>
      </p:pic>
      <p:pic>
        <p:nvPicPr>
          <p:cNvPr id="6" name="Picture 5" descr="pexels-shutter-speed-20279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4403577"/>
            <a:ext cx="3162300" cy="17785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495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Write the assertion before the run. If you can't state what "correct" is, you can't test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Checks vs. Judged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Deterministic</a:t>
            </a:r>
            <a:r>
              <a:t> — cheap, exact, no model needed:</a:t>
            </a:r>
          </a:p>
          <a:p>
            <a:pPr lvl="1"/>
            <a:r>
              <a:t> substring / regex match, expected tool called, step cap respected, gate fired</a:t>
            </a:r>
          </a:p>
          <a:p>
            <a:r>
              <a:rPr b="1"/>
              <a:t> Judged</a:t>
            </a:r>
            <a:r>
              <a:t> — for open-ended quality a regex can't capture:</a:t>
            </a:r>
          </a:p>
          <a:p>
            <a:pPr lvl="1"/>
            <a:r>
              <a:t> "is the summary faithful to the source?", "is the tone appropriate?"</a:t>
            </a:r>
          </a:p>
          <a:p>
            <a:r>
              <a:t> Use deterministic checks for everything you</a:t>
            </a:r>
            <a:r>
              <a:rPr i="1"/>
              <a:t> can</a:t>
            </a:r>
            <a:r>
              <a:t> ; reserve the judge for the rest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4834731"/>
            <a:ext cx="8915400" cy="5855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70345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 check you can make deterministic is a check that can't drift or cost tokens.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Frozen Eval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small,</a:t>
            </a:r>
            <a:r>
              <a:rPr b="1"/>
              <a:t> fixed</a:t>
            </a:r>
            <a:r>
              <a:t> set of cases with expected outcomes — your regression harness</a:t>
            </a:r>
          </a:p>
          <a:p>
            <a:r>
              <a:rPr b="1"/>
              <a:t> Freeze it</a:t>
            </a:r>
            <a:r>
              <a:t> : same cases, same expectations, every version</a:t>
            </a:r>
          </a:p>
          <a:p>
            <a:r>
              <a:t> Cover four families deliberately:</a:t>
            </a:r>
          </a:p>
          <a:p>
            <a:pPr lvl="1"/>
            <a:r>
              <a:rPr b="1"/>
              <a:t> happy path</a:t>
            </a:r>
            <a:r>
              <a:t> — the case the demo already nails</a:t>
            </a:r>
          </a:p>
          <a:p>
            <a:pPr lvl="1"/>
            <a:r>
              <a:rPr b="1"/>
              <a:t> missing data</a:t>
            </a:r>
            <a:r>
              <a:t> — a required input absent</a:t>
            </a:r>
          </a:p>
          <a:p>
            <a:pPr lvl="1"/>
            <a:r>
              <a:rPr b="1"/>
              <a:t> ambiguous</a:t>
            </a:r>
            <a:r>
              <a:t> — more than one reasonable reading</a:t>
            </a:r>
          </a:p>
          <a:p>
            <a:pPr lvl="1"/>
            <a:r>
              <a:rPr b="1"/>
              <a:t> unsafe</a:t>
            </a:r>
            <a:r>
              <a:t> — a request that must be refused or gated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set is only useful if it doesn't move. If you tune the cases to the agent, you're grading nothing.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Case as Data (JSONL)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case per line — inputs plus the checks that define "correct"</a:t>
            </a:r>
          </a:p>
          <a:p>
            <a:endParaRPr/>
          </a:p>
          <a:p>
            <a:endParaRPr/>
          </a:p>
          <a:p>
            <a:endParaRPr/>
          </a:p>
          <a:p>
            <a:r>
              <a:t> Checks live</a:t>
            </a:r>
            <a:r>
              <a:rPr b="1"/>
              <a:t> with</a:t>
            </a:r>
            <a:r>
              <a:t> the case, so scoring is reproducible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3446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0275" y="690731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eval set is code. Version it, review it, and never edit it to make a run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 — Grade the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wrong answer tells you</a:t>
            </a:r>
            <a:r>
              <a:rPr i="1"/>
              <a:t> that</a:t>
            </a:r>
            <a:r>
              <a:t> it failed; the trace tells you</a:t>
            </a:r>
            <a:r>
              <a:rPr i="1"/>
              <a:t> why</a:t>
            </a:r>
          </a:p>
          <a:p>
            <a:r>
              <a:t> Read the</a:t>
            </a:r>
            <a:r>
              <a:rPr b="1"/>
              <a:t> audit log</a:t>
            </a:r>
            <a:r>
              <a:t> , not just the final string</a:t>
            </a:r>
          </a:p>
          <a:p>
            <a:r>
              <a:t> Bucket every failure into a</a:t>
            </a:r>
            <a:r>
              <a:rPr b="1"/>
              <a:t> named mode</a:t>
            </a:r>
            <a:r>
              <a:t> — that's what you'll fix</a:t>
            </a:r>
          </a:p>
          <a:p>
            <a:r>
              <a:t> Count modes across the set; the biggest bucket is your next task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6499"/>
            <a:ext cx="8915400" cy="377615"/>
          </a:xfrm>
          <a:prstGeom prst="rect">
            <a:avLst/>
          </a:prstGeom>
        </p:spPr>
      </p:pic>
      <p:pic>
        <p:nvPicPr>
          <p:cNvPr id="6" name="Picture 5" descr="pexels-l-a-17372988-279686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666" y="4395707"/>
            <a:ext cx="1445098" cy="25695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910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Don't fix runs. Fix modes. One root cause usually explains many bad runs.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Tool-call errors</a:t>
            </a:r>
            <a:r>
              <a:t> — malformed args, wrong tool, ignoring an error result</a:t>
            </a:r>
          </a:p>
          <a:p>
            <a:r>
              <a:rPr b="1"/>
              <a:t> Plan drift</a:t>
            </a:r>
            <a:r>
              <a:t> — the agent forgets the goal mid-run and wanders</a:t>
            </a:r>
          </a:p>
          <a:p>
            <a:r>
              <a:rPr b="1"/>
              <a:t> Hallucinated tool output</a:t>
            </a:r>
            <a:r>
              <a:t> — "answers as if" it called a tool it never did</a:t>
            </a:r>
          </a:p>
          <a:p>
            <a:r>
              <a:rPr b="1"/>
              <a:t> Runaway loop</a:t>
            </a:r>
            <a:r>
              <a:t> — no progress, no stop condition, burns the budget</a:t>
            </a:r>
          </a:p>
          <a:p>
            <a:r>
              <a:rPr b="1"/>
              <a:t> Unsafe action</a:t>
            </a:r>
            <a:r>
              <a:t> — sends / deletes / pays with no human gate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7131"/>
            <a:ext cx="8930968" cy="635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These five cover most agent failures. Learn to spot each one in a log at a glance.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the Audit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Every run emits append-only JSONL (</a:t>
            </a:r>
            <a:r>
              <a:rPr dirty="0">
                <a:latin typeface="Courier New"/>
              </a:rPr>
              <a:t> course-materials/audit-log-</a:t>
            </a:r>
            <a:r>
              <a:rPr dirty="0" err="1">
                <a:latin typeface="Courier New"/>
              </a:rPr>
              <a:t>schema.md</a:t>
            </a:r>
            <a:r>
              <a:rPr dirty="0"/>
              <a:t> )</a:t>
            </a:r>
          </a:p>
          <a:p>
            <a:r>
              <a:rPr dirty="0"/>
              <a:t> One object per event: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run_start</a:t>
            </a:r>
            <a:r>
              <a:rPr dirty="0"/>
              <a:t> ,</a:t>
            </a:r>
            <a:r>
              <a:rPr dirty="0">
                <a:latin typeface="Courier New"/>
              </a:rPr>
              <a:t> plan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tool_call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tool_result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human_gate</a:t>
            </a:r>
            <a:r>
              <a:rPr dirty="0"/>
              <a:t> ,</a:t>
            </a:r>
            <a:r>
              <a:rPr dirty="0">
                <a:latin typeface="Courier New"/>
              </a:rPr>
              <a:t> reflection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run_end</a:t>
            </a:r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endParaRPr lang="en-US" dirty="0">
              <a:latin typeface="Courier New"/>
            </a:endParaRPr>
          </a:p>
          <a:p>
            <a:endParaRPr lang="en-US" dirty="0">
              <a:latin typeface="Courier New"/>
            </a:endParaRPr>
          </a:p>
          <a:p>
            <a:endParaRPr dirty="0">
              <a:latin typeface="Courier New"/>
            </a:endParaRPr>
          </a:p>
          <a:p>
            <a:r>
              <a:rPr dirty="0"/>
              <a:t> The log makes failure modes</a:t>
            </a:r>
            <a:r>
              <a:rPr b="1" dirty="0"/>
              <a:t> detectable in code</a:t>
            </a:r>
            <a:r>
              <a:rPr dirty="0"/>
              <a:t> :</a:t>
            </a:r>
          </a:p>
          <a:p>
            <a:pPr lvl="1"/>
            <a:r>
              <a:rPr dirty="0"/>
              <a:t> a claim with no prior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tool_call</a:t>
            </a:r>
            <a:r>
              <a:rPr dirty="0"/>
              <a:t> -&gt; hallucination</a:t>
            </a:r>
          </a:p>
          <a:p>
            <a:pPr lvl="1"/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run_end</a:t>
            </a:r>
            <a:r>
              <a:rPr dirty="0"/>
              <a:t> at the step cap with no answer -&gt; runaway loop</a:t>
            </a:r>
          </a:p>
          <a:p>
            <a:pPr lvl="1"/>
            <a:r>
              <a:rPr dirty="0"/>
              <a:t> a</a:t>
            </a:r>
            <a:r>
              <a:rPr dirty="0">
                <a:latin typeface="Courier New"/>
              </a:rPr>
              <a:t> dangerous</a:t>
            </a:r>
            <a:r>
              <a:rPr dirty="0"/>
              <a:t> action with no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human_gate</a:t>
            </a:r>
            <a:r>
              <a:rPr dirty="0"/>
              <a:t> -&gt; unsafe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3082131"/>
            <a:ext cx="8915400" cy="6877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it isn't in the log, you can't grade it, alert on it, or prove it later.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Efficiency, Cost &amp;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Sum from the log at</a:t>
            </a:r>
            <a:r>
              <a:rPr>
                <a:latin typeface="Courier New"/>
              </a:rPr>
              <a:t> run_end</a:t>
            </a:r>
            <a:r>
              <a:t> :</a:t>
            </a:r>
            <a:r>
              <a:rPr b="1"/>
              <a:t> steps</a:t>
            </a:r>
            <a:r>
              <a:t> ,</a:t>
            </a:r>
            <a:r>
              <a:rPr b="1"/>
              <a:t> tokens</a:t>
            </a:r>
            <a:r>
              <a:t> ,</a:t>
            </a:r>
            <a:r>
              <a:rPr b="1"/>
              <a:t> cost_usd</a:t>
            </a:r>
            <a:r>
              <a:t> ,</a:t>
            </a:r>
            <a:r>
              <a:rPr b="1"/>
              <a:t> latency_ms</a:t>
            </a:r>
          </a:p>
          <a:p>
            <a:r>
              <a:t> Track them per case</a:t>
            </a:r>
            <a:r>
              <a:rPr i="1"/>
              <a:t> and</a:t>
            </a:r>
            <a:r>
              <a:t> as a distribution over the set</a:t>
            </a:r>
          </a:p>
          <a:p>
            <a:r>
              <a:t> Watch for the quiet regressions:</a:t>
            </a:r>
          </a:p>
          <a:p>
            <a:pPr lvl="1"/>
            <a:r>
              <a:t> reflection that doubles token cost for a tiny quality gain</a:t>
            </a:r>
          </a:p>
          <a:p>
            <a:pPr lvl="1"/>
            <a:r>
              <a:t> retries that turn a 2-step task into a 9-step one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228083"/>
            <a:ext cx="9258300" cy="6158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563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Quality is not free. Report cost next to score, or you'll ship the expensive win by accident.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LLM-as-Judge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 one model to</a:t>
            </a:r>
            <a:r>
              <a:rPr b="1"/>
              <a:t> score another model's output</a:t>
            </a:r>
            <a:r>
              <a:t> against a rubric</a:t>
            </a:r>
          </a:p>
          <a:p>
            <a:r>
              <a:t> Great for open-ended quality: grounding, helpfulness, tone, completeness</a:t>
            </a:r>
          </a:p>
          <a:p>
            <a:r>
              <a:t> Give the judge: the</a:t>
            </a:r>
            <a:r>
              <a:rPr b="1"/>
              <a:t> task</a:t>
            </a:r>
            <a:r>
              <a:t> , the</a:t>
            </a:r>
            <a:r>
              <a:rPr b="1"/>
              <a:t> output</a:t>
            </a:r>
            <a:r>
              <a:t> , the</a:t>
            </a:r>
            <a:r>
              <a:rPr b="1"/>
              <a:t> rubric</a:t>
            </a:r>
            <a:r>
              <a:t> , and ask for</a:t>
            </a:r>
            <a:r>
              <a:rPr b="1"/>
              <a:t> JSON + reason</a:t>
            </a:r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996531"/>
            <a:ext cx="93980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judge scales your review. It does not replace your judgment — you still audit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LLM-as-Judge — The Cautions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956341"/>
            <a:ext cx="8902700" cy="6828450"/>
          </a:xfrm>
        </p:spPr>
        <p:txBody>
          <a:bodyPr/>
          <a:lstStyle/>
          <a:p>
            <a:r>
              <a:rPr b="1" dirty="0"/>
              <a:t> Not deterministic</a:t>
            </a:r>
            <a:r>
              <a:rPr dirty="0"/>
              <a:t> — same output can score differently; pin temperature to 0, still verify</a:t>
            </a:r>
          </a:p>
          <a:p>
            <a:r>
              <a:rPr b="1" dirty="0"/>
              <a:t> Biased</a:t>
            </a:r>
            <a:r>
              <a:rPr dirty="0"/>
              <a:t> — favors longer, more confident, or same-family answers</a:t>
            </a:r>
          </a:p>
          <a:p>
            <a:r>
              <a:rPr b="1" dirty="0"/>
              <a:t> Ungrounded</a:t>
            </a:r>
            <a:r>
              <a:rPr dirty="0"/>
              <a:t> — will "grade" facts it can't check unless you give it the sources</a:t>
            </a:r>
          </a:p>
          <a:p>
            <a:r>
              <a:rPr b="1" dirty="0"/>
              <a:t> Gameable</a:t>
            </a:r>
            <a:r>
              <a:rPr dirty="0"/>
              <a:t> — an agent can flatter the judge; treat judge output as</a:t>
            </a:r>
            <a:r>
              <a:rPr b="1" dirty="0"/>
              <a:t> untrusted data</a:t>
            </a:r>
          </a:p>
          <a:p>
            <a:endParaRPr lang="en-US" dirty="0"/>
          </a:p>
          <a:p>
            <a:endParaRPr lang="en-US" dirty="0"/>
          </a:p>
          <a:p>
            <a:r>
              <a:rPr dirty="0"/>
              <a:t> Guardrails:</a:t>
            </a:r>
          </a:p>
          <a:p>
            <a:pPr lvl="1"/>
            <a:r>
              <a:rPr dirty="0"/>
              <a:t> deterministic checks first, judge only for the rest</a:t>
            </a:r>
          </a:p>
          <a:p>
            <a:pPr lvl="1"/>
            <a:r>
              <a:rPr dirty="0"/>
              <a:t> force a rubric + a reason, not a bare number</a:t>
            </a:r>
          </a:p>
          <a:p>
            <a:pPr lvl="1"/>
            <a:r>
              <a:rPr b="1" dirty="0"/>
              <a:t> spot-check</a:t>
            </a:r>
            <a:r>
              <a:rPr dirty="0"/>
              <a:t> the judge against human labels on a sample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khezez-34817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996531"/>
            <a:ext cx="2401824" cy="13510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889" y="688871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judge is a fast, cheap, biased grader. Trust it like you'd trust a fast, cheap, biased grader.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Optimization — One Change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Change</a:t>
            </a:r>
            <a:r>
              <a:rPr b="1"/>
              <a:t> one variable</a:t>
            </a:r>
            <a:r>
              <a:t> , re-run the</a:t>
            </a:r>
            <a:r>
              <a:rPr b="1"/>
              <a:t> frozen</a:t>
            </a:r>
            <a:r>
              <a:t> set, compare</a:t>
            </a:r>
          </a:p>
          <a:p>
            <a:pPr lvl="1"/>
            <a:r>
              <a:t> a prompt, a tool, add/remove reflection, a different model</a:t>
            </a:r>
          </a:p>
          <a:p>
            <a:r>
              <a:t> Compare</a:t>
            </a:r>
            <a:r>
              <a:rPr b="1"/>
              <a:t> distributions</a:t>
            </a:r>
            <a:r>
              <a:t> , not a single lucky run</a:t>
            </a:r>
          </a:p>
          <a:p>
            <a:r>
              <a:t> Keep a results table so every version is on the record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3274499"/>
            <a:ext cx="8915400" cy="3872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you change two things and it got better, you've learned nothing about which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Prioritizing the Next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Rank candidate fixes by</a:t>
            </a:r>
            <a:r>
              <a:rPr b="1"/>
              <a:t> impact × frequency × cost-to-fix</a:t>
            </a:r>
          </a:p>
          <a:p>
            <a:r>
              <a:t> Attack the</a:t>
            </a:r>
            <a:r>
              <a:rPr b="1"/>
              <a:t> largest failure bucket</a:t>
            </a:r>
            <a:r>
              <a:t> first, not the scariest one-off</a:t>
            </a:r>
          </a:p>
          <a:p>
            <a:r>
              <a:t> Never trade away</a:t>
            </a:r>
            <a:r>
              <a:rPr b="1"/>
              <a:t> Safety</a:t>
            </a:r>
            <a:r>
              <a:t> for a task-success point</a:t>
            </a:r>
          </a:p>
          <a:p>
            <a:r>
              <a:t> Stop when the set is green</a:t>
            </a:r>
            <a:r>
              <a:rPr i="1"/>
              <a:t> and</a:t>
            </a:r>
            <a:r>
              <a:t> cost/latency are acceptable — then</a:t>
            </a:r>
            <a:r>
              <a:rPr b="1"/>
              <a:t> expand the set</a:t>
            </a:r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7531"/>
            <a:ext cx="9104923" cy="101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5115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Let the data pick your next task. The loudest bug is rarely the most common 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Evaluation turns "it worked once" into "here's how often, and how it fails"</a:t>
            </a:r>
          </a:p>
          <a:p>
            <a:r>
              <a:t> Score five dimensions on a</a:t>
            </a:r>
            <a:r>
              <a:rPr b="1"/>
              <a:t> frozen set</a:t>
            </a:r>
            <a:r>
              <a:t> of happy / missing / ambiguous / unsafe cases</a:t>
            </a:r>
          </a:p>
          <a:p>
            <a:r>
              <a:t> Grade the</a:t>
            </a:r>
            <a:r>
              <a:rPr b="1"/>
              <a:t> process</a:t>
            </a:r>
            <a:r>
              <a:t> from the audit log, not just the final answer</a:t>
            </a:r>
          </a:p>
          <a:p>
            <a:r>
              <a:t> Mix</a:t>
            </a:r>
            <a:r>
              <a:rPr b="1"/>
              <a:t> deterministic checks</a:t>
            </a:r>
            <a:r>
              <a:t> with an</a:t>
            </a:r>
            <a:r>
              <a:rPr b="1"/>
              <a:t> LLM judge</a:t>
            </a:r>
            <a:r>
              <a:t> — and audit the judge</a:t>
            </a:r>
          </a:p>
          <a:p>
            <a:r>
              <a:t> Optimize</a:t>
            </a:r>
            <a:r>
              <a:rPr b="1"/>
              <a:t> one change at a time</a:t>
            </a:r>
            <a:r>
              <a:t> ; report</a:t>
            </a:r>
            <a:r>
              <a:rPr b="1"/>
              <a:t> cost next to quality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Evaluation is what earns an agent the right to touch production. Next, you build the harness.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7 — Evaluate &amp; Benchmark Agentic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7.</a:t>
            </a:r>
          </a:p>
          <a:p>
            <a:r>
              <a:t> You will:</a:t>
            </a:r>
          </a:p>
          <a:p>
            <a:r>
              <a:t> Take a provided tool-using QA agent and read its audit log.</a:t>
            </a:r>
          </a:p>
          <a:p>
            <a:r>
              <a:t> Define a small</a:t>
            </a:r>
            <a:r>
              <a:rPr b="1"/>
              <a:t> frozen eval set</a:t>
            </a:r>
            <a:r>
              <a:t> (happy / missing-data / ambiguous / unsafe).</a:t>
            </a:r>
          </a:p>
          <a:p>
            <a:r>
              <a:t> Score runs with</a:t>
            </a:r>
            <a:r>
              <a:rPr b="1"/>
              <a:t> deterministic checks</a:t>
            </a:r>
            <a:r>
              <a:t> plus an</a:t>
            </a:r>
            <a:r>
              <a:rPr b="1"/>
              <a:t> LLM-as-judge</a:t>
            </a:r>
            <a:r>
              <a:t> .</a:t>
            </a:r>
          </a:p>
          <a:p>
            <a:r>
              <a:t> Run</a:t>
            </a:r>
            <a:r>
              <a:rPr b="1"/>
              <a:t> two variants</a:t>
            </a:r>
            <a:r>
              <a:t> (with vs. without reflection) over the same set.</a:t>
            </a:r>
          </a:p>
          <a:p>
            <a:r>
              <a:t> Produce a</a:t>
            </a:r>
            <a:r>
              <a:rPr b="1"/>
              <a:t> comparison table</a:t>
            </a:r>
            <a:r>
              <a:t> and write</a:t>
            </a:r>
            <a:r>
              <a:rPr>
                <a:latin typeface="Courier New"/>
              </a:rPr>
              <a:t> results.jsonl</a:t>
            </a:r>
            <a:r>
              <a:t> 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run_eval.py</a:t>
            </a:r>
            <a:r>
              <a:t> that scores both variants against</a:t>
            </a:r>
            <a:r>
              <a:rPr>
                <a:latin typeface="Courier New"/>
              </a:rPr>
              <a:t> eval_cases.jsonl</a:t>
            </a:r>
            <a:r>
              <a:t> , prints a comparison table, and writes</a:t>
            </a:r>
            <a:r>
              <a:rPr>
                <a:latin typeface="Courier New"/>
              </a:rPr>
              <a:t> results.jsonl</a:t>
            </a:r>
            <a:r>
              <a:t> 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378299</TotalTime>
  <Words>1966</Words>
  <Application>Microsoft Macintosh PowerPoint</Application>
  <PresentationFormat>Custom</PresentationFormat>
  <Paragraphs>204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Evaluation, Error Analysis &amp; Debugging</vt:lpstr>
      <vt:lpstr>Part III — What We'll Cover</vt:lpstr>
      <vt:lpstr>A Demo Is Not a Pilot</vt:lpstr>
      <vt:lpstr>Why Agents Are Hard to Evaluate</vt:lpstr>
      <vt:lpstr>The Five Evaluation Metrics</vt:lpstr>
      <vt:lpstr>The Rubric (0–3 per Dimension)</vt:lpstr>
      <vt:lpstr>Task Success — Define "Done" First</vt:lpstr>
      <vt:lpstr>Deterministic Checks vs. Judged Checks</vt:lpstr>
      <vt:lpstr>The Frozen Eval Set</vt:lpstr>
      <vt:lpstr>A Case as Data (JSONL)</vt:lpstr>
      <vt:lpstr>Error Analysis — Grade the Process</vt:lpstr>
      <vt:lpstr>Common Failure Modes</vt:lpstr>
      <vt:lpstr>Reading the Audit Log</vt:lpstr>
      <vt:lpstr>Efficiency, Cost &amp; Latency</vt:lpstr>
      <vt:lpstr>LLM-as-Judge</vt:lpstr>
      <vt:lpstr>LLM-as-Judge — The Cautions</vt:lpstr>
      <vt:lpstr>Workflow Optimization — One Change at a Time</vt:lpstr>
      <vt:lpstr>Prioritizing the Next Fix</vt:lpstr>
      <vt:lpstr>Putting It Together</vt:lpstr>
      <vt:lpstr>Lab 7 — Evaluate &amp; Benchmark Agentic Workflows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2026-10-14T00:13:09Z</dcterms:modified>
</cp:coreProperties>
</file>