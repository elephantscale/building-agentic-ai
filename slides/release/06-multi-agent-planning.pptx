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Multi-Agent Systems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III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and</a:t>
            </a:r>
            <a:r>
              <a:rPr i="1"/>
              <a:t> when</a:t>
            </a:r>
            <a:r>
              <a:t> to use more than one agent — and when not to</a:t>
            </a:r>
          </a:p>
          <a:p>
            <a:r>
              <a:t> Roles and separation of concerns — the case for specialists</a:t>
            </a:r>
          </a:p>
          <a:p>
            <a:r>
              <a:t> Multi-agent conversation flows and sequential chatbots</a:t>
            </a:r>
          </a:p>
          <a:p>
            <a:r>
              <a:t> Orchestration patterns:</a:t>
            </a:r>
            <a:r>
              <a:rPr b="1"/>
              <a:t> supervisor/worker</a:t>
            </a:r>
            <a:r>
              <a:t> ,</a:t>
            </a:r>
            <a:r>
              <a:rPr b="1"/>
              <a:t> pipeline</a:t>
            </a:r>
            <a:r>
              <a:t> ,</a:t>
            </a:r>
            <a:r>
              <a:rPr b="1"/>
              <a:t> debate</a:t>
            </a:r>
          </a:p>
          <a:p>
            <a:r>
              <a:t> Handoffs and</a:t>
            </a:r>
            <a:r>
              <a:rPr b="1"/>
              <a:t> shared state</a:t>
            </a:r>
            <a:r>
              <a:t> — how agents pass work without losing it</a:t>
            </a:r>
          </a:p>
          <a:p>
            <a:r>
              <a:rPr b="1"/>
              <a:t> Agent interop across systems</a:t>
            </a:r>
            <a:r>
              <a:t> — MCP vs</a:t>
            </a:r>
            <a:r>
              <a:rPr b="1"/>
              <a:t> A2A</a:t>
            </a:r>
            <a:r>
              <a:t> (Agent2Agent)</a:t>
            </a:r>
          </a:p>
          <a:p>
            <a:r>
              <a:rPr b="1"/>
              <a:t> Planning-driven agents</a:t>
            </a:r>
            <a:r>
              <a:t> — plan-then-execute for onboarding and blog generation</a:t>
            </a:r>
          </a:p>
          <a:p>
            <a:r>
              <a:t> The real risks:</a:t>
            </a:r>
            <a:r>
              <a:rPr b="1"/>
              <a:t> compounding errors</a:t>
            </a:r>
            <a:r>
              <a:t> and</a:t>
            </a:r>
            <a:r>
              <a:rPr b="1"/>
              <a:t> cost</a:t>
            </a:r>
          </a:p>
          <a:p>
            <a:r>
              <a:t> Lab 8: a planning-driven onboarding assistant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159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One good agent beats five that talk past each other. Add agents only when a single loop can't 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Multiple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Separation of concerns</a:t>
            </a:r>
            <a:r>
              <a:t> — a researcher, a writer, and a critic each do one thing well</a:t>
            </a:r>
          </a:p>
          <a:p>
            <a:r>
              <a:rPr b="1"/>
              <a:t> Focused context</a:t>
            </a:r>
            <a:r>
              <a:t> — each agent carries only the tools and prompt it needs</a:t>
            </a:r>
          </a:p>
          <a:p>
            <a:r>
              <a:rPr b="1"/>
              <a:t> Least privilege</a:t>
            </a:r>
            <a:r>
              <a:t> — the agent that</a:t>
            </a:r>
            <a:r>
              <a:rPr i="1"/>
              <a:t> sends email</a:t>
            </a:r>
            <a:r>
              <a:t> need not hold the</a:t>
            </a:r>
            <a:r>
              <a:rPr i="1"/>
              <a:t> delete</a:t>
            </a:r>
            <a:r>
              <a:t> tool</a:t>
            </a:r>
          </a:p>
          <a:p>
            <a:r>
              <a:rPr b="1"/>
              <a:t> Parallelism</a:t>
            </a:r>
            <a:r>
              <a:t> — independent sub-tasks can run at once</a:t>
            </a:r>
          </a:p>
          <a:p>
            <a:r>
              <a:rPr b="1"/>
              <a:t> Testability</a:t>
            </a:r>
            <a:r>
              <a:t> — you can evaluate and swap one specialist in isolation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iamirinaax-64831523-81943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502" y="4387014"/>
            <a:ext cx="1845148" cy="24764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Multi-agent is modular design for agents. The win is smaller, sharper, safer parts.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Multiple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single agent with the right tools already succeeds</a:t>
            </a:r>
          </a:p>
          <a:p>
            <a:r>
              <a:t> The sub-tasks are</a:t>
            </a:r>
            <a:r>
              <a:rPr b="1"/>
              <a:t> tightly coupled</a:t>
            </a:r>
            <a:r>
              <a:t> — constant back-and-forth costs more than it saves</a:t>
            </a:r>
          </a:p>
          <a:p>
            <a:r>
              <a:t> You need</a:t>
            </a:r>
            <a:r>
              <a:rPr b="1"/>
              <a:t> tight latency or cost</a:t>
            </a:r>
            <a:r>
              <a:t> guarantees (each agent = more LLM calls)</a:t>
            </a:r>
          </a:p>
          <a:p>
            <a:r>
              <a:t> You can't yet</a:t>
            </a:r>
            <a:r>
              <a:rPr b="1"/>
              <a:t> evaluate one agent</a:t>
            </a:r>
            <a:r>
              <a:t> — you certainly can't debug five</a:t>
            </a:r>
          </a:p>
          <a:p>
            <a:r>
              <a:t> Climb the ladder: one prompt &lt; one agent &lt;</a:t>
            </a:r>
            <a:r>
              <a:rPr b="1"/>
              <a:t> many agents</a:t>
            </a:r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4779771"/>
            <a:ext cx="8902700" cy="6899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8762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Every agent you add multiplies cost, latency, and failure surface. Earn the second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Separation of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Give each agent a</a:t>
            </a:r>
            <a:r>
              <a:rPr b="1"/>
              <a:t> narrow charter</a:t>
            </a:r>
            <a:r>
              <a:t> : goal, tools, and what it must</a:t>
            </a:r>
            <a:r>
              <a:rPr i="1"/>
              <a:t> not</a:t>
            </a:r>
            <a:r>
              <a:t> do</a:t>
            </a:r>
          </a:p>
          <a:p>
            <a:r>
              <a:t> Classic role split for content and knowledge work:</a:t>
            </a:r>
          </a:p>
          <a:p>
            <a:pPr lvl="1"/>
            <a:r>
              <a:rPr b="1"/>
              <a:t> Planner</a:t>
            </a:r>
            <a:r>
              <a:t> — turns a goal into ordered sub-tasks</a:t>
            </a:r>
          </a:p>
          <a:p>
            <a:pPr lvl="1"/>
            <a:r>
              <a:rPr b="1"/>
              <a:t> Researcher</a:t>
            </a:r>
            <a:r>
              <a:t> — gathers grounded facts via tools</a:t>
            </a:r>
          </a:p>
          <a:p>
            <a:pPr lvl="1"/>
            <a:r>
              <a:rPr b="1"/>
              <a:t> Writer</a:t>
            </a:r>
            <a:r>
              <a:t> — drafts from the researcher's findings only</a:t>
            </a:r>
          </a:p>
          <a:p>
            <a:pPr lvl="1"/>
            <a:r>
              <a:rPr b="1"/>
              <a:t> Critic / reviewer</a:t>
            </a:r>
            <a:r>
              <a:t> — checks against the goal, sends back for revision</a:t>
            </a:r>
          </a:p>
          <a:p>
            <a:r>
              <a:t> Roles are just</a:t>
            </a:r>
            <a:r>
              <a:rPr b="1"/>
              <a:t> agents with different system prompts and tool sets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Name the role, then hand it the fewest tools that role needs. That is the whole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Conversation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collaborate by</a:t>
            </a:r>
            <a:r>
              <a:rPr b="1"/>
              <a:t> passing messages</a:t>
            </a:r>
            <a:r>
              <a:t> — one agent's output is another's input</a:t>
            </a:r>
          </a:p>
          <a:p>
            <a:r>
              <a:t> Keep the transcript</a:t>
            </a:r>
            <a:r>
              <a:rPr b="1"/>
              <a:t> structured</a:t>
            </a:r>
            <a:r>
              <a:t> so it's auditable and debuggable</a:t>
            </a:r>
          </a:p>
          <a:p>
            <a:r>
              <a:t> Decide up front: who speaks, in what order, and who ends the conversation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4529931"/>
            <a:ext cx="8675364" cy="11787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Every message an agent receives is untrusted data — even from another agent. Validate at each hop.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Chatbots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simplest multi-agent flow: a</a:t>
            </a:r>
            <a:r>
              <a:rPr b="1" dirty="0"/>
              <a:t> fixed chain</a:t>
            </a:r>
            <a:r>
              <a:rPr dirty="0"/>
              <a:t> of specialists</a:t>
            </a:r>
          </a:p>
          <a:p>
            <a:r>
              <a:rPr dirty="0"/>
              <a:t> Output of stage</a:t>
            </a:r>
            <a:r>
              <a:rPr i="1" dirty="0"/>
              <a:t> N</a:t>
            </a:r>
            <a:r>
              <a:rPr dirty="0"/>
              <a:t> becomes input of stage</a:t>
            </a:r>
            <a:r>
              <a:rPr i="1" dirty="0"/>
              <a:t> N+1</a:t>
            </a:r>
            <a:r>
              <a:rPr dirty="0"/>
              <a:t> — no dynamic routing</a:t>
            </a:r>
          </a:p>
          <a:p>
            <a:r>
              <a:rPr dirty="0"/>
              <a:t> Easy to reason about, easy to test, easy to log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Use it when the</a:t>
            </a:r>
            <a:r>
              <a:rPr b="1" dirty="0"/>
              <a:t> stages are stable</a:t>
            </a:r>
            <a:r>
              <a:rPr dirty="0"/>
              <a:t> and always run in the same order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9437"/>
            <a:ext cx="93980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sequential chain is a pipeline of chatbots. If the order never changes, don't add a supervisor.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1 — Supervisor / Worker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supervisor</a:t>
            </a:r>
            <a:r>
              <a:t> owns the goal, decides which worker acts next, and assembles the result</a:t>
            </a:r>
          </a:p>
          <a:p>
            <a:r>
              <a:rPr b="1"/>
              <a:t> Workers</a:t>
            </a:r>
            <a:r>
              <a:t> are specialists that do one sub-task and report back</a:t>
            </a:r>
          </a:p>
          <a:p>
            <a:r>
              <a:t> The supervisor holds</a:t>
            </a:r>
            <a:r>
              <a:rPr b="1"/>
              <a:t> shared state</a:t>
            </a:r>
            <a:r>
              <a:t> and enforces the step cap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44" y="2965053"/>
            <a:ext cx="4222750" cy="2367756"/>
          </a:xfrm>
          <a:prstGeom prst="rect">
            <a:avLst/>
          </a:prstGeom>
        </p:spPr>
      </p:pic>
      <p:pic>
        <p:nvPicPr>
          <p:cNvPr id="6" name="Picture 5" descr="pexels-mikael-blomkvist-89610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862" y="4331207"/>
            <a:ext cx="3551634" cy="23677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379" y="712889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supervisor is the loop; the workers are the tools. It's the ReAct pattern, one level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2 —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fixed sequence</a:t>
            </a:r>
            <a:r>
              <a:t> of stages; each transforms and passes forward</a:t>
            </a:r>
          </a:p>
          <a:p>
            <a:r>
              <a:t> No central router — the graph</a:t>
            </a:r>
            <a:r>
              <a:rPr i="1"/>
              <a:t> is</a:t>
            </a:r>
            <a:r>
              <a:t> the control flow</a:t>
            </a:r>
          </a:p>
          <a:p>
            <a:r>
              <a:t> Great when the steps are known and ordered; cheap to test stage-by-stage</a:t>
            </a:r>
          </a:p>
          <a:p>
            <a:endParaRPr/>
          </a:p>
          <a:p>
            <a:endParaRPr/>
          </a:p>
          <a:p>
            <a:endParaRPr/>
          </a:p>
          <a:p>
            <a:r>
              <a:t> Add a</a:t>
            </a:r>
            <a:r>
              <a:rPr b="1"/>
              <a:t> loop-back</a:t>
            </a:r>
            <a:r>
              <a:t> from REVIEW to DRAFT for one bounded revision pass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3539330"/>
            <a:ext cx="9276837" cy="21478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305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Pipeline = predictability. Supervisor = flexibility. Pick the least power that fits the task.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3 — Debate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Two+ agents argue opposing positions; a judge (or supervisor) decides</a:t>
            </a:r>
          </a:p>
          <a:p>
            <a:r>
              <a:rPr dirty="0"/>
              <a:t> Surfaces errors a single agent would confidently miss</a:t>
            </a:r>
          </a:p>
          <a:p>
            <a:r>
              <a:rPr dirty="0"/>
              <a:t> Useful for high-stakes reasoning, risky claims, or plan review</a:t>
            </a:r>
          </a:p>
          <a:p>
            <a:endParaRPr dirty="0"/>
          </a:p>
          <a:p>
            <a:endParaRPr dirty="0"/>
          </a:p>
          <a:p>
            <a:r>
              <a:rPr b="1" dirty="0"/>
              <a:t> </a:t>
            </a:r>
            <a:endParaRPr lang="en-US" b="1" dirty="0"/>
          </a:p>
          <a:p>
            <a:r>
              <a:rPr b="1" dirty="0"/>
              <a:t>Cost warning</a:t>
            </a:r>
            <a:r>
              <a:rPr dirty="0"/>
              <a:t> : debate multiplies LLM calls fast — bound the rounds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62" y="3070034"/>
            <a:ext cx="9113838" cy="918020"/>
          </a:xfrm>
          <a:prstGeom prst="rect">
            <a:avLst/>
          </a:prstGeom>
        </p:spPr>
      </p:pic>
      <p:pic>
        <p:nvPicPr>
          <p:cNvPr id="6" name="Picture 5" descr="pexels-karola-g-7876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613" y="4569647"/>
            <a:ext cx="3217037" cy="21446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9363" y="695592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Debate buys robustness with tokens. Cap the rounds and make the judge cite the winning 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Handoffs &amp; Shared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</a:t>
            </a:r>
            <a:r>
              <a:rPr b="1" dirty="0"/>
              <a:t> handoff</a:t>
            </a:r>
            <a:r>
              <a:rPr dirty="0"/>
              <a:t> transfers control</a:t>
            </a:r>
            <a:r>
              <a:rPr i="1" dirty="0"/>
              <a:t> and</a:t>
            </a:r>
            <a:r>
              <a:rPr dirty="0"/>
              <a:t> the context the next agent needs</a:t>
            </a:r>
          </a:p>
          <a:p>
            <a:r>
              <a:rPr dirty="0"/>
              <a:t> Keep one</a:t>
            </a:r>
            <a:r>
              <a:rPr b="1" dirty="0"/>
              <a:t> shared state</a:t>
            </a:r>
            <a:r>
              <a:rPr dirty="0"/>
              <a:t> object — the single source of truth for the run: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Pass</a:t>
            </a:r>
            <a:r>
              <a:rPr b="1" dirty="0"/>
              <a:t> references</a:t>
            </a:r>
            <a:r>
              <a:rPr dirty="0"/>
              <a:t> (a task id, a file path), not giant blobs, to bound context</a:t>
            </a:r>
          </a:p>
          <a:p>
            <a:r>
              <a:rPr dirty="0"/>
              <a:t> On every handoff: record it in the audit log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952775"/>
            <a:ext cx="9248775" cy="20216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Lose the shared state and each agent re-derives the world — badly. State is the memory of the team.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 Across System Boundaries — A2A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Everything so far: agents</a:t>
            </a:r>
            <a:r>
              <a:rPr b="1" dirty="0"/>
              <a:t> you built</a:t>
            </a:r>
            <a:r>
              <a:rPr dirty="0"/>
              <a:t> , in</a:t>
            </a:r>
            <a:r>
              <a:rPr b="1" dirty="0"/>
              <a:t> one process</a:t>
            </a:r>
            <a:r>
              <a:rPr dirty="0"/>
              <a:t> , sharing one state object</a:t>
            </a:r>
          </a:p>
          <a:p>
            <a:r>
              <a:rPr dirty="0"/>
              <a:t> Real orgs also run agents</a:t>
            </a:r>
            <a:r>
              <a:rPr b="1" dirty="0"/>
              <a:t> they didn't build</a:t>
            </a:r>
            <a:r>
              <a:rPr dirty="0"/>
              <a:t> — another team's, another vendor's, behind an API</a:t>
            </a:r>
          </a:p>
          <a:p>
            <a:r>
              <a:rPr dirty="0"/>
              <a:t> Two 2025 protocols, one per axis — and they</a:t>
            </a:r>
            <a:r>
              <a:rPr b="1" dirty="0"/>
              <a:t> compose</a:t>
            </a:r>
            <a:r>
              <a:rPr dirty="0"/>
              <a:t> :</a:t>
            </a:r>
          </a:p>
          <a:p>
            <a:pPr lvl="1"/>
            <a:r>
              <a:rPr b="1" dirty="0"/>
              <a:t> MCP</a:t>
            </a:r>
            <a:r>
              <a:rPr dirty="0"/>
              <a:t> (Module 3) — connects an agent to</a:t>
            </a:r>
            <a:r>
              <a:rPr b="1" dirty="0"/>
              <a:t> tools &amp; data</a:t>
            </a:r>
            <a:r>
              <a:rPr dirty="0"/>
              <a:t> (vertical)</a:t>
            </a:r>
          </a:p>
          <a:p>
            <a:pPr lvl="1"/>
            <a:r>
              <a:rPr b="1" dirty="0"/>
              <a:t> A2A</a:t>
            </a:r>
            <a:r>
              <a:rPr dirty="0"/>
              <a:t> (Agent2Agent) — connects an agent to</a:t>
            </a:r>
            <a:r>
              <a:rPr b="1" dirty="0"/>
              <a:t> other agents</a:t>
            </a:r>
            <a:r>
              <a:rPr dirty="0"/>
              <a:t> (horizontal)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Your agent uses</a:t>
            </a:r>
            <a:r>
              <a:rPr b="1" dirty="0"/>
              <a:t> MCP</a:t>
            </a:r>
            <a:r>
              <a:rPr dirty="0"/>
              <a:t> to reach its own tools and</a:t>
            </a:r>
            <a:r>
              <a:rPr b="1" dirty="0"/>
              <a:t> A2A</a:t>
            </a:r>
            <a:r>
              <a:rPr dirty="0"/>
              <a:t> to delegate to a peer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8" y="4285039"/>
            <a:ext cx="9214612" cy="14617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03016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MCP is how an agent reaches its tools. A2A is how an agent reaches another agent. A real system needs both.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A2A — The Task / Artifact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peer agent publishes an</a:t>
            </a:r>
            <a:r>
              <a:rPr b="1" dirty="0"/>
              <a:t> Agent Card</a:t>
            </a:r>
            <a:r>
              <a:rPr dirty="0"/>
              <a:t> — its skills, endpoint, and auth (the "menu")</a:t>
            </a:r>
          </a:p>
          <a:p>
            <a:r>
              <a:rPr dirty="0"/>
              <a:t> You delegate by opening a</a:t>
            </a:r>
            <a:r>
              <a:rPr b="1" dirty="0"/>
              <a:t> task</a:t>
            </a:r>
            <a:r>
              <a:rPr dirty="0"/>
              <a:t> ; the remote agent runs its</a:t>
            </a:r>
            <a:r>
              <a:rPr i="1" dirty="0"/>
              <a:t> own</a:t>
            </a:r>
            <a:r>
              <a:rPr dirty="0"/>
              <a:t> loop and reports back</a:t>
            </a:r>
          </a:p>
          <a:p>
            <a:r>
              <a:rPr dirty="0"/>
              <a:t> The task moves through a</a:t>
            </a:r>
            <a:r>
              <a:rPr b="1" dirty="0"/>
              <a:t> lifecycle</a:t>
            </a:r>
            <a:r>
              <a:rPr dirty="0"/>
              <a:t> you can poll or stream:</a:t>
            </a:r>
          </a:p>
          <a:p>
            <a:endParaRPr dirty="0"/>
          </a:p>
          <a:p>
            <a:endParaRPr lang="en-US" dirty="0"/>
          </a:p>
          <a:p>
            <a:endParaRPr dirty="0"/>
          </a:p>
          <a:p>
            <a:r>
              <a:rPr dirty="0"/>
              <a:t> The peer is</a:t>
            </a:r>
            <a:r>
              <a:rPr b="1" dirty="0"/>
              <a:t> opaque</a:t>
            </a:r>
            <a:r>
              <a:rPr dirty="0"/>
              <a:t> — you see its card and its outputs, never its prompt or tools</a:t>
            </a:r>
          </a:p>
          <a:p>
            <a:r>
              <a:rPr dirty="0"/>
              <a:t> So it's a</a:t>
            </a:r>
            <a:r>
              <a:rPr b="1" dirty="0"/>
              <a:t> trust boundary you don't control</a:t>
            </a:r>
            <a:r>
              <a:rPr dirty="0"/>
              <a:t> : its messages and artifacts are</a:t>
            </a:r>
            <a:r>
              <a:rPr b="1" dirty="0"/>
              <a:t> untrusted data</a:t>
            </a:r>
            <a:r>
              <a:rPr dirty="0"/>
              <a:t> — validate, ground, and gate before acting, exactly as with any tool output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3479661"/>
            <a:ext cx="8915400" cy="7034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A2A treats a remote agent like a contractor: you get its menu and its deliverables, not the keys to its shop.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Planning-Driven Agents (Plan-Then-Execute)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Two phases instead of one improvised loop:</a:t>
            </a:r>
          </a:p>
          <a:p>
            <a:pPr lvl="1"/>
            <a:r>
              <a:rPr b="1"/>
              <a:t> Plan</a:t>
            </a:r>
            <a:r>
              <a:t> — decompose the goal into ordered, checkable sub-tasks (once)</a:t>
            </a:r>
          </a:p>
          <a:p>
            <a:pPr lvl="1"/>
            <a:r>
              <a:rPr b="1"/>
              <a:t> Execute</a:t>
            </a:r>
            <a:r>
              <a:t> — carry out each sub-task with tools, tracking progress</a:t>
            </a:r>
          </a:p>
          <a:p>
            <a:r>
              <a:t> The</a:t>
            </a:r>
            <a:r>
              <a:rPr b="1"/>
              <a:t> plan is an artifact</a:t>
            </a:r>
            <a:r>
              <a:t> — inspectable, testable, and auditable</a:t>
            </a:r>
          </a:p>
          <a:p>
            <a:r>
              <a:t> Re-plan only on failure, not on every step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4583709"/>
            <a:ext cx="9113838" cy="8795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plan turns "hope the loop converges" into "run a checklist." That is what makes it testable.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Plan-Then-Execute vs.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Many real systems</a:t>
            </a:r>
            <a:r>
              <a:rPr b="1"/>
              <a:t> combine</a:t>
            </a:r>
            <a:r>
              <a:t> them: a plan of steps, each executed ReAct-style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 (Day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Plan-then-execute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Decides next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once, up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open-ended, exploratory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known, multi-part deliverables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trace of thoughts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 explicit plan +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Failure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improvises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re-plans the failed step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wander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bounded by the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pexels-ivan-s-89627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425696"/>
            <a:ext cx="7507224" cy="50048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4088" y="749807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Use ReAct to explore; use a plan to deliver. Onboarding and blog posts are deliverables.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Onboarding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Goal: onboard a new hire end-to-end, safely</a:t>
            </a:r>
          </a:p>
          <a:p>
            <a:r>
              <a:rPr dirty="0"/>
              <a:t> Planner emits sub-tasks; a supervisor runs each via a tool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Every artifact is a</a:t>
            </a:r>
            <a:r>
              <a:rPr b="1" dirty="0"/>
              <a:t> draft</a:t>
            </a:r>
            <a:r>
              <a:rPr dirty="0"/>
              <a:t> written to a file; nothing sends without approval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9127"/>
            <a:ext cx="9372600" cy="15911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9237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plan is the safety story: three named sub-tasks, three tools, one human gate. Lab 8 builds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Blog-Post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Same plan-then-execute shape, content-flavored: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Writer drafts only from the researcher's grounded findings</a:t>
            </a:r>
            <a:r>
              <a:rPr dirty="0"/>
              <a:t> — no free-floating facts</a:t>
            </a:r>
          </a:p>
          <a:p>
            <a:r>
              <a:rPr b="1" dirty="0"/>
              <a:t> Critic</a:t>
            </a:r>
            <a:r>
              <a:rPr dirty="0"/>
              <a:t> checks the draft against the outline and the sources, then gates publish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2208995"/>
            <a:ext cx="9166225" cy="4032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02654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Separation of concerns keeps the writer honest: it can only write what research supplied.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of Multi-Agent — Compounding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Errors</a:t>
            </a:r>
            <a:r>
              <a:rPr b="1" dirty="0"/>
              <a:t> multiply</a:t>
            </a:r>
            <a:r>
              <a:rPr dirty="0"/>
              <a:t> down a chain: 90% per stage over 4 stages ≈</a:t>
            </a:r>
            <a:r>
              <a:rPr b="1" dirty="0"/>
              <a:t> 66%</a:t>
            </a:r>
            <a:r>
              <a:rPr dirty="0"/>
              <a:t> end-to-end</a:t>
            </a:r>
          </a:p>
          <a:p>
            <a:r>
              <a:rPr dirty="0"/>
              <a:t> A wrong fact from the researcher becomes a confident lie in the writer</a:t>
            </a:r>
          </a:p>
          <a:p>
            <a:r>
              <a:rPr dirty="0"/>
              <a:t> An unverified handoff lets a bad output masquerade as an input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 Mitigate: a</a:t>
            </a:r>
            <a:r>
              <a:rPr b="1" dirty="0"/>
              <a:t> critic/gate</a:t>
            </a:r>
            <a:r>
              <a:rPr dirty="0"/>
              <a:t> between stages, grounding checks, bounded re-tries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" y="3554784"/>
            <a:ext cx="8915400" cy="3872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88902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More agents, more joints — and every joint is a place the chain can break. Add a check at each 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of Multi-Agent — Cost &amp;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Each agent and each turn is</a:t>
            </a:r>
            <a:r>
              <a:rPr b="1"/>
              <a:t> another LLM call</a:t>
            </a:r>
            <a:r>
              <a:t> — cost and latency stack</a:t>
            </a:r>
          </a:p>
          <a:p>
            <a:r>
              <a:t> A debate or a chatty supervisor can</a:t>
            </a:r>
            <a:r>
              <a:rPr b="1"/>
              <a:t> balloon</a:t>
            </a:r>
            <a:r>
              <a:t> token spend silently</a:t>
            </a:r>
          </a:p>
          <a:p>
            <a:r>
              <a:t> Harder to evaluate, debug, and reason about than a single loop</a:t>
            </a:r>
          </a:p>
          <a:p>
            <a:r>
              <a:t> Controls:</a:t>
            </a:r>
          </a:p>
          <a:p>
            <a:pPr lvl="1"/>
            <a:r>
              <a:t> a</a:t>
            </a:r>
            <a:r>
              <a:rPr b="1"/>
              <a:t> global step/turn/cost budget</a:t>
            </a:r>
            <a:r>
              <a:t> across the whole team, not per agent</a:t>
            </a:r>
          </a:p>
          <a:p>
            <a:pPr lvl="1"/>
            <a:r>
              <a:rPr b="1"/>
              <a:t> bound</a:t>
            </a:r>
            <a:r>
              <a:t> debate rounds and revision passes</a:t>
            </a:r>
          </a:p>
          <a:p>
            <a:pPr lvl="1"/>
            <a:r>
              <a:rPr b="1"/>
              <a:t> log every handoff and tool call</a:t>
            </a:r>
            <a:r>
              <a:t> — evaluate the team like one agent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Budget the team, not each member. The failure mode is five agents each politely staying "under budget."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Add agents for</a:t>
            </a:r>
            <a:r>
              <a:rPr b="1"/>
              <a:t> separation of concerns</a:t>
            </a:r>
            <a:r>
              <a:t> , focused context, and least privilege — not for show</a:t>
            </a:r>
          </a:p>
          <a:p>
            <a:r>
              <a:rPr b="1"/>
              <a:t> Supervisor/worker</a:t>
            </a:r>
            <a:r>
              <a:t> for flexibility,</a:t>
            </a:r>
            <a:r>
              <a:rPr b="1"/>
              <a:t> pipeline</a:t>
            </a:r>
            <a:r>
              <a:t> for predictability,</a:t>
            </a:r>
            <a:r>
              <a:rPr b="1"/>
              <a:t> debate</a:t>
            </a:r>
            <a:r>
              <a:t> for robustness</a:t>
            </a:r>
          </a:p>
          <a:p>
            <a:r>
              <a:rPr b="1"/>
              <a:t> Plan-then-execute</a:t>
            </a:r>
            <a:r>
              <a:t> turns open-ended loops into testable, checklist-style deliverables</a:t>
            </a:r>
          </a:p>
          <a:p>
            <a:r>
              <a:t> Keep one</a:t>
            </a:r>
            <a:r>
              <a:rPr b="1"/>
              <a:t> shared state</a:t>
            </a:r>
            <a:r>
              <a:t> ; treat every handoff as untrusted and log it</a:t>
            </a:r>
          </a:p>
          <a:p>
            <a:r>
              <a:rPr b="1"/>
              <a:t> Across systems</a:t>
            </a:r>
            <a:r>
              <a:t> , reach your tools with</a:t>
            </a:r>
            <a:r>
              <a:rPr b="1"/>
              <a:t> MCP</a:t>
            </a:r>
            <a:r>
              <a:t> and peer agents with</a:t>
            </a:r>
            <a:r>
              <a:rPr b="1"/>
              <a:t> A2A</a:t>
            </a:r>
            <a:r>
              <a:t> — a peer is a trust boundary you don't control</a:t>
            </a:r>
          </a:p>
          <a:p>
            <a:r>
              <a:t> Watch</a:t>
            </a:r>
            <a:r>
              <a:rPr b="1"/>
              <a:t> compounding errors</a:t>
            </a:r>
            <a:r>
              <a:t> and</a:t>
            </a:r>
            <a:r>
              <a:rPr b="1"/>
              <a:t> cost</a:t>
            </a:r>
            <a:r>
              <a:t> — gate the joints, budget the whole team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97973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multi-agent system is a small org. Give it clear roles, a coordinator, a budget, and an audit trail.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8 — Planning-Driven Onboarding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8.</a:t>
            </a:r>
          </a:p>
          <a:p>
            <a:r>
              <a:t> You will:</a:t>
            </a:r>
          </a:p>
          <a:p>
            <a:r>
              <a:t> Fill the</a:t>
            </a:r>
            <a:r>
              <a:rPr b="1"/>
              <a:t> Agent Design Canvas</a:t>
            </a:r>
            <a:r>
              <a:t> before writing code.</a:t>
            </a:r>
          </a:p>
          <a:p>
            <a:r>
              <a:t> Run a</a:t>
            </a:r>
            <a:r>
              <a:rPr b="1"/>
              <a:t> planner</a:t>
            </a:r>
            <a:r>
              <a:t> that decomposes onboarding into ordered sub-tasks.</a:t>
            </a:r>
          </a:p>
          <a:p>
            <a:r>
              <a:t> Execute each sub-task via tools: a</a:t>
            </a:r>
            <a:r>
              <a:rPr b="1"/>
              <a:t> calendar stub</a:t>
            </a:r>
            <a:r>
              <a:t> , an</a:t>
            </a:r>
            <a:r>
              <a:rPr b="1"/>
              <a:t> email-draft</a:t>
            </a:r>
            <a:r>
              <a:t> tool, an</a:t>
            </a:r>
            <a:r>
              <a:rPr b="1"/>
              <a:t> HR-policy lookup</a:t>
            </a:r>
            <a:r>
              <a:t> .</a:t>
            </a:r>
          </a:p>
          <a:p>
            <a:r>
              <a:t> Have a</a:t>
            </a:r>
            <a:r>
              <a:rPr b="1"/>
              <a:t> supervisor</a:t>
            </a:r>
            <a:r>
              <a:t> assemble the results into an onboarding packet.</a:t>
            </a:r>
          </a:p>
          <a:p>
            <a:r>
              <a:t> Enforce a</a:t>
            </a:r>
            <a:r>
              <a:rPr b="1"/>
              <a:t> human gate</a:t>
            </a:r>
            <a:r>
              <a:t> before anything "sends", and write a</a:t>
            </a:r>
            <a:r>
              <a:rPr b="1"/>
              <a:t> JSONL audit log</a:t>
            </a:r>
            <a:r>
              <a:t> 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onboarding_agent.py</a:t>
            </a:r>
            <a:r>
              <a:t> that plans, executes sub-tasks, writes an onboarding packet to files, gates the "send", and emits</a:t>
            </a:r>
            <a:r>
              <a:rPr>
                <a:latin typeface="Courier New"/>
              </a:rPr>
              <a:t> audit-log.jsonl</a:t>
            </a:r>
            <a:r>
              <a:t> 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378300</TotalTime>
  <Words>2050</Words>
  <Application>Microsoft Macintosh PowerPoint</Application>
  <PresentationFormat>Custom</PresentationFormat>
  <Paragraphs>237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Multi-Agent Systems &amp; Planning</vt:lpstr>
      <vt:lpstr>Part III — What We'll Cover</vt:lpstr>
      <vt:lpstr>Why Multiple Agents?</vt:lpstr>
      <vt:lpstr>When NOT to Use Multiple Agents</vt:lpstr>
      <vt:lpstr>Roles &amp; Separation of Concerns</vt:lpstr>
      <vt:lpstr>Multi-Agent Conversation Flows</vt:lpstr>
      <vt:lpstr>Sequential Chatbots</vt:lpstr>
      <vt:lpstr>Pattern 1 — Supervisor / Worker</vt:lpstr>
      <vt:lpstr>Pattern 2 — Pipeline</vt:lpstr>
      <vt:lpstr>Pattern 3 — Debate</vt:lpstr>
      <vt:lpstr>Handoffs &amp; Shared State</vt:lpstr>
      <vt:lpstr>Agents Across System Boundaries — A2A</vt:lpstr>
      <vt:lpstr>A2A — The Task / Artifact Model</vt:lpstr>
      <vt:lpstr>Planning-Driven Agents (Plan-Then-Execute)</vt:lpstr>
      <vt:lpstr>Plan-Then-Execute vs. ReAct</vt:lpstr>
      <vt:lpstr>Example — Onboarding Assistant</vt:lpstr>
      <vt:lpstr>Example — Blog-Post Generation</vt:lpstr>
      <vt:lpstr>Risks of Multi-Agent — Compounding Errors</vt:lpstr>
      <vt:lpstr>Risks of Multi-Agent — Cost &amp; Complexity</vt:lpstr>
      <vt:lpstr>Putting It Together</vt:lpstr>
      <vt:lpstr>Lab 8 — Planning-Driven Onboarding Assistant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2026-10-14T02:56:37Z</dcterms:modified>
</cp:coreProperties>
</file>