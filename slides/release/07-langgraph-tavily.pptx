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LangGraph &amp; Tavily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We hand-built the loop in Lab 1</a:t>
            </a:r>
          </a:p>
          <a:p>
            <a:r>
              <a:t> By hand, cycles + memory + resume get messy</a:t>
            </a:r>
          </a:p>
          <a:p>
            <a:r>
              <a:t> LangGraph makes the loop a</a:t>
            </a:r>
            <a:r>
              <a:rPr b="1"/>
              <a:t> graph</a:t>
            </a:r>
          </a:p>
          <a:p>
            <a:r>
              <a:t> Tavily gives the agent</a:t>
            </a:r>
            <a:r>
              <a:rPr b="1"/>
              <a:t> real search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9800" y="644392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We built the loop by hand so the framework is a convenience, not a mystery.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Hand Loop vs. A Graph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Hand loop:</a:t>
            </a:r>
            <a:r>
              <a:rPr>
                <a:latin typeface="Courier New"/>
              </a:rPr>
              <a:t> while</a:t>
            </a:r>
            <a:r>
              <a:t> +</a:t>
            </a:r>
            <a:r>
              <a:rPr>
                <a:latin typeface="Courier New"/>
              </a:rPr>
              <a:t> if</a:t>
            </a:r>
            <a:r>
              <a:t> + parsing + your own memory</a:t>
            </a:r>
          </a:p>
          <a:p>
            <a:r>
              <a:t> Fine for one agent, one path</a:t>
            </a:r>
          </a:p>
          <a:p>
            <a:r>
              <a:t> Cracks appear when you need:</a:t>
            </a:r>
          </a:p>
          <a:p>
            <a:pPr lvl="1"/>
            <a:r>
              <a:t> branching that varies per run</a:t>
            </a:r>
          </a:p>
          <a:p>
            <a:pPr lvl="1"/>
            <a:r>
              <a:t> pause / resume across sessions</a:t>
            </a:r>
          </a:p>
          <a:p>
            <a:pPr lvl="1"/>
            <a:r>
              <a:t> streaming partial progress</a:t>
            </a:r>
          </a:p>
          <a:p>
            <a:pPr lvl="1"/>
            <a:r>
              <a:t> inspecting and replaying a run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0901"/>
            <a:ext cx="9372600" cy="675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66161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framework earns its keep when the control flow gets interesting.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LangGraph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library for</a:t>
            </a:r>
            <a:r>
              <a:rPr b="1"/>
              <a:t> stateful, cyclic</a:t>
            </a:r>
            <a:r>
              <a:t> agent workflows</a:t>
            </a:r>
          </a:p>
          <a:p>
            <a:r>
              <a:t> You declare a graph; the runtime drives it</a:t>
            </a:r>
          </a:p>
          <a:p>
            <a:r>
              <a:t> Four ideas carry everything:</a:t>
            </a:r>
          </a:p>
          <a:p>
            <a:pPr lvl="1"/>
            <a:r>
              <a:rPr b="1"/>
              <a:t> State</a:t>
            </a:r>
            <a:r>
              <a:t> — the shared, typed data</a:t>
            </a:r>
          </a:p>
          <a:p>
            <a:pPr lvl="1"/>
            <a:r>
              <a:rPr b="1"/>
              <a:t> Nodes</a:t>
            </a:r>
            <a:r>
              <a:t> — functions that read and update State</a:t>
            </a:r>
          </a:p>
          <a:p>
            <a:pPr lvl="1"/>
            <a:r>
              <a:rPr b="1"/>
              <a:t> Edges</a:t>
            </a:r>
            <a:r>
              <a:t> — wiring between nodes</a:t>
            </a:r>
          </a:p>
          <a:p>
            <a:pPr lvl="1"/>
            <a:r>
              <a:rPr b="1"/>
              <a:t> Conditional edges</a:t>
            </a:r>
            <a:r>
              <a:t> — routing decided at runtime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57090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Nodes do the work. Edges decide what happens next. State is the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State Graph, Drawn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7721600" cy="5854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4376" y="73014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cycle write -&gt; critique -&gt; write is exactly what a hand loop hides in an 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State: Typed, Shared, Reduced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State is a</a:t>
            </a:r>
            <a:r>
              <a:rPr>
                <a:latin typeface="Courier New"/>
              </a:rPr>
              <a:t> TypedDict</a:t>
            </a:r>
            <a:r>
              <a:t> (or Pydantic / dataclass)</a:t>
            </a:r>
          </a:p>
          <a:p>
            <a:r>
              <a:t> Every node gets State, returns a partial update</a:t>
            </a:r>
          </a:p>
          <a:p>
            <a:r>
              <a:rPr b="1"/>
              <a:t> Reducers</a:t>
            </a:r>
            <a:r>
              <a:t> say how updates merge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320990"/>
            <a:ext cx="9258300" cy="18919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697497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Without a reducer a field is replaced. With </a:t>
            </a:r>
            <a:r>
              <a:rPr sz="1800" i="1" dirty="0" err="1">
                <a:solidFill>
                  <a:srgbClr val="333333"/>
                </a:solidFill>
              </a:rPr>
              <a:t>operator.add</a:t>
            </a:r>
            <a:r>
              <a:rPr sz="1800" i="1" dirty="0">
                <a:solidFill>
                  <a:srgbClr val="333333"/>
                </a:solidFill>
              </a:rPr>
              <a:t>, lists accumulate.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Nodes Are Just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Input: the current State</a:t>
            </a:r>
          </a:p>
          <a:p>
            <a:r>
              <a:t> Output: a</a:t>
            </a:r>
            <a:r>
              <a:rPr b="1"/>
              <a:t> partial</a:t>
            </a:r>
            <a:r>
              <a:t> State update (a dict)</a:t>
            </a:r>
          </a:p>
          <a:p>
            <a:r>
              <a:t> No hidden globals — the graph passes State in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2778155"/>
            <a:ext cx="9353550" cy="1180545"/>
          </a:xfrm>
          <a:prstGeom prst="rect">
            <a:avLst/>
          </a:prstGeom>
        </p:spPr>
      </p:pic>
      <p:pic>
        <p:nvPicPr>
          <p:cNvPr id="6" name="Picture 5" descr="pexels-brett-sayles-49851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4200282"/>
            <a:ext cx="3488436" cy="23212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node returns only what it changed. The runtime merges it into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Register nodes, then wire edges</a:t>
            </a:r>
          </a:p>
          <a:p>
            <a:r>
              <a:rPr>
                <a:latin typeface="Courier New"/>
              </a:rPr>
              <a:t> START</a:t>
            </a:r>
            <a:r>
              <a:t> and</a:t>
            </a:r>
            <a:r>
              <a:rPr>
                <a:latin typeface="Courier New"/>
              </a:rPr>
              <a:t> END</a:t>
            </a:r>
            <a:r>
              <a:t> are the entry / exit sentinels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341182"/>
            <a:ext cx="8331200" cy="3187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9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Static edges are the parts of the flow that never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Edges =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router function reads State, returns the</a:t>
            </a:r>
            <a:r>
              <a:rPr b="1"/>
              <a:t> next node name</a:t>
            </a:r>
          </a:p>
          <a:p>
            <a:r>
              <a:t> This is your</a:t>
            </a:r>
            <a:r>
              <a:rPr>
                <a:latin typeface="Courier New"/>
              </a:rPr>
              <a:t> if</a:t>
            </a:r>
            <a:r>
              <a:t> — but declared, inspectable, replayable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302906"/>
            <a:ext cx="8636000" cy="2921000"/>
          </a:xfrm>
          <a:prstGeom prst="rect">
            <a:avLst/>
          </a:prstGeom>
        </p:spPr>
      </p:pic>
      <p:pic>
        <p:nvPicPr>
          <p:cNvPr id="6" name="Picture 5" descr="pexels-brett-sayles-43307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001" y="5036263"/>
            <a:ext cx="2935224" cy="19568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4820" y="71871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router returns a label; the mapping turns the label into the next node.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 And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compile()</a:t>
            </a:r>
            <a:r>
              <a:t> turns the builder into a runnable</a:t>
            </a:r>
          </a:p>
          <a:p>
            <a:r>
              <a:rPr>
                <a:latin typeface="Courier New"/>
              </a:rPr>
              <a:t> invoke()</a:t>
            </a:r>
            <a:r>
              <a:t> runs to completion; input is the initial State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2643139"/>
            <a:ext cx="7112000" cy="26543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One object you can invoke, stream, checkpoint, and visualize.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Search With Tavily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are frozen at training time — they need eyes on the web</a:t>
            </a:r>
          </a:p>
          <a:p>
            <a:r>
              <a:rPr b="1"/>
              <a:t> Tavily</a:t>
            </a:r>
            <a:r>
              <a:t> is a search API built for agents:</a:t>
            </a:r>
          </a:p>
          <a:p>
            <a:pPr lvl="1"/>
            <a:r>
              <a:t> returns clean, ranked, LLM-ready snippets</a:t>
            </a:r>
          </a:p>
          <a:p>
            <a:pPr lvl="1"/>
            <a:r>
              <a:t> not ten blue links to scrape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1731"/>
            <a:ext cx="9416853" cy="16445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Retrieval is a tool. Treat what it returns as untrusted data, not instructions.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As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Search lives inside a node, feeding State</a:t>
            </a:r>
          </a:p>
          <a:p>
            <a:r>
              <a:t> Failures degrade gracefully — never crash the graph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3377"/>
            <a:ext cx="9372600" cy="17469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 external call needs a fallback. Lab 9 ships a local corpus for exactly this.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&amp; Checkpointing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checkpointer</a:t>
            </a:r>
            <a:r>
              <a:t> saves State after every node</a:t>
            </a:r>
          </a:p>
          <a:p>
            <a:r>
              <a:t> Resume, time-travel, and human-in-the-loop all build on it</a:t>
            </a:r>
          </a:p>
          <a:p>
            <a:r>
              <a:rPr>
                <a:latin typeface="Courier New"/>
              </a:rPr>
              <a:t> MemorySaver</a:t>
            </a:r>
            <a:r>
              <a:t> for dev; SQLite / Postgres for production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3998"/>
            <a:ext cx="9372600" cy="13435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thread_id is the conversation. Same id later = pick up where you left 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Don't wait for the whole run — watch it happen</a:t>
            </a:r>
          </a:p>
          <a:p>
            <a:r>
              <a:rPr>
                <a:latin typeface="Courier New"/>
              </a:rPr>
              <a:t> stream()</a:t>
            </a:r>
            <a:r>
              <a:t> yields after each node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2389964"/>
            <a:ext cx="8178800" cy="10541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" y="3827936"/>
            <a:ext cx="5740400" cy="1320800"/>
          </a:xfrm>
          <a:prstGeom prst="rect">
            <a:avLst/>
          </a:prstGeom>
        </p:spPr>
      </p:pic>
      <p:pic>
        <p:nvPicPr>
          <p:cNvPr id="7" name="Picture 6" descr="pexels-cengizhan-ozturk-2162859554-3852787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949" y="3517303"/>
            <a:ext cx="2501075" cy="33347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263" y="708481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Streaming is how a demo feels alive — and how you debug a stuck 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Compile with an</a:t>
            </a:r>
            <a:r>
              <a:rPr b="1"/>
              <a:t> interrupt</a:t>
            </a:r>
            <a:r>
              <a:t> before a sensitive node</a:t>
            </a:r>
          </a:p>
          <a:p>
            <a:r>
              <a:t> The graph pauses; a human inspects State; you resume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5749"/>
            <a:ext cx="9372600" cy="19405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95115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Interrupt + checkpoint = the approval gate from our safety checklist, built 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Whole Pattern, In One Breath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State</a:t>
            </a:r>
            <a:r>
              <a:t> carries the work</a:t>
            </a:r>
          </a:p>
          <a:p>
            <a:r>
              <a:rPr b="1"/>
              <a:t> Nodes</a:t>
            </a:r>
            <a:r>
              <a:t> transform it</a:t>
            </a:r>
          </a:p>
          <a:p>
            <a:r>
              <a:rPr b="1"/>
              <a:t> Edges</a:t>
            </a:r>
            <a:r>
              <a:t> move between nodes</a:t>
            </a:r>
          </a:p>
          <a:p>
            <a:r>
              <a:rPr b="1"/>
              <a:t> Conditional edges</a:t>
            </a:r>
            <a:r>
              <a:t> decide the path</a:t>
            </a:r>
          </a:p>
          <a:p>
            <a:r>
              <a:rPr b="1"/>
              <a:t> Checkpointer</a:t>
            </a:r>
            <a:r>
              <a:t> remembers</a:t>
            </a:r>
          </a:p>
          <a:p>
            <a:r>
              <a:rPr b="1"/>
              <a:t> Interrupt</a:t>
            </a:r>
            <a:r>
              <a:t> asks a human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90829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Learn these six and every LangGraph agent reads the same 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Reach For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Reach for it when you need:</a:t>
            </a:r>
          </a:p>
          <a:p>
            <a:pPr lvl="1"/>
            <a:r>
              <a:t> genuine cycles (reflect / revise loops)</a:t>
            </a:r>
          </a:p>
          <a:p>
            <a:pPr lvl="1"/>
            <a:r>
              <a:t> durable state across sessions</a:t>
            </a:r>
          </a:p>
          <a:p>
            <a:pPr lvl="1"/>
            <a:r>
              <a:t> human approval mid-run</a:t>
            </a:r>
          </a:p>
          <a:p>
            <a:pPr lvl="1"/>
            <a:r>
              <a:t> observability and replay</a:t>
            </a:r>
          </a:p>
          <a:p>
            <a:r>
              <a:t> Skip it when a single straight-line call will do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Don't graph a one-shot prompt. Do graph an agent that loops and pauses.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9 — Essay Writer Agent (LangGraph)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9.</a:t>
            </a:r>
          </a:p>
          <a:p>
            <a:r>
              <a:t> You will:</a:t>
            </a:r>
          </a:p>
          <a:p>
            <a:r>
              <a:t> Build a typed</a:t>
            </a:r>
            <a:r>
              <a:rPr>
                <a:latin typeface="Courier New"/>
              </a:rPr>
              <a:t> AgentState</a:t>
            </a:r>
            <a:r>
              <a:t> with a reducer.</a:t>
            </a:r>
          </a:p>
          <a:p>
            <a:r>
              <a:t> Wire nodes: plan -&gt; research (Tavily + local fallback) -&gt; write -&gt; critique.</a:t>
            </a:r>
          </a:p>
          <a:p>
            <a:r>
              <a:t> Add a conditional edge that loops write &lt;-&gt; critique up to N times.</a:t>
            </a:r>
          </a:p>
          <a:p>
            <a:r>
              <a:t> Compile with a</a:t>
            </a:r>
            <a:r>
              <a:rPr>
                <a:latin typeface="Courier New"/>
              </a:rPr>
              <a:t> MemorySaver</a:t>
            </a:r>
            <a:r>
              <a:t> checkpointer.</a:t>
            </a:r>
          </a:p>
          <a:p>
            <a:r>
              <a:t> Stream the run and read State after each node.</a:t>
            </a:r>
          </a:p>
          <a:p>
            <a:r>
              <a:rPr b="1"/>
              <a:t> Deliverable:</a:t>
            </a:r>
            <a:r>
              <a:t> a runnable LangGraph essay writer, a streamed transcript, and the final revised essay.</a:t>
            </a:r>
          </a:p>
          <a:p>
            <a:r>
              <a:rPr b="1"/>
              <a:t> Time:</a:t>
            </a:r>
            <a:r>
              <a:t> 75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378296</TotalTime>
  <Words>1046</Words>
  <Application>Microsoft Macintosh PowerPoint</Application>
  <PresentationFormat>Custom</PresentationFormat>
  <Paragraphs>160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LangGraph &amp; Tavily</vt:lpstr>
      <vt:lpstr>Why This Module</vt:lpstr>
      <vt:lpstr>The Hand Loop vs. A Graph Framework</vt:lpstr>
      <vt:lpstr>What LangGraph Is</vt:lpstr>
      <vt:lpstr>A State Graph, Drawn</vt:lpstr>
      <vt:lpstr>State: Typed, Shared, Reduced</vt:lpstr>
      <vt:lpstr>Nodes Are Just Functions</vt:lpstr>
      <vt:lpstr>Building The Graph</vt:lpstr>
      <vt:lpstr>Conditional Edges = Routing</vt:lpstr>
      <vt:lpstr>Compile And Run</vt:lpstr>
      <vt:lpstr>Agentic Search With Tavily</vt:lpstr>
      <vt:lpstr>Research As A Node</vt:lpstr>
      <vt:lpstr>Persistence &amp; Checkpointing</vt:lpstr>
      <vt:lpstr>Streaming</vt:lpstr>
      <vt:lpstr>Human-In-The-Loop</vt:lpstr>
      <vt:lpstr>The Whole Pattern, In One Breath</vt:lpstr>
      <vt:lpstr>When To Reach For LangGraph</vt:lpstr>
      <vt:lpstr>Lab 9 — Essay Writer Agent (LangGraph)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2026-10-14T04:14:44Z</dcterms:modified>
</cp:coreProperties>
</file>