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Agentic on AWS Bedrock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IV G–H — What We'll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Bedrock</a:t>
            </a:r>
            <a:r>
              <a:t> — one API in front of many foundation models</a:t>
            </a:r>
          </a:p>
          <a:p>
            <a:r>
              <a:t> The model menu:</a:t>
            </a:r>
            <a:r>
              <a:rPr b="1"/>
              <a:t> Nova</a:t>
            </a:r>
            <a:r>
              <a:t> ,</a:t>
            </a:r>
            <a:r>
              <a:rPr b="1"/>
              <a:t> Titan</a:t>
            </a:r>
            <a:r>
              <a:t> ,</a:t>
            </a:r>
            <a:r>
              <a:rPr b="1"/>
              <a:t> Claude on Bedrock</a:t>
            </a:r>
          </a:p>
          <a:p>
            <a:r>
              <a:t> Calling models with</a:t>
            </a:r>
            <a:r>
              <a:rPr b="1"/>
              <a:t> boto3</a:t>
            </a:r>
            <a:r>
              <a:t> — the</a:t>
            </a:r>
            <a:r>
              <a:rPr b="1"/>
              <a:t> Converse</a:t>
            </a:r>
            <a:r>
              <a:t> API + tool use</a:t>
            </a:r>
          </a:p>
          <a:p>
            <a:r>
              <a:rPr b="1"/>
              <a:t> Bedrock Agents</a:t>
            </a:r>
            <a:r>
              <a:t> — action groups, knowledge bases, orchestration</a:t>
            </a:r>
          </a:p>
          <a:p>
            <a:r>
              <a:t> Connecting a</a:t>
            </a:r>
            <a:r>
              <a:rPr b="1"/>
              <a:t> CRM / database</a:t>
            </a:r>
            <a:r>
              <a:t> to an agent</a:t>
            </a:r>
          </a:p>
          <a:p>
            <a:r>
              <a:rPr b="1"/>
              <a:t> Latency &amp; scale</a:t>
            </a:r>
            <a:r>
              <a:t> — streaming, model choice, prompt caching</a:t>
            </a:r>
          </a:p>
          <a:p>
            <a:r>
              <a:rPr b="1"/>
              <a:t> Guardrails</a:t>
            </a:r>
            <a:r>
              <a:t> , transactions, and enterprise compliance</a:t>
            </a:r>
          </a:p>
          <a:p>
            <a:r>
              <a:t> Lab 12: a CRM assistant on Bedrock (with a local fallback)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0275" y="662748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Same agent loop you already know — now behind an enterprise-grade, IAM-governed API.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Bedrock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Managed, serverless</a:t>
            </a:r>
            <a:r>
              <a:t> access to foundation models — no GPUs to run</a:t>
            </a:r>
          </a:p>
          <a:p>
            <a:r>
              <a:rPr b="1"/>
              <a:t> One SDK, many models</a:t>
            </a:r>
            <a:r>
              <a:t> — swap providers without rewriting your app</a:t>
            </a:r>
          </a:p>
          <a:p>
            <a:r>
              <a:t> Runs</a:t>
            </a:r>
            <a:r>
              <a:rPr b="1"/>
              <a:t> inside your AWS account</a:t>
            </a:r>
            <a:r>
              <a:t> — IAM, VPC, CloudTrail, KMS come for free</a:t>
            </a:r>
          </a:p>
          <a:p>
            <a:r>
              <a:t> Data is</a:t>
            </a:r>
            <a:r>
              <a:rPr b="1"/>
              <a:t> not used to train</a:t>
            </a:r>
            <a:r>
              <a:t> the base models</a:t>
            </a:r>
          </a:p>
          <a:p>
            <a:r>
              <a:t> Enterprises pick it for</a:t>
            </a:r>
            <a:r>
              <a:rPr b="1"/>
              <a:t> governance</a:t>
            </a:r>
            <a:r>
              <a:t> , not because the models are unique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Bedrock's product is not a model. It's models plus AWS's security and billing perimeter.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Model Menu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 Pick per task:</a:t>
            </a:r>
            <a:r>
              <a:rPr b="1" dirty="0"/>
              <a:t> Nova/Haiku</a:t>
            </a:r>
            <a:r>
              <a:rPr dirty="0"/>
              <a:t> for routing,</a:t>
            </a:r>
            <a:r>
              <a:rPr b="1" dirty="0"/>
              <a:t> Claude Sonnet</a:t>
            </a:r>
            <a:r>
              <a:rPr dirty="0"/>
              <a:t> for reasoning.</a:t>
            </a:r>
          </a:p>
          <a:p>
            <a:r>
              <a:rPr dirty="0"/>
              <a:t> Model IDs are region-specific — list them with</a:t>
            </a:r>
            <a:r>
              <a:rPr dirty="0">
                <a:latin typeface="Courier New"/>
              </a:rPr>
              <a:t> bedrock list-foundation-models</a:t>
            </a:r>
            <a:r>
              <a:rPr dirty="0"/>
              <a:t> .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840836"/>
              </p:ext>
            </p:extLst>
          </p:nvPr>
        </p:nvGraphicFramePr>
        <p:xfrm>
          <a:off x="237744" y="1253331"/>
          <a:ext cx="8915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8269">
                <a:tc>
                  <a:txBody>
                    <a:bodyPr/>
                    <a:lstStyle/>
                    <a:p>
                      <a:r>
                        <a:t>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Good for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/>
                        <a:t>Amazon Nova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Amazon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Fast, cheap text + multimodal; tool 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/>
                        <a:t>Amazon Titan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Amazon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Text, embeddings, image; low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/>
                        <a:t>Claude on Bedrock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Anthropic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Strongest reasoning + tool 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dirty="0"/>
                        <a:t>Llama, Mistral, Cohere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Others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Open-weight / specialty options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04088" y="7026178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Choose the cheapest model that passes your eval — not the biggest one you can afford.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Ways to Build on Bedrock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A) Bedrock Runtime + your own loop</a:t>
            </a:r>
            <a:r>
              <a:t> </a:t>
            </a:r>
            <a:r>
              <a:rPr i="1"/>
              <a:t> (what Lab 12 does)</a:t>
            </a:r>
          </a:p>
          <a:p>
            <a:pPr lvl="1"/>
            <a:r>
              <a:t> You call</a:t>
            </a:r>
            <a:r>
              <a:rPr>
                <a:latin typeface="Courier New"/>
              </a:rPr>
              <a:t> converse</a:t>
            </a:r>
            <a:r>
              <a:t> /</a:t>
            </a:r>
            <a:r>
              <a:rPr>
                <a:latin typeface="Courier New"/>
              </a:rPr>
              <a:t> converse_stream</a:t>
            </a:r>
            <a:r>
              <a:t> , you own the tool loop</a:t>
            </a:r>
          </a:p>
          <a:p>
            <a:pPr lvl="1"/>
            <a:r>
              <a:t> Maximum control; the same ReAct pattern from Day 1</a:t>
            </a:r>
          </a:p>
          <a:p>
            <a:r>
              <a:rPr b="1"/>
              <a:t> B) Bedrock Agents (managed orchestration)</a:t>
            </a:r>
          </a:p>
          <a:p>
            <a:pPr lvl="1"/>
            <a:r>
              <a:t> AWS runs the loop; you declare action groups + knowledge bases</a:t>
            </a:r>
          </a:p>
          <a:p>
            <a:pPr lvl="1"/>
            <a:r>
              <a:t> Less code, less control; good for standard enterprise wiring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20047"/>
            <a:ext cx="8915400" cy="537699"/>
          </a:xfrm>
          <a:prstGeom prst="rect">
            <a:avLst/>
          </a:prstGeom>
        </p:spPr>
      </p:pic>
      <p:pic>
        <p:nvPicPr>
          <p:cNvPr id="6" name="Picture 5" descr="pexels-zafer-erdogan-49915050-84646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757" y="4984093"/>
            <a:ext cx="1669843" cy="25047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42900" y="7066393"/>
            <a:ext cx="7359857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Learn the loop by hand (A). Reach for managed Agents (B) when the wiring is standard.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Converse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One uniform request/response shape across every model</a:t>
            </a:r>
            <a:r>
              <a:t> — no per-model JSON</a:t>
            </a:r>
          </a:p>
          <a:p>
            <a:r>
              <a:t> Handles multi-turn</a:t>
            </a:r>
            <a:r>
              <a:rPr>
                <a:latin typeface="Courier New"/>
              </a:rPr>
              <a:t> messages</a:t>
            </a:r>
            <a:r>
              <a:t> ,</a:t>
            </a:r>
            <a:r>
              <a:rPr>
                <a:latin typeface="Courier New"/>
              </a:rPr>
              <a:t> system</a:t>
            </a:r>
            <a:r>
              <a:t> ,</a:t>
            </a:r>
            <a:r>
              <a:rPr>
                <a:latin typeface="Courier New"/>
              </a:rPr>
              <a:t> inferenceConfig</a:t>
            </a:r>
            <a:r>
              <a:t> , and</a:t>
            </a:r>
          </a:p>
          <a:p>
            <a:r>
              <a:rPr b="1" i="1"/>
              <a:t> toolConfig</a:t>
            </a:r>
          </a:p>
          <a:p>
            <a:r>
              <a:rPr>
                <a:latin typeface="Courier New"/>
              </a:rPr>
              <a:t> converse</a:t>
            </a:r>
            <a:r>
              <a:t> for a single response;</a:t>
            </a:r>
            <a:r>
              <a:rPr>
                <a:latin typeface="Courier New"/>
              </a:rPr>
              <a:t> converse_stream</a:t>
            </a:r>
            <a:r>
              <a:t> for token streaming</a:t>
            </a:r>
          </a:p>
          <a:p>
            <a:r>
              <a:t> Tool use is built in — the model returns a</a:t>
            </a:r>
            <a:r>
              <a:rPr>
                <a:latin typeface="Courier New"/>
              </a:rPr>
              <a:t> toolUse</a:t>
            </a:r>
            <a:r>
              <a:t> block, you reply with</a:t>
            </a:r>
            <a:r>
              <a:rPr>
                <a:latin typeface="Courier New"/>
              </a:rPr>
              <a:t> toolResult</a:t>
            </a:r>
          </a:p>
          <a:p>
            <a:endParaRPr>
              <a:latin typeface="Courier New"/>
            </a:endParaRPr>
          </a:p>
          <a:p>
            <a:endParaRPr>
              <a:latin typeface="Courier New"/>
            </a:endParaRPr>
          </a:p>
          <a:p>
            <a:endParaRPr>
              <a:latin typeface="Courier New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18678"/>
            <a:ext cx="9372600" cy="110265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4950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Converse is the portable door. Write the loop once; switch Nova &lt;-&gt; Claude by changing one 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Calling a Model with boto3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Auth is</a:t>
            </a:r>
            <a:r>
              <a:rPr b="1" dirty="0"/>
              <a:t> IAM</a:t>
            </a:r>
            <a:r>
              <a:rPr dirty="0"/>
              <a:t> — no API key in the code; creds come from the environment / role.</a:t>
            </a:r>
          </a:p>
          <a:p>
            <a:r>
              <a:rPr dirty="0">
                <a:latin typeface="Courier New"/>
              </a:rPr>
              <a:t> usage</a:t>
            </a:r>
            <a:r>
              <a:rPr dirty="0"/>
              <a:t> gives token counts for cost logging;</a:t>
            </a:r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stopReason</a:t>
            </a:r>
            <a:r>
              <a:rPr dirty="0"/>
              <a:t> drives your loop.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1253331"/>
            <a:ext cx="8915400" cy="245508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7026178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If you can call one model this way, you can call all of them — that's the whole point.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Use with Converse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Declare tools in</a:t>
            </a:r>
            <a:r>
              <a:rPr>
                <a:latin typeface="Courier New"/>
              </a:rPr>
              <a:t> toolConfig</a:t>
            </a:r>
            <a:r>
              <a:t> — a JSON Schema per tool (like the Tool Spec Template)</a:t>
            </a:r>
          </a:p>
          <a:p>
            <a:r>
              <a:t> Model replies with</a:t>
            </a:r>
            <a:r>
              <a:rPr>
                <a:latin typeface="Courier New"/>
              </a:rPr>
              <a:t> stopReason="tool_use"</a:t>
            </a:r>
            <a:r>
              <a:t> and a</a:t>
            </a:r>
            <a:r>
              <a:rPr>
                <a:latin typeface="Courier New"/>
              </a:rPr>
              <a:t> toolUse</a:t>
            </a:r>
            <a:r>
              <a:t> block (name + input)</a:t>
            </a:r>
          </a:p>
          <a:p>
            <a:r>
              <a:t> You run the tool, then append a</a:t>
            </a:r>
            <a:r>
              <a:rPr>
                <a:latin typeface="Courier New"/>
              </a:rPr>
              <a:t> toolResult</a:t>
            </a:r>
            <a:r>
              <a:t> block and call</a:t>
            </a:r>
            <a:r>
              <a:rPr>
                <a:latin typeface="Courier New"/>
              </a:rPr>
              <a:t> converse</a:t>
            </a:r>
            <a:r>
              <a:t> again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3740233"/>
            <a:ext cx="9137650" cy="291059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703688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Same tool-spec discipline as Day 2 — name, description, typed schema, safety class.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Bedrock Tool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Cap the loop (</a:t>
            </a:r>
            <a:r>
              <a:rPr b="1" dirty="0"/>
              <a:t> max steps</a:t>
            </a:r>
            <a:r>
              <a:rPr dirty="0"/>
              <a:t> ) — a runaway loop is an AWS bill.</a:t>
            </a:r>
          </a:p>
          <a:p>
            <a:r>
              <a:rPr dirty="0">
                <a:latin typeface="Courier New"/>
              </a:rPr>
              <a:t> dangerous</a:t>
            </a:r>
            <a:r>
              <a:rPr dirty="0"/>
              <a:t> tools (update, delete) get a</a:t>
            </a:r>
            <a:r>
              <a:rPr b="1" dirty="0"/>
              <a:t> human gate</a:t>
            </a:r>
            <a:r>
              <a:rPr dirty="0"/>
              <a:t> before you run them.</a:t>
            </a:r>
          </a:p>
          <a:p>
            <a:r>
              <a:rPr dirty="0"/>
              <a:t> Log every</a:t>
            </a:r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toolUse</a:t>
            </a:r>
            <a:r>
              <a:rPr dirty="0"/>
              <a:t> /</a:t>
            </a:r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toolResult</a:t>
            </a:r>
            <a:r>
              <a:rPr dirty="0"/>
              <a:t> to your JSONL audit log.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13" y="1329531"/>
            <a:ext cx="9001374" cy="163394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provider changed; the safety rules did not. Cap, gate, log — every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Bedrock Agents — Managed Orchestration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You</a:t>
            </a:r>
            <a:r>
              <a:rPr b="1"/>
              <a:t> declare</a:t>
            </a:r>
            <a:r>
              <a:t> , AWS</a:t>
            </a:r>
            <a:r>
              <a:rPr b="1"/>
              <a:t> orchestrates</a:t>
            </a:r>
            <a:r>
              <a:t> the reason-act loop:</a:t>
            </a:r>
          </a:p>
          <a:p>
            <a:pPr lvl="1"/>
            <a:r>
              <a:rPr b="1"/>
              <a:t> Action groups</a:t>
            </a:r>
            <a:r>
              <a:t> — your tools, backed by a Lambda or an OpenAPI schema</a:t>
            </a:r>
          </a:p>
          <a:p>
            <a:pPr lvl="1"/>
            <a:r>
              <a:rPr b="1"/>
              <a:t> Knowledge bases</a:t>
            </a:r>
            <a:r>
              <a:t> — managed RAG over your docs (S3 -&gt; vector store)</a:t>
            </a:r>
          </a:p>
          <a:p>
            <a:pPr lvl="1"/>
            <a:r>
              <a:rPr b="1"/>
              <a:t> Orchestration</a:t>
            </a:r>
            <a:r>
              <a:t> — the agent plans, calls action groups, reads the KB, answers</a:t>
            </a:r>
          </a:p>
          <a:p>
            <a:r>
              <a:rPr b="1"/>
              <a:t> Guardrails</a:t>
            </a:r>
            <a:r>
              <a:t> and</a:t>
            </a:r>
            <a:r>
              <a:rPr b="1"/>
              <a:t> memory</a:t>
            </a:r>
            <a:r>
              <a:t> attach to the agent as configuration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4529931"/>
            <a:ext cx="8915400" cy="5572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4950" y="696446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Action group = a tool. Knowledge base = retrieval. The concepts are the same; AWS runs the loop.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Bases (Managed RAG)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Point a knowledge base at</a:t>
            </a:r>
            <a:r>
              <a:rPr b="1"/>
              <a:t> S3</a:t>
            </a:r>
            <a:r>
              <a:t> ; Bedrock chunks, embeds, and indexes</a:t>
            </a:r>
          </a:p>
          <a:p>
            <a:r>
              <a:t> Backed by a vector store (</a:t>
            </a:r>
            <a:r>
              <a:rPr b="1"/>
              <a:t> OpenSearch Serverless</a:t>
            </a:r>
            <a:r>
              <a:t> , Aurora pgvector, Pinecone)</a:t>
            </a:r>
          </a:p>
          <a:p>
            <a:r>
              <a:t> Query returns</a:t>
            </a:r>
            <a:r>
              <a:rPr b="1"/>
              <a:t> grounded passages with citations</a:t>
            </a:r>
            <a:r>
              <a:t> — the agent cites its sources</a:t>
            </a:r>
          </a:p>
          <a:p>
            <a:r>
              <a:t> Embeddings via</a:t>
            </a:r>
            <a:r>
              <a:rPr b="1"/>
              <a:t> Titan Embeddings</a:t>
            </a:r>
            <a:r>
              <a:t> or Cohere on Bedrock</a:t>
            </a:r>
          </a:p>
          <a:p>
            <a:r>
              <a:t> Use it when the answer must come from</a:t>
            </a:r>
            <a:r>
              <a:rPr b="1"/>
              <a:t> your</a:t>
            </a:r>
            <a:r>
              <a:t> documents, not the model's memory.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696544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Retrieved text is untrusted data, not instructions — even when AWS retrieved it for you.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Connecting a CRM /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An agent reaches your data through a</a:t>
            </a:r>
            <a:r>
              <a:rPr b="1" dirty="0"/>
              <a:t> tool</a:t>
            </a:r>
            <a:r>
              <a:rPr dirty="0"/>
              <a:t> (action group), never raw SQL from the model</a:t>
            </a:r>
          </a:p>
          <a:p>
            <a:r>
              <a:rPr dirty="0"/>
              <a:t> Pattern: model proposes</a:t>
            </a:r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account_id</a:t>
            </a:r>
            <a:r>
              <a:rPr dirty="0"/>
              <a:t> -&gt;</a:t>
            </a:r>
            <a:r>
              <a:rPr b="1" dirty="0"/>
              <a:t> your</a:t>
            </a:r>
            <a:r>
              <a:rPr dirty="0"/>
              <a:t> code runs the parameterized query</a:t>
            </a:r>
          </a:p>
          <a:p>
            <a:r>
              <a:rPr b="1" dirty="0"/>
              <a:t> Reads</a:t>
            </a:r>
            <a:r>
              <a:rPr dirty="0"/>
              <a:t> are</a:t>
            </a:r>
            <a:r>
              <a:rPr dirty="0">
                <a:latin typeface="Courier New"/>
              </a:rPr>
              <a:t> safe</a:t>
            </a:r>
            <a:r>
              <a:rPr dirty="0"/>
              <a:t> ;</a:t>
            </a:r>
            <a:r>
              <a:rPr b="1" dirty="0"/>
              <a:t> writes</a:t>
            </a:r>
            <a:r>
              <a:rPr dirty="0"/>
              <a:t> (update balance, delete record) are</a:t>
            </a:r>
            <a:r>
              <a:rPr dirty="0">
                <a:latin typeface="Courier New"/>
              </a:rPr>
              <a:t> dangerous</a:t>
            </a:r>
          </a:p>
          <a:p>
            <a:endParaRPr dirty="0">
              <a:latin typeface="Courier New"/>
            </a:endParaRPr>
          </a:p>
          <a:p>
            <a:endParaRPr dirty="0">
              <a:latin typeface="Courier New"/>
            </a:endParaRPr>
          </a:p>
          <a:p>
            <a:r>
              <a:rPr dirty="0"/>
              <a:t> Least privilege: the agent's DB role is</a:t>
            </a:r>
            <a:r>
              <a:rPr b="1" dirty="0"/>
              <a:t> read-only</a:t>
            </a:r>
            <a:r>
              <a:rPr dirty="0"/>
              <a:t> until a write is truly needed.</a:t>
            </a:r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482395"/>
            <a:ext cx="8915400" cy="783875"/>
          </a:xfrm>
          <a:prstGeom prst="rect">
            <a:avLst/>
          </a:prstGeom>
        </p:spPr>
      </p:pic>
      <p:pic>
        <p:nvPicPr>
          <p:cNvPr id="6" name="Picture 5" descr="pexels-pavel-danilyuk-765819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100" y="4806240"/>
            <a:ext cx="1580388" cy="23674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34950" y="7187184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Never let the model write SQL. It names the intent; your code owns the query and the schema.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Latency &amp; Scalability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Right-size the model</a:t>
            </a:r>
            <a:r>
              <a:t> — Nova/Haiku for routing &amp; extraction, Sonnet for reasoning</a:t>
            </a:r>
          </a:p>
          <a:p>
            <a:r>
              <a:rPr b="1"/>
              <a:t> Stream</a:t>
            </a:r>
            <a:r>
              <a:t> with</a:t>
            </a:r>
            <a:r>
              <a:rPr>
                <a:latin typeface="Courier New"/>
              </a:rPr>
              <a:t> converse_stream</a:t>
            </a:r>
            <a:r>
              <a:t> — first token fast, better perceived latency</a:t>
            </a:r>
          </a:p>
          <a:p>
            <a:r>
              <a:rPr b="1"/>
              <a:t> Prompt caching</a:t>
            </a:r>
            <a:r>
              <a:t> — cache the long, stable system prompt / tool specs; pay once</a:t>
            </a:r>
          </a:p>
          <a:p>
            <a:r>
              <a:rPr b="1"/>
              <a:t> Parallelize</a:t>
            </a:r>
            <a:r>
              <a:t> independent tool calls; don't serialize what can run at once</a:t>
            </a:r>
          </a:p>
          <a:p>
            <a:r>
              <a:rPr b="1"/>
              <a:t> Provisioned Throughput</a:t>
            </a:r>
            <a:r>
              <a:t> for steady high volume; on-demand for spiky loads</a:t>
            </a:r>
          </a:p>
          <a:p>
            <a:r>
              <a:rPr b="1"/>
              <a:t> Cache tool results</a:t>
            </a:r>
            <a:r>
              <a:t> that rarely change (pricing tables, product catalog)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Most latency and cost is model choice and prompt size — fix those before anything clever.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Bedrock 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</a:t>
            </a:r>
            <a:r>
              <a:rPr b="1"/>
              <a:t> policy layer</a:t>
            </a:r>
            <a:r>
              <a:t> applied to input and output, independent of the model:</a:t>
            </a:r>
          </a:p>
          <a:p>
            <a:pPr lvl="1"/>
            <a:r>
              <a:rPr b="1"/>
              <a:t> Denied topics</a:t>
            </a:r>
            <a:r>
              <a:t> — refuse whole subject areas</a:t>
            </a:r>
          </a:p>
          <a:p>
            <a:pPr lvl="1"/>
            <a:r>
              <a:rPr b="1"/>
              <a:t> Content filters</a:t>
            </a:r>
            <a:r>
              <a:t> — hate, violence, sexual, prompt-attack strengths</a:t>
            </a:r>
          </a:p>
          <a:p>
            <a:pPr lvl="1"/>
            <a:r>
              <a:rPr b="1"/>
              <a:t> Sensitive info (PII)</a:t>
            </a:r>
            <a:r>
              <a:t> — block or</a:t>
            </a:r>
            <a:r>
              <a:rPr b="1"/>
              <a:t> redact</a:t>
            </a:r>
            <a:r>
              <a:t> SSNs, cards, emails</a:t>
            </a:r>
          </a:p>
          <a:p>
            <a:pPr lvl="1"/>
            <a:r>
              <a:rPr b="1"/>
              <a:t> Word filters</a:t>
            </a:r>
            <a:r>
              <a:t> +</a:t>
            </a:r>
            <a:r>
              <a:rPr b="1"/>
              <a:t> contextual grounding</a:t>
            </a:r>
            <a:r>
              <a:t> (catch ungrounded / off-topic answers)</a:t>
            </a:r>
          </a:p>
          <a:p>
            <a:r>
              <a:t> Attach to a</a:t>
            </a:r>
            <a:r>
              <a:rPr>
                <a:latin typeface="Courier New"/>
              </a:rPr>
              <a:t> converse</a:t>
            </a:r>
            <a:r>
              <a:t> call via</a:t>
            </a:r>
            <a:r>
              <a:rPr>
                <a:latin typeface="Courier New"/>
              </a:rPr>
              <a:t> guardrailConfig</a:t>
            </a:r>
            <a:r>
              <a:t> , or to a managed Agent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" y="5291931"/>
            <a:ext cx="8915400" cy="3684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42900" y="696544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Guardrails are defense in depth — a backstop, not a replacement for your own gates and evals.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Transactions &amp; Compliance in the Enterprise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IAM least privilege</a:t>
            </a:r>
            <a:r>
              <a:t> — a per-agent role, scoped to exactly the actions it needs</a:t>
            </a:r>
          </a:p>
          <a:p>
            <a:r>
              <a:rPr b="1"/>
              <a:t> CloudTrail</a:t>
            </a:r>
            <a:r>
              <a:t> logs every Bedrock API call;</a:t>
            </a:r>
            <a:r>
              <a:rPr b="1"/>
              <a:t> CloudWatch</a:t>
            </a:r>
            <a:r>
              <a:t> for metrics + alarms</a:t>
            </a:r>
          </a:p>
          <a:p>
            <a:r>
              <a:rPr b="1"/>
              <a:t> KMS</a:t>
            </a:r>
            <a:r>
              <a:t> encryption at rest;</a:t>
            </a:r>
            <a:r>
              <a:rPr b="1"/>
              <a:t> VPC endpoints</a:t>
            </a:r>
            <a:r>
              <a:t> keep traffic off the public internet</a:t>
            </a:r>
          </a:p>
          <a:p>
            <a:r>
              <a:t> Model</a:t>
            </a:r>
            <a:r>
              <a:rPr b="1"/>
              <a:t> invocation logging</a:t>
            </a:r>
            <a:r>
              <a:t> to S3/CloudWatch — full request/response audit</a:t>
            </a:r>
          </a:p>
          <a:p>
            <a:r>
              <a:t> Certifications: HIPAA-eligible, SOC, ISO — check per model &amp; region</a:t>
            </a:r>
          </a:p>
          <a:p>
            <a:r>
              <a:rPr b="1"/>
              <a:t> Idempotency + human gate</a:t>
            </a:r>
            <a:r>
              <a:t> for money-moving or record-changing actions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In the enterprise, the model is the easy part. The audit trail is the deliverable.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Bedrock vs. Direct APIs — Choosing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 Lab 12 runs</a:t>
            </a:r>
            <a:r>
              <a:rPr b="1" dirty="0"/>
              <a:t> both</a:t>
            </a:r>
            <a:r>
              <a:rPr dirty="0"/>
              <a:t> — Bedrock as the primary path, direct API as the local fallback.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239768"/>
              </p:ext>
            </p:extLst>
          </p:nvPr>
        </p:nvGraphicFramePr>
        <p:xfrm>
          <a:off x="237744" y="1588610"/>
          <a:ext cx="8915400" cy="3140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199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Direct (OpenAI / Anthropic)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Bedrock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API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AWS account + IAM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provider's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your AWS perimeter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Model 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one vendor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many, one SDK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Newest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slight lag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dirty="0"/>
                        <a:t>Best when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fast start, one vendor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AWS shop, compliance, multi-model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953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Pick Bedrock for the perimeter and the model menu. Pick direct for speed and the latest model.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Putting It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Converse</a:t>
            </a:r>
            <a:r>
              <a:t> is one portable API over every Bedrock model — tool use included</a:t>
            </a:r>
          </a:p>
          <a:p>
            <a:r>
              <a:t> You can</a:t>
            </a:r>
            <a:r>
              <a:rPr b="1"/>
              <a:t> own the loop</a:t>
            </a:r>
            <a:r>
              <a:t> (Runtime) or</a:t>
            </a:r>
            <a:r>
              <a:rPr b="1"/>
              <a:t> let AWS run it</a:t>
            </a:r>
            <a:r>
              <a:t> (Bedrock Agents)</a:t>
            </a:r>
          </a:p>
          <a:p>
            <a:r>
              <a:t> Data reaches the agent through</a:t>
            </a:r>
            <a:r>
              <a:rPr b="1"/>
              <a:t> tools / action groups</a:t>
            </a:r>
            <a:r>
              <a:t> , never raw model SQL</a:t>
            </a:r>
          </a:p>
          <a:p>
            <a:r>
              <a:rPr b="1"/>
              <a:t> Guardrails + IAM + CloudTrail</a:t>
            </a:r>
            <a:r>
              <a:t> are why enterprises choose Bedrock</a:t>
            </a:r>
          </a:p>
          <a:p>
            <a:r>
              <a:t> Tune latency &amp; cost with</a:t>
            </a:r>
            <a:r>
              <a:rPr b="1"/>
              <a:t> model choice, streaming, and prompt caching</a:t>
            </a:r>
          </a:p>
          <a:p>
            <a:r>
              <a:t> Every Day-1 rule still holds:</a:t>
            </a:r>
            <a:r>
              <a:rPr b="1"/>
              <a:t> cap, gate, log, treat output as untrusted</a:t>
            </a:r>
          </a:p>
          <a:p>
            <a:endParaRPr b="1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You now have the enterprise door. Next, build a CRM assistant through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12 — CRM Assistant on AWS Bedrock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Stop here and run Lab 12.</a:t>
            </a:r>
          </a:p>
          <a:p>
            <a:r>
              <a:t> You will:</a:t>
            </a:r>
          </a:p>
          <a:p>
            <a:r>
              <a:t> Build a CRM assistant using the</a:t>
            </a:r>
            <a:r>
              <a:rPr b="1"/>
              <a:t> Converse</a:t>
            </a:r>
            <a:r>
              <a:t> API with</a:t>
            </a:r>
            <a:r>
              <a:rPr b="1"/>
              <a:t> tool use</a:t>
            </a:r>
            <a:r>
              <a:t> .</a:t>
            </a:r>
          </a:p>
          <a:p>
            <a:r>
              <a:t> Wire read tools (</a:t>
            </a:r>
            <a:r>
              <a:rPr>
                <a:latin typeface="Courier New"/>
              </a:rPr>
              <a:t> get_customer</a:t>
            </a:r>
            <a:r>
              <a:t> ,</a:t>
            </a:r>
            <a:r>
              <a:rPr>
                <a:latin typeface="Courier New"/>
              </a:rPr>
              <a:t> search_customers</a:t>
            </a:r>
            <a:r>
              <a:t> ) and a write tool (</a:t>
            </a:r>
            <a:r>
              <a:rPr>
                <a:latin typeface="Courier New"/>
              </a:rPr>
              <a:t> update_customer</a:t>
            </a:r>
            <a:r>
              <a:t> ).</a:t>
            </a:r>
          </a:p>
          <a:p>
            <a:r>
              <a:t> Gate the</a:t>
            </a:r>
            <a:r>
              <a:rPr b="1"/>
              <a:t> dangerous</a:t>
            </a:r>
            <a:r>
              <a:t> write behind an explicit</a:t>
            </a:r>
            <a:r>
              <a:rPr b="1"/>
              <a:t> human approval</a:t>
            </a:r>
            <a:r>
              <a:t> step.</a:t>
            </a:r>
          </a:p>
          <a:p>
            <a:r>
              <a:t> Run the loop with a</a:t>
            </a:r>
            <a:r>
              <a:rPr b="1"/>
              <a:t> max-steps cap</a:t>
            </a:r>
            <a:r>
              <a:t> and a JSONL audit log.</a:t>
            </a:r>
          </a:p>
          <a:p>
            <a:r>
              <a:t> Flip one env var to the</a:t>
            </a:r>
            <a:r>
              <a:rPr b="1"/>
              <a:t> local fallback</a:t>
            </a:r>
            <a:r>
              <a:t> — same agent against a direct LLM + SQLite CRM.</a:t>
            </a:r>
          </a:p>
          <a:p>
            <a:r>
              <a:rPr b="1"/>
              <a:t> Deliverable:</a:t>
            </a:r>
            <a:r>
              <a:t> a runnable</a:t>
            </a:r>
            <a:r>
              <a:rPr>
                <a:latin typeface="Courier New"/>
              </a:rPr>
              <a:t> bedrock_crm.py</a:t>
            </a:r>
            <a:r>
              <a:t> that answers a lookup and performs a gated update, plus the audit log from one run.</a:t>
            </a:r>
          </a:p>
          <a:p>
            <a:r>
              <a:rPr b="1"/>
              <a:t> Time:</a:t>
            </a:r>
            <a:r>
              <a:t> 60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378297</TotalTime>
  <Words>1778</Words>
  <Application>Microsoft Macintosh PowerPoint</Application>
  <PresentationFormat>Custom</PresentationFormat>
  <Paragraphs>206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Agentic on AWS Bedrock</vt:lpstr>
      <vt:lpstr>Part IV G–H — What We'll Cover</vt:lpstr>
      <vt:lpstr>Why Bedrock</vt:lpstr>
      <vt:lpstr>The Model Menu</vt:lpstr>
      <vt:lpstr>Two Ways to Build on Bedrock</vt:lpstr>
      <vt:lpstr>The Converse API</vt:lpstr>
      <vt:lpstr>Calling a Model with boto3</vt:lpstr>
      <vt:lpstr>Tool Use with Converse</vt:lpstr>
      <vt:lpstr>The Bedrock Tool Loop</vt:lpstr>
      <vt:lpstr>Bedrock Agents — Managed Orchestration</vt:lpstr>
      <vt:lpstr>Knowledge Bases (Managed RAG)</vt:lpstr>
      <vt:lpstr>Connecting a CRM / Database</vt:lpstr>
      <vt:lpstr>Latency &amp; Scalability Patterns</vt:lpstr>
      <vt:lpstr>Bedrock Guardrails</vt:lpstr>
      <vt:lpstr>Transactions &amp; Compliance in the Enterprise</vt:lpstr>
      <vt:lpstr>Bedrock vs. Direct APIs — Choosing</vt:lpstr>
      <vt:lpstr>Putting It Together</vt:lpstr>
      <vt:lpstr>Lab 12 — CRM Assistant on AWS Bedrock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Warren Crawford</cp:lastModifiedBy>
  <cp:revision>4136</cp:revision>
  <cp:lastPrinted>2010-01-03T02:41:41Z</cp:lastPrinted>
  <dcterms:created xsi:type="dcterms:W3CDTF">2010-07-13T15:22:01Z</dcterms:created>
  <dcterms:modified xsi:type="dcterms:W3CDTF">2026-10-15T21:41:14Z</dcterms:modified>
</cp:coreProperties>
</file>