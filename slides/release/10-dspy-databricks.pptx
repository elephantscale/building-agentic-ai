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DSPy &amp;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I–J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DSPy idea</a:t>
            </a:r>
            <a:r>
              <a:t> — program your LLM, don't hand-tune prompt strings</a:t>
            </a:r>
          </a:p>
          <a:p>
            <a:r>
              <a:rPr b="1"/>
              <a:t> Signatures</a:t>
            </a:r>
            <a:r>
              <a:t> — declare</a:t>
            </a:r>
            <a:r>
              <a:rPr i="1"/>
              <a:t> what</a:t>
            </a:r>
            <a:r>
              <a:t> (inputs -&gt; outputs), not</a:t>
            </a:r>
            <a:r>
              <a:rPr i="1"/>
              <a:t> how</a:t>
            </a:r>
          </a:p>
          <a:p>
            <a:r>
              <a:rPr b="1"/>
              <a:t> Modules</a:t>
            </a:r>
            <a:r>
              <a:t> —</a:t>
            </a:r>
            <a:r>
              <a:rPr>
                <a:latin typeface="Courier New"/>
              </a:rPr>
              <a:t> Predict</a:t>
            </a:r>
            <a:r>
              <a:t> ,</a:t>
            </a:r>
            <a:r>
              <a:rPr>
                <a:latin typeface="Courier New"/>
              </a:rPr>
              <a:t> ChainOfThought</a:t>
            </a:r>
            <a:r>
              <a:t> ,</a:t>
            </a:r>
            <a:r>
              <a:rPr>
                <a:latin typeface="Courier New"/>
              </a:rPr>
              <a:t> ReAct</a:t>
            </a:r>
          </a:p>
          <a:p>
            <a:r>
              <a:rPr b="1"/>
              <a:t> Metrics + optimizers</a:t>
            </a:r>
            <a:r>
              <a:t> —</a:t>
            </a:r>
            <a:r>
              <a:rPr>
                <a:latin typeface="Courier New"/>
              </a:rPr>
              <a:t> BootstrapFewShot</a:t>
            </a:r>
            <a:r>
              <a:t> makes agents</a:t>
            </a:r>
            <a:r>
              <a:rPr i="1"/>
              <a:t> self-improve</a:t>
            </a:r>
          </a:p>
          <a:p>
            <a:r>
              <a:t> When DSPy</a:t>
            </a:r>
            <a:r>
              <a:rPr b="1"/>
              <a:t> beats</a:t>
            </a:r>
            <a:r>
              <a:t> hand-prompting (and when it doesn't)</a:t>
            </a:r>
          </a:p>
          <a:p>
            <a:r>
              <a:rPr b="1"/>
              <a:t> Databricks</a:t>
            </a:r>
            <a:r>
              <a:t> enterprise integration — Delta, MLflow, model serving</a:t>
            </a:r>
          </a:p>
          <a:p>
            <a:r>
              <a:t> Lab 13: a self-improving DSPy agent + "Delta" analytics (local fallback)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8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Stop editing prompt strings by hand. Declare the behavior and let a compiler optimize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DSPy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Hand-prompting is</a:t>
            </a:r>
            <a:r>
              <a:rPr b="1"/>
              <a:t> brittle string surgery</a:t>
            </a:r>
            <a:r>
              <a:t> — tweak wording, re-test, repeat</a:t>
            </a:r>
          </a:p>
          <a:p>
            <a:r>
              <a:t> Prompts don't</a:t>
            </a:r>
            <a:r>
              <a:rPr b="1"/>
              <a:t> transfer</a:t>
            </a:r>
            <a:r>
              <a:t> — new model, redo the fiddling</a:t>
            </a:r>
          </a:p>
          <a:p>
            <a:r>
              <a:t> No</a:t>
            </a:r>
            <a:r>
              <a:rPr b="1"/>
              <a:t> metric in the loop</a:t>
            </a:r>
            <a:r>
              <a:t> — "seems better" is not measurable</a:t>
            </a:r>
          </a:p>
          <a:p>
            <a:r>
              <a:t> Few-shot examples are</a:t>
            </a:r>
            <a:r>
              <a:rPr b="1"/>
              <a:t> hand-picked</a:t>
            </a:r>
            <a:r>
              <a:t> and go stale</a:t>
            </a:r>
          </a:p>
          <a:p>
            <a:r>
              <a:t> DSPy: treat the prompt as</a:t>
            </a:r>
            <a:r>
              <a:rPr b="1"/>
              <a:t> compiled output</a:t>
            </a:r>
            <a:r>
              <a:t> , not source code you hand-write.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wouldn't hand-tune assembly. DSPy is the compiler; your program is the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DSPy Idea — Programs Over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Write a</a:t>
            </a:r>
            <a:r>
              <a:rPr b="1"/>
              <a:t> program</a:t>
            </a:r>
            <a:r>
              <a:t> in Python; DSPy generates + optimizes the actual prompts</a:t>
            </a:r>
          </a:p>
          <a:p>
            <a:r>
              <a:t> Three layers:</a:t>
            </a:r>
          </a:p>
          <a:p>
            <a:pPr lvl="1"/>
            <a:r>
              <a:rPr b="1"/>
              <a:t> Signature</a:t>
            </a:r>
            <a:r>
              <a:t> — the typed contract (</a:t>
            </a:r>
            <a:r>
              <a:rPr>
                <a:latin typeface="Courier New"/>
              </a:rPr>
              <a:t> question -&gt; answer</a:t>
            </a:r>
            <a:r>
              <a:t> )</a:t>
            </a:r>
          </a:p>
          <a:p>
            <a:pPr lvl="1"/>
            <a:r>
              <a:rPr b="1"/>
              <a:t> Module</a:t>
            </a:r>
            <a:r>
              <a:t> — the strategy (</a:t>
            </a:r>
            <a:r>
              <a:rPr>
                <a:latin typeface="Courier New"/>
              </a:rPr>
              <a:t> Predict</a:t>
            </a:r>
            <a:r>
              <a:t> ,</a:t>
            </a:r>
            <a:r>
              <a:rPr>
                <a:latin typeface="Courier New"/>
              </a:rPr>
              <a:t> ChainOfThought</a:t>
            </a:r>
            <a:r>
              <a:t> ,</a:t>
            </a:r>
            <a:r>
              <a:rPr>
                <a:latin typeface="Courier New"/>
              </a:rPr>
              <a:t> ReAct</a:t>
            </a:r>
            <a:r>
              <a:t> )</a:t>
            </a:r>
          </a:p>
          <a:p>
            <a:pPr lvl="1"/>
            <a:r>
              <a:rPr b="1"/>
              <a:t> Optimizer</a:t>
            </a:r>
            <a:r>
              <a:t> — compiles the program against a</a:t>
            </a:r>
            <a:r>
              <a:rPr b="1"/>
              <a:t> metric</a:t>
            </a:r>
            <a:r>
              <a:t> + examples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4579264"/>
            <a:ext cx="9348788" cy="703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717033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Separate intent (signature) from strategy (module) from tuning (optimizer).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Signatures — Declare the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Signature</a:t>
            </a:r>
            <a:r>
              <a:t> names inputs and outputs with descriptions — not a prompt</a:t>
            </a:r>
          </a:p>
          <a:p>
            <a:r>
              <a:t> Short form for quick work; class form when fields need docs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8915400" cy="2151698"/>
          </a:xfrm>
          <a:prstGeom prst="rect">
            <a:avLst/>
          </a:prstGeom>
        </p:spPr>
      </p:pic>
      <p:pic>
        <p:nvPicPr>
          <p:cNvPr id="6" name="Picture 5" descr="pexels-muhammed-shafiqul-islam-546638747-307058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895" y="4981172"/>
            <a:ext cx="2379655" cy="1784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495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signature is what you want. DSPy writes the prompt words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— Choose the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Swap the module without touching the signature — same contract, new strategy.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Predict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input -&gt;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 classify / extract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ChainOfThought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Adds a reasoning step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Reasoning, math, judgment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 + call tools in a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Agents that use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ProgramOfThought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Generates + runs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Precise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8" y="5520531"/>
            <a:ext cx="8766891" cy="6233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Predict for facts, ChainOfThought for judgment, ReAct for tools. Start simple.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the 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global config points DSPy at any provider (OpenAI, Anthropic, Bedrock, local)</a:t>
            </a:r>
          </a:p>
          <a:p>
            <a:r>
              <a:rPr>
                <a:latin typeface="Courier New"/>
              </a:rPr>
              <a:t> dspy.LM</a:t>
            </a:r>
            <a:r>
              <a:t> uses LiteLLM under the hood — same string names you already know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31" y="2838649"/>
            <a:ext cx="8915400" cy="1611630"/>
          </a:xfrm>
          <a:prstGeom prst="rect">
            <a:avLst/>
          </a:prstGeom>
        </p:spPr>
      </p:pic>
      <p:pic>
        <p:nvPicPr>
          <p:cNvPr id="6" name="Picture 5" descr="pexels-field-engineer-147254-4421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513" y="4609705"/>
            <a:ext cx="3011424" cy="20073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695592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line swaps the model. The program — signatures and modules — stays 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— Define "Better"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 optimizer needs a</a:t>
            </a:r>
            <a:r>
              <a:rPr b="1" dirty="0"/>
              <a:t> metric</a:t>
            </a:r>
            <a:r>
              <a:rPr dirty="0"/>
              <a:t> : a function scoring an example vs. the prediction</a:t>
            </a:r>
          </a:p>
          <a:p>
            <a:r>
              <a:rPr dirty="0"/>
              <a:t> Return a bool or a float; this is the objective the compiler maximizes</a:t>
            </a:r>
          </a:p>
          <a:p>
            <a:r>
              <a:rPr dirty="0"/>
              <a:t> This is the same discipline as your eval set (Day 3) — now</a:t>
            </a:r>
            <a:r>
              <a:rPr i="1" dirty="0"/>
              <a:t> in the training loop</a:t>
            </a:r>
          </a:p>
          <a:p>
            <a:endParaRPr lang="en-US" i="1" dirty="0"/>
          </a:p>
          <a:p>
            <a:endParaRPr i="1" dirty="0"/>
          </a:p>
          <a:p>
            <a:r>
              <a:rPr dirty="0"/>
              <a:t> Good metrics are</a:t>
            </a:r>
            <a:r>
              <a:rPr b="1" dirty="0"/>
              <a:t> cheap, deterministic, and aligned</a:t>
            </a:r>
            <a:r>
              <a:rPr dirty="0"/>
              <a:t> with what you actually want.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" y="3428532"/>
            <a:ext cx="9026525" cy="721191"/>
          </a:xfrm>
          <a:prstGeom prst="rect">
            <a:avLst/>
          </a:prstGeom>
        </p:spPr>
      </p:pic>
      <p:pic>
        <p:nvPicPr>
          <p:cNvPr id="6" name="Picture 5" descr="pexels-wwarby-195859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789" y="5008584"/>
            <a:ext cx="2421636" cy="18162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 metric, no optimization. "Looks good" cannot be compiled.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Optimizers — Self-Improvement from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</a:t>
            </a:r>
            <a:r>
              <a:rPr b="1" dirty="0"/>
              <a:t> optimizer</a:t>
            </a:r>
            <a:r>
              <a:rPr dirty="0"/>
              <a:t> (a "teleprompter") compiles your program to raise the metric</a:t>
            </a:r>
          </a:p>
          <a:p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BootstrapFewShot</a:t>
            </a:r>
            <a:r>
              <a:rPr dirty="0"/>
              <a:t> — the model</a:t>
            </a:r>
            <a:r>
              <a:rPr b="1" dirty="0"/>
              <a:t> generates its own</a:t>
            </a:r>
            <a:r>
              <a:rPr dirty="0"/>
              <a:t> few-shot demos, keeps the ones that pass the metric, and bakes them into the prompt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Others: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BootstrapFewShotWithRandomSearch</a:t>
            </a:r>
            <a:r>
              <a:rPr dirty="0"/>
              <a:t> ,</a:t>
            </a:r>
            <a:r>
              <a:rPr dirty="0">
                <a:latin typeface="Courier New"/>
              </a:rPr>
              <a:t> MIPROv2</a:t>
            </a:r>
            <a:r>
              <a:rPr dirty="0"/>
              <a:t> (optimizes instructions too).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5720"/>
            <a:ext cx="9372600" cy="1059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agent teaches itself: try examples, keep what scores, embed the winners. That's the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Compile Loop, Visualized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You measure the</a:t>
            </a:r>
            <a:r>
              <a:rPr b="1" dirty="0"/>
              <a:t> lift</a:t>
            </a:r>
            <a:r>
              <a:rPr dirty="0"/>
              <a:t> : metric on </a:t>
            </a:r>
            <a:r>
              <a:rPr dirty="0" err="1"/>
              <a:t>devset</a:t>
            </a:r>
            <a:r>
              <a:rPr dirty="0"/>
              <a:t> before compile vs. after.</a:t>
            </a:r>
          </a:p>
          <a:p>
            <a:r>
              <a:rPr dirty="0"/>
              <a:t> Lab 13 makes this number real — and writes it to an analytics table.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1077132"/>
            <a:ext cx="9398000" cy="26543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Self-improving is not magic. It's search over prompts, scored by your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dspy.Evaluate</a:t>
            </a:r>
            <a:r>
              <a:t> runs a program over a devset and reports the aggregate metric</a:t>
            </a:r>
          </a:p>
          <a:p>
            <a:r>
              <a:t> Always evaluate on</a:t>
            </a:r>
            <a:r>
              <a:rPr b="1"/>
              <a:t> held-out</a:t>
            </a:r>
            <a:r>
              <a:t> data — never the trainset you compiled on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9997"/>
            <a:ext cx="9372600" cy="14873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Report before and after on held-out data, or the "improvement" is just memorization.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DSPy Beats Hand-Prompting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Beats</a:t>
            </a:r>
            <a:r>
              <a:t> hand-prompting when:</a:t>
            </a:r>
          </a:p>
          <a:p>
            <a:pPr lvl="1"/>
            <a:r>
              <a:t> You have (or can label)</a:t>
            </a:r>
            <a:r>
              <a:rPr b="1"/>
              <a:t> examples + a metric</a:t>
            </a:r>
          </a:p>
          <a:p>
            <a:pPr lvl="1"/>
            <a:r>
              <a:t> The task is</a:t>
            </a:r>
            <a:r>
              <a:rPr b="1"/>
              <a:t> repeated at scale</a:t>
            </a:r>
            <a:r>
              <a:t> — worth optimizing once</a:t>
            </a:r>
          </a:p>
          <a:p>
            <a:pPr lvl="1"/>
            <a:r>
              <a:t> You need to</a:t>
            </a:r>
            <a:r>
              <a:rPr b="1"/>
              <a:t> swap models</a:t>
            </a:r>
            <a:r>
              <a:t> without redoing prompt work</a:t>
            </a:r>
          </a:p>
          <a:p>
            <a:pPr lvl="1"/>
            <a:r>
              <a:t> You're chaining</a:t>
            </a:r>
            <a:r>
              <a:rPr b="1"/>
              <a:t> multiple LLM steps</a:t>
            </a:r>
            <a:r>
              <a:t> (compounding prompt debt)</a:t>
            </a:r>
          </a:p>
          <a:p>
            <a:r>
              <a:rPr b="1"/>
              <a:t> Skip</a:t>
            </a:r>
            <a:r>
              <a:t> it when:</a:t>
            </a:r>
          </a:p>
          <a:p>
            <a:pPr lvl="1"/>
            <a:r>
              <a:t> A</a:t>
            </a:r>
            <a:r>
              <a:rPr b="1"/>
              <a:t> one-off</a:t>
            </a:r>
            <a:r>
              <a:t> prompt already works</a:t>
            </a:r>
          </a:p>
          <a:p>
            <a:pPr lvl="1"/>
            <a:r>
              <a:t> You have</a:t>
            </a:r>
            <a:r>
              <a:rPr b="1"/>
              <a:t> no examples and no metric</a:t>
            </a:r>
          </a:p>
          <a:p>
            <a:pPr lvl="1"/>
            <a:r>
              <a:t> The team can't maintain the extra abstraction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vika-glitter-392079-94408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4810622"/>
            <a:ext cx="2622550" cy="20910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0576" y="713439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DSPy pays off where prompts are assets you maintain — not for a throwaway one-liner.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— Where This Goes 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Databricks is the</a:t>
            </a:r>
            <a:r>
              <a:rPr b="1"/>
              <a:t> enterprise platform</a:t>
            </a:r>
            <a:r>
              <a:t> DSPy programs often ship on:</a:t>
            </a:r>
          </a:p>
          <a:p>
            <a:pPr lvl="1"/>
            <a:r>
              <a:rPr b="1"/>
              <a:t> Delta tables</a:t>
            </a:r>
            <a:r>
              <a:t> — reliable, versioned tables (ACID) for training data &amp; run metrics</a:t>
            </a:r>
          </a:p>
          <a:p>
            <a:pPr lvl="1"/>
            <a:r>
              <a:rPr b="1"/>
              <a:t> MLflow</a:t>
            </a:r>
            <a:r>
              <a:t> — track runs, params, metrics; register + version the compiled program</a:t>
            </a:r>
          </a:p>
          <a:p>
            <a:pPr lvl="1"/>
            <a:r>
              <a:rPr b="1"/>
              <a:t> Model Serving</a:t>
            </a:r>
            <a:r>
              <a:t> — deploy the program behind a REST endpoint, autoscaled</a:t>
            </a:r>
          </a:p>
          <a:p>
            <a:pPr lvl="1"/>
            <a:r>
              <a:rPr b="1"/>
              <a:t> Unity Catalog</a:t>
            </a:r>
            <a:r>
              <a:t> — governance, lineage, and access control (Day 5)</a:t>
            </a:r>
          </a:p>
          <a:p>
            <a:r>
              <a:rPr b="1"/>
              <a:t> Foundation Model APIs</a:t>
            </a:r>
            <a:r>
              <a:t> serve LLMs inside the Databricks perimeter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DSPy compiles the agent; Databricks stores its data, tracks its runs, and serves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 Tables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</a:t>
            </a:r>
            <a:r>
              <a:rPr b="1" dirty="0"/>
              <a:t> Delta table</a:t>
            </a:r>
            <a:r>
              <a:rPr dirty="0"/>
              <a:t> = Parquet files + a transaction log -&gt; ACID, time travel, schema evolution</a:t>
            </a:r>
          </a:p>
          <a:p>
            <a:r>
              <a:rPr dirty="0"/>
              <a:t> Perfect home for</a:t>
            </a:r>
            <a:r>
              <a:rPr b="1" dirty="0"/>
              <a:t> agent run metrics</a:t>
            </a:r>
            <a:r>
              <a:rPr dirty="0"/>
              <a:t> : append each run, query trends, audit history</a:t>
            </a:r>
          </a:p>
          <a:p>
            <a:r>
              <a:rPr dirty="0"/>
              <a:t> Reads back into Spark</a:t>
            </a:r>
            <a:r>
              <a:rPr b="1" dirty="0"/>
              <a:t> or</a:t>
            </a:r>
            <a:r>
              <a:rPr dirty="0"/>
              <a:t> pandas — the analytics are just SQL/</a:t>
            </a:r>
            <a:r>
              <a:rPr dirty="0" err="1"/>
              <a:t>DataFrames</a:t>
            </a:r>
            <a:endParaRPr dirty="0"/>
          </a:p>
          <a:p>
            <a:endParaRPr dirty="0"/>
          </a:p>
          <a:p>
            <a:r>
              <a:rPr dirty="0"/>
              <a:t> Lab 13 stand-in: write metrics to</a:t>
            </a:r>
            <a:r>
              <a:rPr b="1" dirty="0"/>
              <a:t> Parquet</a:t>
            </a:r>
            <a:r>
              <a:rPr dirty="0"/>
              <a:t> , read back with</a:t>
            </a:r>
            <a:r>
              <a:rPr b="1" dirty="0"/>
              <a:t> pandas/</a:t>
            </a:r>
            <a:r>
              <a:rPr b="1" dirty="0" err="1"/>
              <a:t>pyarrow</a:t>
            </a:r>
            <a:r>
              <a:rPr dirty="0"/>
              <a:t> .</a:t>
            </a:r>
          </a:p>
          <a:p>
            <a:r>
              <a:rPr dirty="0"/>
              <a:t> The Databricks equivalent: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df.write.format</a:t>
            </a:r>
            <a:r>
              <a:rPr dirty="0">
                <a:latin typeface="Courier New"/>
              </a:rPr>
              <a:t>("delta").mode("append").</a:t>
            </a:r>
            <a:r>
              <a:rPr dirty="0" err="1">
                <a:latin typeface="Courier New"/>
              </a:rPr>
              <a:t>saveAsTable</a:t>
            </a:r>
            <a:r>
              <a:rPr dirty="0">
                <a:latin typeface="Courier New"/>
              </a:rPr>
              <a:t>(...)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59082"/>
            <a:ext cx="8915400" cy="3555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5513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shape, smaller footprint: a Parquet file locally is a Delta table without the 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MLflow &amp; Model Serving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MLflow tracking</a:t>
            </a:r>
            <a:r>
              <a:t> — log the metric, the model id, the optimizer, the before/after lift</a:t>
            </a:r>
          </a:p>
          <a:p>
            <a:pPr lvl="1"/>
            <a:r>
              <a:t> every compile becomes a</a:t>
            </a:r>
            <a:r>
              <a:rPr b="1"/>
              <a:t> comparable, reproducible experiment</a:t>
            </a:r>
          </a:p>
          <a:p>
            <a:r>
              <a:rPr b="1"/>
              <a:t> MLflow Models</a:t>
            </a:r>
            <a:r>
              <a:t> — package the compiled DSPy program as an artifact you can version</a:t>
            </a:r>
          </a:p>
          <a:p>
            <a:r>
              <a:rPr b="1"/>
              <a:t> Model Serving</a:t>
            </a:r>
            <a:r>
              <a:t> — one click to a scalable REST endpoint; A/B new compiles safely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4409201"/>
            <a:ext cx="8915400" cy="3684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7973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Track every compile like an experiment. "Which prompt is in prod?" should have an exact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DSPy =</a:t>
            </a:r>
            <a:r>
              <a:rPr b="1"/>
              <a:t> Signatures</a:t>
            </a:r>
            <a:r>
              <a:t> (what) +</a:t>
            </a:r>
            <a:r>
              <a:rPr b="1"/>
              <a:t> Modules</a:t>
            </a:r>
            <a:r>
              <a:t> (how) +</a:t>
            </a:r>
            <a:r>
              <a:rPr b="1"/>
              <a:t> Optimizers</a:t>
            </a:r>
            <a:r>
              <a:t> (tune to a metric)</a:t>
            </a:r>
          </a:p>
          <a:p>
            <a:r>
              <a:rPr>
                <a:latin typeface="Courier New"/>
              </a:rPr>
              <a:t> BootstrapFewShot</a:t>
            </a:r>
            <a:r>
              <a:t> makes an agent</a:t>
            </a:r>
            <a:r>
              <a:rPr b="1"/>
              <a:t> self-improve</a:t>
            </a:r>
            <a:r>
              <a:t> from examples + a metric</a:t>
            </a:r>
          </a:p>
          <a:p>
            <a:r>
              <a:t> Always measure</a:t>
            </a:r>
            <a:r>
              <a:rPr b="1"/>
              <a:t> before vs. after</a:t>
            </a:r>
            <a:r>
              <a:t> on a</a:t>
            </a:r>
            <a:r>
              <a:rPr b="1"/>
              <a:t> held-out</a:t>
            </a:r>
            <a:r>
              <a:t> devset</a:t>
            </a:r>
          </a:p>
          <a:p>
            <a:r>
              <a:t> Use DSPy where prompts are</a:t>
            </a:r>
            <a:r>
              <a:rPr b="1"/>
              <a:t> maintained assets</a:t>
            </a:r>
            <a:r>
              <a:t> ; skip it for one-offs</a:t>
            </a:r>
          </a:p>
          <a:p>
            <a:r>
              <a:rPr b="1"/>
              <a:t> Databricks</a:t>
            </a:r>
            <a:r>
              <a:t> productionizes it: Delta (data), MLflow (tracking), Serving (deploy)</a:t>
            </a:r>
          </a:p>
          <a:p>
            <a:r>
              <a:t> Locally,</a:t>
            </a:r>
            <a:r>
              <a:rPr b="1"/>
              <a:t> Parquet + pandas</a:t>
            </a:r>
            <a:r>
              <a:t> stands in for Delta — same shape, no cluster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97973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Declare the behavior, define the metric, let the compiler do the prompt engineering.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13 — Self-Improving Agent with DSPy + Delta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13.</a:t>
            </a:r>
          </a:p>
          <a:p>
            <a:r>
              <a:t> You will:</a:t>
            </a:r>
          </a:p>
          <a:p>
            <a:r>
              <a:t> Write a DSPy</a:t>
            </a:r>
            <a:r>
              <a:rPr b="1"/>
              <a:t> Signature</a:t>
            </a:r>
            <a:r>
              <a:t> +</a:t>
            </a:r>
            <a:r>
              <a:rPr b="1"/>
              <a:t> Module</a:t>
            </a:r>
            <a:r>
              <a:t> (</a:t>
            </a:r>
            <a:r>
              <a:rPr>
                <a:latin typeface="Courier New"/>
              </a:rPr>
              <a:t> ChainOfThought</a:t>
            </a:r>
            <a:r>
              <a:t> ) for a classifier.</a:t>
            </a:r>
          </a:p>
          <a:p>
            <a:r>
              <a:t> Define a</a:t>
            </a:r>
            <a:r>
              <a:rPr b="1"/>
              <a:t> metric</a:t>
            </a:r>
            <a:r>
              <a:t> and score a</a:t>
            </a:r>
            <a:r>
              <a:rPr b="1"/>
              <a:t> baseline</a:t>
            </a:r>
            <a:r>
              <a:t> on a held-out devset with</a:t>
            </a:r>
            <a:r>
              <a:rPr>
                <a:latin typeface="Courier New"/>
              </a:rPr>
              <a:t> dspy.Evaluate</a:t>
            </a:r>
            <a:r>
              <a:t> .</a:t>
            </a:r>
          </a:p>
          <a:p>
            <a:r>
              <a:t> Run</a:t>
            </a:r>
          </a:p>
          <a:p>
            <a:r>
              <a:rPr b="1" i="1"/>
              <a:t> BootstrapFewShot</a:t>
            </a:r>
            <a:r>
              <a:t> over a small trainset and re-score — measure the</a:t>
            </a:r>
            <a:r>
              <a:rPr b="1"/>
              <a:t> lift</a:t>
            </a:r>
            <a:r>
              <a:t> .</a:t>
            </a:r>
          </a:p>
          <a:p>
            <a:r>
              <a:t> Write run metrics to a</a:t>
            </a:r>
            <a:r>
              <a:rPr b="1"/>
              <a:t> Parquet</a:t>
            </a:r>
            <a:r>
              <a:t> file and read them back with</a:t>
            </a:r>
            <a:r>
              <a:rPr b="1"/>
              <a:t> pandas</a:t>
            </a:r>
            <a:r>
              <a:t> (Delta stand-in).</a:t>
            </a:r>
          </a:p>
          <a:p>
            <a:r>
              <a:t> Note the</a:t>
            </a:r>
            <a:r>
              <a:rPr b="1"/>
              <a:t> Databricks Delta</a:t>
            </a:r>
            <a:r>
              <a:t> equivalent for production.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self_improving.py</a:t>
            </a:r>
            <a:r>
              <a:t> that prints a before/after lift and writes</a:t>
            </a:r>
            <a:r>
              <a:rPr>
                <a:latin typeface="Courier New"/>
              </a:rPr>
              <a:t> runs.parquet</a:t>
            </a:r>
            <a:r>
              <a:t> 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378345</TotalTime>
  <Words>1511</Words>
  <Application>Microsoft Macintosh PowerPoint</Application>
  <PresentationFormat>Custom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DSPy &amp; Databricks</vt:lpstr>
      <vt:lpstr>Part IV I–J — What We'll Cover</vt:lpstr>
      <vt:lpstr>The Problem DSPy Solves</vt:lpstr>
      <vt:lpstr>The DSPy Idea — Programs Over Prompts</vt:lpstr>
      <vt:lpstr>Signatures — Declare the Contract</vt:lpstr>
      <vt:lpstr>Modules — Choose the Strategy</vt:lpstr>
      <vt:lpstr>Configuring the LM</vt:lpstr>
      <vt:lpstr>Metrics — Define "Better"</vt:lpstr>
      <vt:lpstr>Optimizers — Self-Improvement from Examples</vt:lpstr>
      <vt:lpstr>The Compile Loop, Visualized</vt:lpstr>
      <vt:lpstr>Evaluating a Program</vt:lpstr>
      <vt:lpstr>When DSPy Beats Hand-Prompting</vt:lpstr>
      <vt:lpstr>Databricks — Where This Goes to Production</vt:lpstr>
      <vt:lpstr>Delta Tables (Conceptual)</vt:lpstr>
      <vt:lpstr>MLflow &amp; Model Serving (Conceptual)</vt:lpstr>
      <vt:lpstr>Putting It Together</vt:lpstr>
      <vt:lpstr>Lab 13 — Self-Improving Agent with DSPy + Delta Analytics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2026-10-15T23:02:50Z</dcterms:modified>
</cp:coreProperties>
</file>