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Copyright © 2017 Elephant Scale. All rights reserved.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FAADD5D-AF76-45EE-AA5F-6DAC73BF167A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05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Agentic with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IV K–L — What We'll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Anthropic's</a:t>
            </a:r>
            <a:r>
              <a:rPr b="1"/>
              <a:t> Messages API</a:t>
            </a:r>
            <a:r>
              <a:t> and how</a:t>
            </a:r>
            <a:r>
              <a:rPr b="1"/>
              <a:t> tool use</a:t>
            </a:r>
            <a:r>
              <a:t> works</a:t>
            </a:r>
          </a:p>
          <a:p>
            <a:r>
              <a:t> The</a:t>
            </a:r>
            <a:r>
              <a:rPr b="1"/>
              <a:t> Claude model family</a:t>
            </a:r>
            <a:r>
              <a:t> — Opus vs. Sonnet vs. Haiku, and when to pick each</a:t>
            </a:r>
          </a:p>
          <a:p>
            <a:r>
              <a:t> Building a</a:t>
            </a:r>
            <a:r>
              <a:rPr b="1"/>
              <a:t> multi-tool coding assistant</a:t>
            </a:r>
          </a:p>
          <a:p>
            <a:r>
              <a:rPr b="1"/>
              <a:t> Memory &amp; context management</a:t>
            </a:r>
            <a:r>
              <a:t> — the window, summarization, external files</a:t>
            </a:r>
          </a:p>
          <a:p>
            <a:r>
              <a:rPr b="1"/>
              <a:t> Prompt caching</a:t>
            </a:r>
            <a:r>
              <a:t> — pay once for the stable prefix</a:t>
            </a:r>
          </a:p>
          <a:p>
            <a:r>
              <a:rPr b="1"/>
              <a:t> Safety habits</a:t>
            </a:r>
            <a:r>
              <a:t> for an agent that reads and writes files and runs code</a:t>
            </a:r>
          </a:p>
          <a:p>
            <a:r>
              <a:t> Lab 14: a Claude coding assistant with persistent memory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API is small. The discipline — tools, memory, gates — is the whole job.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Messages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One endpoint: a list of</a:t>
            </a:r>
            <a:r>
              <a:rPr>
                <a:latin typeface="Courier New"/>
              </a:rPr>
              <a:t> messages</a:t>
            </a:r>
            <a:r>
              <a:t> (</a:t>
            </a:r>
            <a:r>
              <a:rPr>
                <a:latin typeface="Courier New"/>
              </a:rPr>
              <a:t> user</a:t>
            </a:r>
            <a:r>
              <a:t> /</a:t>
            </a:r>
            <a:r>
              <a:rPr>
                <a:latin typeface="Courier New"/>
              </a:rPr>
              <a:t> assistant</a:t>
            </a:r>
            <a:r>
              <a:t> ) + a top-level</a:t>
            </a:r>
            <a:r>
              <a:rPr>
                <a:latin typeface="Courier New"/>
              </a:rPr>
              <a:t> system</a:t>
            </a:r>
            <a:r>
              <a:t> prompt</a:t>
            </a:r>
          </a:p>
          <a:p>
            <a:r>
              <a:t> You always send the</a:t>
            </a:r>
            <a:r>
              <a:rPr b="1"/>
              <a:t> full conversation</a:t>
            </a:r>
            <a:r>
              <a:t> back — the API is</a:t>
            </a:r>
            <a:r>
              <a:rPr b="1"/>
              <a:t> stateless</a:t>
            </a:r>
          </a:p>
          <a:p>
            <a:r>
              <a:t> Response carries</a:t>
            </a:r>
          </a:p>
          <a:p>
            <a:r>
              <a:rPr b="1" i="1"/>
              <a:t> content</a:t>
            </a:r>
            <a:r>
              <a:t> (text and/or</a:t>
            </a:r>
            <a:r>
              <a:rPr>
                <a:latin typeface="Courier New"/>
              </a:rPr>
              <a:t> tool_use</a:t>
            </a:r>
            <a:r>
              <a:t> ) and a</a:t>
            </a:r>
          </a:p>
          <a:p>
            <a:r>
              <a:rPr b="1" i="1"/>
              <a:t> stop_reason</a:t>
            </a:r>
          </a:p>
          <a:p>
            <a:endParaRPr b="1" i="1"/>
          </a:p>
          <a:p>
            <a:endParaRPr b="1" i="1"/>
          </a:p>
          <a:p>
            <a:endParaRPr b="1" i="1"/>
          </a:p>
          <a:p>
            <a:endParaRPr b="1" i="1"/>
          </a:p>
          <a:p>
            <a:endParaRPr b="1" i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25" y="4149724"/>
            <a:ext cx="8668512" cy="21671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5300" y="6863974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Stateless means you own the memory. That's a burden and a superpower — you control context.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Claude Model Family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Same API and tool-use shape across all three — swap the</a:t>
            </a:r>
            <a:r>
              <a:rPr>
                <a:latin typeface="Courier New"/>
              </a:rPr>
              <a:t> model</a:t>
            </a:r>
            <a:r>
              <a:t> string.</a:t>
            </a:r>
          </a:p>
          <a:p>
            <a:r>
              <a:t> Common pattern:</a:t>
            </a:r>
            <a:r>
              <a:rPr b="1"/>
              <a:t> Haiku routes / triages</a:t>
            </a:r>
            <a:r>
              <a:t> ,</a:t>
            </a:r>
            <a:r>
              <a:rPr b="1"/>
              <a:t> Sonnet does the work</a:t>
            </a:r>
            <a:r>
              <a:t> ,</a:t>
            </a:r>
            <a:r>
              <a:rPr b="1"/>
              <a:t> Opus for the hard 5%</a:t>
            </a:r>
            <a:r>
              <a:t> .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Pick it for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Opus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claude-opus-5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Hardest reasoning, big refactors, deep planning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Sonnet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claude-sonnet-5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The workhorse — coding, tool use, most agents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b="1"/>
                        <a:t>Haiku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claude-haiku-4-5-20251001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Fast, cheap: routing, classify, extract, high volume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Picture 5" descr="The_Claude_Van_Damme_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900" y="4717297"/>
            <a:ext cx="2932487" cy="195499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34950" y="694455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Default to Sonnet. Drop to Haiku for volume, reach for Opus only when Sonnet stalls.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Tool Use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 describe tools with a</a:t>
            </a:r>
            <a:r>
              <a:rPr b="1"/>
              <a:t> name, description, and</a:t>
            </a:r>
            <a:r>
              <a:t> (JSON Schema)</a:t>
            </a:r>
          </a:p>
          <a:p>
            <a:r>
              <a:t> Claude replies with a</a:t>
            </a:r>
            <a:r>
              <a:rPr>
                <a:latin typeface="Courier New"/>
              </a:rPr>
              <a:t> tool_use</a:t>
            </a:r>
            <a:r>
              <a:t> block and</a:t>
            </a:r>
            <a:r>
              <a:rPr>
                <a:latin typeface="Courier New"/>
              </a:rPr>
              <a:t> stop_reason="tool_use"</a:t>
            </a:r>
          </a:p>
          <a:p>
            <a:r>
              <a:t> You run the tool and send a</a:t>
            </a:r>
            <a:r>
              <a:rPr>
                <a:latin typeface="Courier New"/>
              </a:rPr>
              <a:t> tool_result</a:t>
            </a:r>
            <a:r>
              <a:t> block back as a new</a:t>
            </a:r>
            <a:r>
              <a:rPr>
                <a:latin typeface="Courier New"/>
              </a:rPr>
              <a:t> user</a:t>
            </a:r>
            <a:r>
              <a:t> message</a:t>
            </a:r>
          </a:p>
          <a:p>
            <a:r>
              <a:t> Loop until</a:t>
            </a:r>
            <a:r>
              <a:rPr>
                <a:latin typeface="Courier New"/>
              </a:rPr>
              <a:t> stop_reason="end_turn"</a:t>
            </a:r>
            <a:r>
              <a:t> — same ReAct loop, native shape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7" y="4682331"/>
            <a:ext cx="9093200" cy="787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Tool use is a conversation, not a callback. You and Claude take turns until it's done.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Defining a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</a:t>
            </a:r>
            <a:r>
              <a:rPr b="1" dirty="0"/>
              <a:t> description is the API</a:t>
            </a:r>
            <a:r>
              <a:rPr dirty="0"/>
              <a:t> — Claude only knows what you tell it here.</a:t>
            </a:r>
          </a:p>
          <a:p>
            <a:r>
              <a:rPr dirty="0"/>
              <a:t> Give each tool a</a:t>
            </a:r>
            <a:r>
              <a:rPr b="1" dirty="0"/>
              <a:t> safety class</a:t>
            </a:r>
            <a:r>
              <a:rPr dirty="0"/>
              <a:t> :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read_file</a:t>
            </a:r>
            <a:r>
              <a:rPr dirty="0"/>
              <a:t> is</a:t>
            </a:r>
            <a:r>
              <a:rPr dirty="0">
                <a:latin typeface="Courier New"/>
              </a:rPr>
              <a:t> safe</a:t>
            </a:r>
            <a:r>
              <a:rPr dirty="0"/>
              <a:t> ;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write_file</a:t>
            </a:r>
            <a:r>
              <a:rPr dirty="0"/>
              <a:t> is</a:t>
            </a:r>
            <a:r>
              <a:rPr dirty="0">
                <a:latin typeface="Courier New"/>
              </a:rPr>
              <a:t> dangerous</a:t>
            </a:r>
            <a:r>
              <a:rPr dirty="0"/>
              <a:t> 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8234"/>
            <a:ext cx="8915400" cy="2056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97973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Write the description for the model, not for yourself. Vague tools get misused.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Tool-Use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2364"/>
            <a:ext cx="8915400" cy="28565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98887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One create call is one turn. The for loop with a cap is the agent.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Multi-Tool Coding Assistant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Give the agent a small, sharp toolset — that's Lab 14:</a:t>
            </a:r>
          </a:p>
          <a:p>
            <a:pPr lvl="1"/>
            <a:r>
              <a:rPr>
                <a:latin typeface="Courier New"/>
              </a:rPr>
              <a:t> read_file</a:t>
            </a:r>
            <a:r>
              <a:t> —</a:t>
            </a:r>
            <a:r>
              <a:rPr b="1"/>
              <a:t> safe</a:t>
            </a:r>
            <a:r>
              <a:t> , read source</a:t>
            </a:r>
          </a:p>
          <a:p>
            <a:pPr lvl="1"/>
            <a:r>
              <a:rPr>
                <a:latin typeface="Courier New"/>
              </a:rPr>
              <a:t> write_file</a:t>
            </a:r>
            <a:r>
              <a:t> —</a:t>
            </a:r>
            <a:r>
              <a:rPr b="1"/>
              <a:t> dangerous</a:t>
            </a:r>
            <a:r>
              <a:t> , gated behind human approval</a:t>
            </a:r>
          </a:p>
          <a:p>
            <a:pPr lvl="1"/>
            <a:r>
              <a:rPr>
                <a:latin typeface="Courier New"/>
              </a:rPr>
              <a:t> run_python</a:t>
            </a:r>
            <a:r>
              <a:t> —</a:t>
            </a:r>
            <a:r>
              <a:rPr b="1"/>
              <a:t> dangerous</a:t>
            </a:r>
            <a:r>
              <a:t> , sandboxed + time/output limited</a:t>
            </a:r>
          </a:p>
          <a:p>
            <a:pPr lvl="1"/>
            <a:r>
              <a:rPr>
                <a:latin typeface="Courier New"/>
              </a:rPr>
              <a:t> remember</a:t>
            </a:r>
            <a:r>
              <a:t> — update a persistent</a:t>
            </a:r>
            <a:r>
              <a:rPr>
                <a:latin typeface="Courier New"/>
              </a:rPr>
              <a:t> memory.json</a:t>
            </a:r>
            <a:r>
              <a:t> across sessions</a:t>
            </a:r>
          </a:p>
          <a:p>
            <a:r>
              <a:t> Loop: read code -&gt; propose change -&gt;</a:t>
            </a:r>
            <a:r>
              <a:rPr b="1"/>
              <a:t> ask</a:t>
            </a:r>
            <a:r>
              <a:t> -&gt; write -&gt; run tests -&gt; report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4535312"/>
            <a:ext cx="8915400" cy="293836"/>
          </a:xfrm>
          <a:prstGeom prst="rect">
            <a:avLst/>
          </a:prstGeom>
        </p:spPr>
      </p:pic>
      <p:pic>
        <p:nvPicPr>
          <p:cNvPr id="6" name="Picture 5" descr="pexels-andreas-naslund-92380530-305628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161" y="4889576"/>
            <a:ext cx="2613489" cy="17431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 coding agent is dangerous by definition — it edits files and runs code. Gate accordingly.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&amp; Context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</a:t>
            </a:r>
            <a:r>
              <a:rPr b="1"/>
              <a:t> context window</a:t>
            </a:r>
            <a:r>
              <a:t> is large but</a:t>
            </a:r>
            <a:r>
              <a:rPr b="1"/>
              <a:t> finite</a:t>
            </a:r>
            <a:r>
              <a:t> — and you pay for every token, every turn</a:t>
            </a:r>
          </a:p>
          <a:p>
            <a:r>
              <a:t> Because the API is stateless,</a:t>
            </a:r>
            <a:r>
              <a:rPr b="1"/>
              <a:t> context = memory</a:t>
            </a:r>
            <a:r>
              <a:t> , and it has a budget</a:t>
            </a:r>
          </a:p>
          <a:p>
            <a:r>
              <a:t> Three tiers of memory:</a:t>
            </a:r>
          </a:p>
          <a:p>
            <a:pPr lvl="1"/>
            <a:r>
              <a:rPr b="1"/>
              <a:t> Short-term</a:t>
            </a:r>
            <a:r>
              <a:t> — the message list this session (the scratchpad)</a:t>
            </a:r>
          </a:p>
          <a:p>
            <a:pPr lvl="1"/>
            <a:r>
              <a:rPr b="1"/>
              <a:t> Compressed</a:t>
            </a:r>
            <a:r>
              <a:t> — summarize old turns once they stop earning their tokens</a:t>
            </a:r>
          </a:p>
          <a:p>
            <a:pPr lvl="1"/>
            <a:r>
              <a:rPr b="1"/>
              <a:t> Long-term</a:t>
            </a:r>
            <a:r>
              <a:t> — an external store (</a:t>
            </a:r>
            <a:r>
              <a:rPr>
                <a:latin typeface="Courier New"/>
              </a:rPr>
              <a:t> memory.json</a:t>
            </a:r>
            <a:r>
              <a:t> , files, a vector DB) read at start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50" y="5311999"/>
            <a:ext cx="8902700" cy="4244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5300" y="678089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Context is working memory, not a filing cabinet. Summarize the old; store facts outside.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Summarizing Old Turns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the transcript grows, replace old turns with a</a:t>
            </a:r>
            <a:r>
              <a:rPr b="1"/>
              <a:t> summary turn</a:t>
            </a:r>
            <a:r>
              <a:t> — keep tokens bounded</a:t>
            </a:r>
          </a:p>
          <a:p>
            <a:r>
              <a:t> Keep the</a:t>
            </a:r>
            <a:r>
              <a:rPr b="1"/>
              <a:t> system prompt</a:t>
            </a:r>
            <a:r>
              <a:t> , the</a:t>
            </a:r>
            <a:r>
              <a:rPr b="1"/>
              <a:t> last few turns</a:t>
            </a:r>
            <a:r>
              <a:t> , and a running</a:t>
            </a:r>
            <a:r>
              <a:rPr b="1"/>
              <a:t> summary</a:t>
            </a:r>
          </a:p>
          <a:p>
            <a:r>
              <a:t> Persist durable facts (decisions, file paths, preferences) to</a:t>
            </a:r>
            <a:r>
              <a:rPr b="1"/>
              <a:t> external memory</a:t>
            </a:r>
          </a:p>
          <a:p>
            <a:endParaRPr b="1"/>
          </a:p>
          <a:p>
            <a:r>
              <a:t> Trigger on a</a:t>
            </a:r>
            <a:r>
              <a:rPr b="1"/>
              <a:t> token budget</a:t>
            </a:r>
            <a:r>
              <a:t> , not turn count — measure, don't guess.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5413607"/>
            <a:ext cx="9363075" cy="66572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5300" y="706639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Don't let the window fill with stale scrollback. Compress the past; keep the present sharp.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External Memory —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tiny file the agent</a:t>
            </a:r>
            <a:r>
              <a:rPr b="1"/>
              <a:t> reads at startup</a:t>
            </a:r>
            <a:r>
              <a:t> and</a:t>
            </a:r>
            <a:r>
              <a:rPr b="1"/>
              <a:t> updates</a:t>
            </a:r>
            <a:r>
              <a:t> as it learns</a:t>
            </a:r>
          </a:p>
          <a:p>
            <a:r>
              <a:t> Survives across sessions — the assistant "remembers" you tomorrow</a:t>
            </a:r>
          </a:p>
          <a:p>
            <a:r>
              <a:t> Keep it</a:t>
            </a:r>
            <a:r>
              <a:rPr b="1"/>
              <a:t> small, structured, and reviewable</a:t>
            </a:r>
            <a:r>
              <a:t> — it's injected into context each run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96404"/>
            <a:ext cx="9372600" cy="1819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04088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External memory is a file you can read and edit. That's a feature — audit it, don't trust it blindly.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 Caching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Mark a</a:t>
            </a:r>
            <a:r>
              <a:rPr b="1" dirty="0"/>
              <a:t> stable prefix</a:t>
            </a:r>
            <a:r>
              <a:rPr dirty="0"/>
              <a:t> (system prompt, tool specs, big context) as cached</a:t>
            </a:r>
          </a:p>
          <a:p>
            <a:r>
              <a:rPr dirty="0"/>
              <a:t> Subsequent turns re-read the prefix from cache —</a:t>
            </a:r>
            <a:r>
              <a:rPr b="1" dirty="0"/>
              <a:t> cheaper and faster</a:t>
            </a:r>
          </a:p>
          <a:p>
            <a:r>
              <a:rPr dirty="0"/>
              <a:t> Ideal for agents: the tools and system prompt are identical every turn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 Order matters: put the</a:t>
            </a:r>
            <a:r>
              <a:rPr b="1" dirty="0"/>
              <a:t> stable</a:t>
            </a:r>
            <a:r>
              <a:rPr dirty="0"/>
              <a:t> stuff first, the</a:t>
            </a:r>
            <a:r>
              <a:rPr b="1" dirty="0"/>
              <a:t> changing</a:t>
            </a:r>
            <a:r>
              <a:rPr dirty="0"/>
              <a:t> stuff last.</a:t>
            </a:r>
          </a:p>
          <a:p>
            <a:endParaRPr dirty="0"/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2" y="3463131"/>
            <a:ext cx="7264400" cy="1587500"/>
          </a:xfrm>
          <a:prstGeom prst="rect">
            <a:avLst/>
          </a:prstGeom>
        </p:spPr>
      </p:pic>
      <p:pic>
        <p:nvPicPr>
          <p:cNvPr id="6" name="Picture 5" descr="pexels-dash-cryptocurrency-48865747-758436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261" y="5628978"/>
            <a:ext cx="1894051" cy="13258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58762" y="7034527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Your tool specs don't change every turn — stop paying to re-read them. Cache the prefix.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Habits for Claude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Max-steps cap</a:t>
            </a:r>
            <a:r>
              <a:t> and a token budget — enforced in code, not hoped for</a:t>
            </a:r>
          </a:p>
          <a:p>
            <a:r>
              <a:rPr b="1"/>
              <a:t> Human gate</a:t>
            </a:r>
            <a:r>
              <a:t> on every</a:t>
            </a:r>
            <a:r>
              <a:rPr>
                <a:latin typeface="Courier New"/>
              </a:rPr>
              <a:t> dangerous</a:t>
            </a:r>
            <a:r>
              <a:t> tool:</a:t>
            </a:r>
            <a:r>
              <a:rPr>
                <a:latin typeface="Courier New"/>
              </a:rPr>
              <a:t> write_file</a:t>
            </a:r>
            <a:r>
              <a:t> ,</a:t>
            </a:r>
            <a:r>
              <a:rPr>
                <a:latin typeface="Courier New"/>
              </a:rPr>
              <a:t> run_python</a:t>
            </a:r>
            <a:r>
              <a:t> , sends, deletes</a:t>
            </a:r>
          </a:p>
          <a:p>
            <a:r>
              <a:rPr b="1"/>
              <a:t> Sandbox</a:t>
            </a:r>
            <a:r>
              <a:t> code execution — temp dir, timeout, bounded output, no network</a:t>
            </a:r>
          </a:p>
          <a:p>
            <a:r>
              <a:t> Treat</a:t>
            </a:r>
            <a:r>
              <a:rPr b="1"/>
              <a:t> file contents and tool output as untrusted data</a:t>
            </a:r>
            <a:r>
              <a:t> , not instructions</a:t>
            </a:r>
          </a:p>
          <a:p>
            <a:r>
              <a:rPr b="1"/>
              <a:t> Log</a:t>
            </a:r>
            <a:r>
              <a:t> every tool call (name, args, safety class, result) to JSONL</a:t>
            </a:r>
          </a:p>
          <a:p>
            <a:r>
              <a:rPr b="1"/>
              <a:t> Least privilege</a:t>
            </a:r>
            <a:r>
              <a:t> — the smallest toolset that gets the job done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91782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Same five habits from Lab 1. A more capable model raises the stakes, not the rules.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</a:t>
            </a:r>
            <a:r>
              <a:rPr b="1"/>
              <a:t> Messages API</a:t>
            </a:r>
            <a:r>
              <a:t> is stateless — you own the memory and the loop</a:t>
            </a:r>
          </a:p>
          <a:p>
            <a:r>
              <a:rPr b="1"/>
              <a:t> Tool use</a:t>
            </a:r>
            <a:r>
              <a:t> is a turn-taking conversation ending in</a:t>
            </a:r>
            <a:r>
              <a:rPr>
                <a:latin typeface="Courier New"/>
              </a:rPr>
              <a:t> end_turn</a:t>
            </a:r>
          </a:p>
          <a:p>
            <a:r>
              <a:t> Pick the model by job:</a:t>
            </a:r>
            <a:r>
              <a:rPr b="1"/>
              <a:t> Haiku</a:t>
            </a:r>
            <a:r>
              <a:t> volume,</a:t>
            </a:r>
            <a:r>
              <a:rPr b="1"/>
              <a:t> Sonnet</a:t>
            </a:r>
            <a:r>
              <a:t> default,</a:t>
            </a:r>
            <a:r>
              <a:rPr b="1"/>
              <a:t> Opus</a:t>
            </a:r>
            <a:r>
              <a:t> hard problems</a:t>
            </a:r>
          </a:p>
          <a:p>
            <a:r>
              <a:rPr b="1"/>
              <a:t> Manage context</a:t>
            </a:r>
            <a:r>
              <a:t> in tiers: scratchpad, summary, external file</a:t>
            </a:r>
          </a:p>
          <a:p>
            <a:r>
              <a:rPr b="1"/>
              <a:t> Prompt caching</a:t>
            </a:r>
            <a:r>
              <a:t> cuts cost/latency on the stable prefix</a:t>
            </a:r>
          </a:p>
          <a:p>
            <a:r>
              <a:rPr b="1"/>
              <a:t> Cap, gate, sandbox, log</a:t>
            </a:r>
            <a:r>
              <a:t> — safety scales with capability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have the pattern and the API. Next, build a coding assistant that remembers.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14 — Claude Coding Assistant with Persistent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Stop here and run Lab 14.</a:t>
            </a:r>
          </a:p>
          <a:p>
            <a:r>
              <a:t> You will:</a:t>
            </a:r>
          </a:p>
          <a:p>
            <a:r>
              <a:t> Build a tool-use loop on the</a:t>
            </a:r>
            <a:r>
              <a:rPr b="1"/>
              <a:t> Messages API</a:t>
            </a:r>
            <a:r>
              <a:t> with</a:t>
            </a:r>
            <a:r>
              <a:rPr>
                <a:latin typeface="Courier New"/>
              </a:rPr>
              <a:t> claude-sonnet-5</a:t>
            </a:r>
            <a:r>
              <a:t> .</a:t>
            </a:r>
          </a:p>
          <a:p>
            <a:r>
              <a:t> Wire four tools:</a:t>
            </a:r>
            <a:r>
              <a:rPr>
                <a:latin typeface="Courier New"/>
              </a:rPr>
              <a:t> read_file</a:t>
            </a:r>
            <a:r>
              <a:t> ,</a:t>
            </a:r>
            <a:r>
              <a:rPr>
                <a:latin typeface="Courier New"/>
              </a:rPr>
              <a:t> write_file</a:t>
            </a:r>
            <a:r>
              <a:t> (gated),</a:t>
            </a:r>
            <a:r>
              <a:rPr>
                <a:latin typeface="Courier New"/>
              </a:rPr>
              <a:t> run_python</a:t>
            </a:r>
            <a:r>
              <a:t> (sandboxed),</a:t>
            </a:r>
            <a:r>
              <a:rPr>
                <a:latin typeface="Courier New"/>
              </a:rPr>
              <a:t> remember</a:t>
            </a:r>
            <a:r>
              <a:t> .</a:t>
            </a:r>
          </a:p>
          <a:p>
            <a:r>
              <a:t> Load a</a:t>
            </a:r>
          </a:p>
          <a:p>
            <a:r>
              <a:rPr b="1" i="1"/>
              <a:t> memory.json</a:t>
            </a:r>
            <a:r>
              <a:t> at start and update it across sessions.</a:t>
            </a:r>
          </a:p>
          <a:p>
            <a:r>
              <a:t> Enforce a</a:t>
            </a:r>
            <a:r>
              <a:rPr b="1"/>
              <a:t> max-steps cap</a:t>
            </a:r>
            <a:r>
              <a:t> and a</a:t>
            </a:r>
            <a:r>
              <a:rPr b="1"/>
              <a:t> human gate</a:t>
            </a:r>
            <a:r>
              <a:t> on</a:t>
            </a:r>
            <a:r>
              <a:rPr>
                <a:latin typeface="Courier New"/>
              </a:rPr>
              <a:t> write_file</a:t>
            </a:r>
            <a:r>
              <a:t> and</a:t>
            </a:r>
            <a:r>
              <a:rPr>
                <a:latin typeface="Courier New"/>
              </a:rPr>
              <a:t> run_python</a:t>
            </a:r>
            <a:r>
              <a:t> .</a:t>
            </a:r>
          </a:p>
          <a:p>
            <a:r>
              <a:t> Summarize old turns to keep context bounded, and log every tool call.</a:t>
            </a:r>
          </a:p>
          <a:p>
            <a:r>
              <a:rPr b="1"/>
              <a:t> Deliverable:</a:t>
            </a:r>
            <a:r>
              <a:t> a runnable</a:t>
            </a:r>
            <a:r>
              <a:rPr>
                <a:latin typeface="Courier New"/>
              </a:rPr>
              <a:t> coding_assistant.py</a:t>
            </a:r>
            <a:r>
              <a:t> that fixes a bug across two sessions, using persistent memory and gated writes.</a:t>
            </a:r>
          </a:p>
          <a:p>
            <a:r>
              <a:rPr b="1"/>
              <a:t> Time:</a:t>
            </a:r>
            <a:r>
              <a:t>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378297</TotalTime>
  <Words>1392</Words>
  <Application>Microsoft Macintosh PowerPoint</Application>
  <PresentationFormat>Custom</PresentationFormat>
  <Paragraphs>151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Agentic with Claude</vt:lpstr>
      <vt:lpstr>Part IV K–L — What We'll Cover</vt:lpstr>
      <vt:lpstr>The Messages API</vt:lpstr>
      <vt:lpstr>The Claude Model Family</vt:lpstr>
      <vt:lpstr>How Tool Use Works</vt:lpstr>
      <vt:lpstr>Defining a Tool</vt:lpstr>
      <vt:lpstr>The Tool-Use Loop</vt:lpstr>
      <vt:lpstr>A Multi-Tool Coding Assistant</vt:lpstr>
      <vt:lpstr>Memory &amp; Context Management</vt:lpstr>
      <vt:lpstr>Summarizing Old Turns</vt:lpstr>
      <vt:lpstr>External Memory — </vt:lpstr>
      <vt:lpstr>Prompt Caching</vt:lpstr>
      <vt:lpstr>Safety Habits for Claude Agents</vt:lpstr>
      <vt:lpstr>Putting It Together</vt:lpstr>
      <vt:lpstr>Lab 14 — Claude Coding Assistant with Persistent Memory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2026-10-23T03:07:07Z</dcterms:modified>
</cp:coreProperties>
</file>