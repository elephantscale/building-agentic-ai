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1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372600" cy="829786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Garamond" pitchFamily="18" charset="0"/>
        <a:ea typeface="ＭＳ Ｐゴシック"/>
        <a:cs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614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y Conlee" initials="MC" lastIdx="1" clrIdx="0"/>
  <p:cmAuthor id="2" name="Mark Kerzner" initials="MK" lastIdx="6" clrIdx="1"/>
  <p:cmAuthor id="3" name="Mary Beth Conlee" initials="MBC" lastIdx="7" clrIdx="2"/>
  <p:cmAuthor id="4" name="Michelle" initials="M" lastIdx="5" clrIdx="3"/>
  <p:cmAuthor id="5" name="Tricia Murphy" initials="TM" lastIdx="4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1A1A"/>
    <a:srgbClr val="D6B8EB"/>
    <a:srgbClr val="A77EC7"/>
    <a:srgbClr val="B59BC7"/>
    <a:srgbClr val="C7AAD9"/>
    <a:srgbClr val="C89EDF"/>
    <a:srgbClr val="BD83DF"/>
    <a:srgbClr val="CB89DF"/>
    <a:srgbClr val="CA87D1"/>
    <a:srgbClr val="CF86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59" autoAdjust="0"/>
    <p:restoredTop sz="86027" autoAdjust="0"/>
  </p:normalViewPr>
  <p:slideViewPr>
    <p:cSldViewPr>
      <p:cViewPr varScale="1">
        <p:scale>
          <a:sx n="90" d="100"/>
          <a:sy n="90" d="100"/>
        </p:scale>
        <p:origin x="3312" y="192"/>
      </p:cViewPr>
      <p:guideLst>
        <p:guide orient="horz" pos="2614"/>
        <p:guide pos="2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5" d="100"/>
        <a:sy n="85" d="100"/>
      </p:scale>
      <p:origin x="0" y="0"/>
    </p:cViewPr>
  </p:sorterViewPr>
  <p:notesViewPr>
    <p:cSldViewPr>
      <p:cViewPr>
        <p:scale>
          <a:sx n="80" d="100"/>
          <a:sy n="80" d="100"/>
        </p:scale>
        <p:origin x="3296" y="-56"/>
      </p:cViewPr>
      <p:guideLst>
        <p:guide orient="horz" pos="3024"/>
        <p:guide pos="23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336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336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6603" tIns="48303" rIns="96603" bIns="48303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97E62689-8C7D-4291-A094-4E689FEC4C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92915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68375" y="473075"/>
            <a:ext cx="5365750" cy="4751388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8280" name="Rectangle 8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365250" y="9388475"/>
            <a:ext cx="4578350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1" compatLnSpc="1">
            <a:prstTxWarp prst="textNoShape">
              <a:avLst/>
            </a:prstTxWarp>
          </a:bodyPr>
          <a:lstStyle>
            <a:lvl1pPr algn="ctr" defTabSz="965200" eaLnBrk="0" hangingPunct="0">
              <a:defRPr sz="900">
                <a:latin typeface="Arial" charset="0"/>
              </a:defRPr>
            </a:lvl1pPr>
          </a:lstStyle>
          <a:p>
            <a:pPr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438281" name="Rectangle 9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400800" y="9388475"/>
            <a:ext cx="554038" cy="173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defTabSz="965200" eaLnBrk="0" hangingPunct="0">
              <a:defRPr b="1">
                <a:latin typeface="Arial" charset="0"/>
              </a:defRPr>
            </a:lvl1pPr>
          </a:lstStyle>
          <a:p>
            <a:pPr>
              <a:defRPr/>
            </a:pPr>
            <a:fld id="{EFAADD5D-AF76-45EE-AA5F-6DAC73BF16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8306" name="Text Box 34"/>
          <p:cNvSpPr txBox="1">
            <a:spLocks noChangeArrowheads="1"/>
          </p:cNvSpPr>
          <p:nvPr/>
        </p:nvSpPr>
        <p:spPr bwMode="auto">
          <a:xfrm>
            <a:off x="271463" y="5176838"/>
            <a:ext cx="617537" cy="25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6386" tIns="48194" rIns="96386" bIns="48194"/>
          <a:lstStyle/>
          <a:p>
            <a:pPr defTabSz="960438">
              <a:defRPr/>
            </a:pPr>
            <a:r>
              <a:rPr lang="en-US" sz="1200" b="1" u="sng" dirty="0">
                <a:latin typeface="Times New Roman" pitchFamily="18" charset="0"/>
                <a:cs typeface="Times New Roman" pitchFamily="18" charset="0"/>
              </a:rPr>
              <a:t>Notes:</a:t>
            </a:r>
          </a:p>
        </p:txBody>
      </p:sp>
      <p:sp>
        <p:nvSpPr>
          <p:cNvPr id="438309" name="Rectangle 37"/>
          <p:cNvSpPr>
            <a:spLocks noGrp="1" noChangeArrowheads="1"/>
          </p:cNvSpPr>
          <p:nvPr>
            <p:ph type="body" sz="quarter" idx="3"/>
          </p:nvPr>
        </p:nvSpPr>
        <p:spPr bwMode="gray">
          <a:xfrm>
            <a:off x="322263" y="5462588"/>
            <a:ext cx="6607175" cy="375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537" tIns="45768" rIns="91537" bIns="45768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 dirty="0"/>
          </a:p>
        </p:txBody>
      </p:sp>
      <p:sp>
        <p:nvSpPr>
          <p:cNvPr id="438317" name="Line 45"/>
          <p:cNvSpPr>
            <a:spLocks noChangeShapeType="1"/>
          </p:cNvSpPr>
          <p:nvPr/>
        </p:nvSpPr>
        <p:spPr bwMode="auto">
          <a:xfrm>
            <a:off x="322263" y="9324975"/>
            <a:ext cx="6653212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30000"/>
              </a:spcBef>
              <a:defRPr/>
            </a:pPr>
            <a:endParaRPr lang="en-US" dirty="0">
              <a:latin typeface="Garamond" pitchFamily="-110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374403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indent="0" algn="l" rtl="0" eaLnBrk="0" fontAlgn="base" hangingPunct="0">
      <a:spcBef>
        <a:spcPct val="30000"/>
      </a:spcBef>
      <a:spcAft>
        <a:spcPct val="0"/>
      </a:spcAft>
      <a:buSzPct val="65000"/>
      <a:buFont typeface="Wingdings" pitchFamily="2" charset="2"/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 pitchFamily="-110" charset="-128"/>
      </a:defRPr>
    </a:lvl1pPr>
    <a:lvl2pPr marL="282575" indent="0" algn="l" rtl="0" eaLnBrk="0" fontAlgn="base" hangingPunct="0">
      <a:spcBef>
        <a:spcPct val="30000"/>
      </a:spcBef>
      <a:spcAft>
        <a:spcPct val="0"/>
      </a:spcAft>
      <a:buNone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2pPr>
    <a:lvl3pPr marL="744538" indent="-173038" algn="l" rtl="0" eaLnBrk="0" fontAlgn="base" hangingPunct="0">
      <a:spcBef>
        <a:spcPct val="30000"/>
      </a:spcBef>
      <a:spcAft>
        <a:spcPct val="0"/>
      </a:spcAft>
      <a:buChar char="•"/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110" charset="0"/>
        <a:ea typeface="ＭＳ Ｐゴシック" pitchFamily="-110" charset="-128"/>
        <a:cs typeface="ＭＳ Ｐゴシック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 preferRelativeResize="0">
            <a:picLocks noChangeArrowheads="1"/>
          </p:cNvPicPr>
          <p:nvPr/>
        </p:nvPicPr>
        <p:blipFill rotWithShape="1">
          <a:blip r:embed="rId2"/>
          <a:srcRect t="19473"/>
          <a:stretch/>
        </p:blipFill>
        <p:spPr bwMode="auto">
          <a:xfrm>
            <a:off x="1" y="-1801"/>
            <a:ext cx="2498725" cy="83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04898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8726" y="4984481"/>
            <a:ext cx="6335713" cy="400685"/>
          </a:xfrm>
        </p:spPr>
        <p:txBody>
          <a:bodyPr>
            <a:spAutoFit/>
          </a:bodyPr>
          <a:lstStyle>
            <a:lvl1pPr marL="0" indent="0" algn="r">
              <a:buFont typeface="Monotype Sorts" pitchFamily="-110" charset="2"/>
              <a:buNone/>
              <a:defRPr sz="20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04900" name="Rectangle 4"/>
          <p:cNvSpPr>
            <a:spLocks noGrp="1" noChangeArrowheads="1"/>
          </p:cNvSpPr>
          <p:nvPr>
            <p:ph type="ctrTitle" sz="quarter"/>
          </p:nvPr>
        </p:nvSpPr>
        <p:spPr>
          <a:xfrm>
            <a:off x="704850" y="3226947"/>
            <a:ext cx="8121650" cy="1469414"/>
          </a:xfrm>
        </p:spPr>
        <p:txBody>
          <a:bodyPr lIns="91440" anchor="ctr"/>
          <a:lstStyle>
            <a:lvl1pPr algn="ctr" defTabSz="1825625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EF9825-4C23-4085-A4E3-B5565466BD91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762500" y="994975"/>
            <a:ext cx="4375150" cy="33210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762500" y="4500439"/>
            <a:ext cx="4375150" cy="3322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0E4B02-67B9-4228-B08B-2561CEE6B9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4850" y="1"/>
            <a:ext cx="8667750" cy="83554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23495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2500" y="994976"/>
            <a:ext cx="4375150" cy="6828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CC632-9864-46F1-8EAB-FCD3BB9CEC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4950" y="994976"/>
            <a:ext cx="8902700" cy="682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03876" name="Rectangle 4"/>
          <p:cNvSpPr>
            <a:spLocks noGrp="1" noChangeArrowheads="1"/>
          </p:cNvSpPr>
          <p:nvPr>
            <p:ph type="sldNum" sz="quarter" idx="4"/>
          </p:nvPr>
        </p:nvSpPr>
        <p:spPr bwMode="hidden">
          <a:xfrm>
            <a:off x="8777288" y="7961724"/>
            <a:ext cx="546100" cy="272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rgbClr val="000000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fld id="{77EF9825-4C23-4085-A4E3-B5565466BD9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103877" name="Rectangle 5"/>
          <p:cNvSpPr>
            <a:spLocks noGrp="1" noChangeArrowheads="1"/>
          </p:cNvSpPr>
          <p:nvPr>
            <p:ph type="ftr" sz="quarter" idx="3"/>
          </p:nvPr>
        </p:nvSpPr>
        <p:spPr bwMode="hidden">
          <a:xfrm>
            <a:off x="234950" y="8032785"/>
            <a:ext cx="5441950" cy="1384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ctr" eaLnBrk="0" hangingPunct="0">
              <a:spcBef>
                <a:spcPct val="0"/>
              </a:spcBef>
              <a:defRPr sz="9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l">
              <a:defRPr/>
            </a:pPr>
            <a:r>
              <a:rPr lang="en-US" dirty="0"/>
              <a:t>Copyright © 2017 Elephant Scale. All rights reserved.</a:t>
            </a:r>
          </a:p>
        </p:txBody>
      </p:sp>
      <p:pic>
        <p:nvPicPr>
          <p:cNvPr id="1030" name="Picture 6"/>
          <p:cNvPicPr preferRelativeResize="0">
            <a:picLocks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ltGray">
          <a:xfrm>
            <a:off x="0" y="1"/>
            <a:ext cx="704850" cy="835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7"/>
          <p:cNvSpPr>
            <a:spLocks noGrp="1" noChangeArrowheads="1"/>
          </p:cNvSpPr>
          <p:nvPr>
            <p:ph type="title"/>
          </p:nvPr>
        </p:nvSpPr>
        <p:spPr bwMode="invGray">
          <a:xfrm>
            <a:off x="704850" y="1"/>
            <a:ext cx="8667750" cy="835549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</p:spPr>
        <p:txBody>
          <a:bodyPr vert="horz" wrap="square" lIns="92007" tIns="46005" rIns="92007" bIns="46005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5" r:id="rId2"/>
    <p:sldLayoutId id="2147483654" r:id="rId3"/>
    <p:sldLayoutId id="2147483653" r:id="rId4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  <a:ea typeface="ＭＳ Ｐゴシック" pitchFamily="-110" charset="-128"/>
          <a:cs typeface="ＭＳ Ｐゴシック" pitchFamily="-110" charset="-128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Verdana" pitchFamily="-110" charset="0"/>
        </a:defRPr>
      </a:lvl9pPr>
    </p:titleStyle>
    <p:bodyStyle>
      <a:lvl1pPr marL="290513" indent="-290513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5000"/>
        <a:buFont typeface="Wingdings" pitchFamily="2" charset="2"/>
        <a:buChar char=""/>
        <a:defRPr sz="2400">
          <a:solidFill>
            <a:srgbClr val="000000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633413" indent="-228600" algn="l" rtl="0" eaLnBrk="0" fontAlgn="base" hangingPunct="0">
        <a:spcBef>
          <a:spcPct val="20000"/>
        </a:spcBef>
        <a:spcAft>
          <a:spcPct val="0"/>
        </a:spcAft>
        <a:buClr>
          <a:srgbClr val="000000"/>
        </a:buClr>
        <a:buChar char="–"/>
        <a:defRPr sz="22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2pPr>
      <a:lvl3pPr marL="969963" indent="-22225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3pPr>
      <a:lvl4pPr marL="1258888" indent="-228600" algn="l" rtl="0" eaLnBrk="0" fontAlgn="base" hangingPunct="0">
        <a:spcBef>
          <a:spcPct val="0"/>
        </a:spcBef>
        <a:spcAft>
          <a:spcPct val="0"/>
        </a:spcAft>
        <a:buClr>
          <a:srgbClr val="5F5F5F"/>
        </a:buClr>
        <a:buSzPct val="65000"/>
        <a:buFont typeface="Arial Bold" pitchFamily="34" charset="0"/>
        <a:buChar char="‒"/>
        <a:defRPr lang="en-US" dirty="0">
          <a:solidFill>
            <a:srgbClr val="000000"/>
          </a:solidFill>
          <a:latin typeface="+mn-lt"/>
          <a:ea typeface="ＭＳ Ｐゴシック" pitchFamily="-110" charset="-128"/>
          <a:cs typeface="ＭＳ Ｐゴシック"/>
        </a:defRPr>
      </a:lvl4pPr>
      <a:lvl5pPr marL="20558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  <a:cs typeface="ＭＳ Ｐゴシック"/>
        </a:defRPr>
      </a:lvl5pPr>
      <a:lvl6pPr marL="25130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6pPr>
      <a:lvl7pPr marL="29702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7pPr>
      <a:lvl8pPr marL="34274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8pPr>
      <a:lvl9pPr marL="3884613" indent="-230188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defRPr sz="800">
          <a:solidFill>
            <a:schemeClr val="tx1"/>
          </a:solidFill>
          <a:latin typeface="Times New Roman" pitchFamily="-110" charset="0"/>
          <a:ea typeface="ＭＳ Ｐゴシック" pitchFamily="-110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itle 2"/>
          <p:cNvSpPr>
            <a:spLocks noGrp="1"/>
          </p:cNvSpPr>
          <p:nvPr>
            <p:ph type="ctrTitle" sz="quarter"/>
          </p:nvPr>
        </p:nvSpPr>
        <p:spPr/>
        <p:txBody>
          <a:bodyPr wrap="square">
            <a:noAutofit/>
          </a:bodyPr>
          <a:lstStyle/>
          <a:p>
            <a:r>
              <a:rPr sz="4200" b="1" i="0">
                <a:latin typeface="Times New Roman"/>
              </a:rPr>
              <a:t>Agentic with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IV K–L — What We'll Cover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Anthropic's</a:t>
            </a:r>
            <a:r>
              <a:rPr b="1"/>
              <a:t> Messages API</a:t>
            </a:r>
            <a:r>
              <a:t> and how</a:t>
            </a:r>
            <a:r>
              <a:rPr b="1"/>
              <a:t> tool use</a:t>
            </a:r>
            <a:r>
              <a:t> works</a:t>
            </a:r>
          </a:p>
          <a:p>
            <a:r>
              <a:t> The</a:t>
            </a:r>
            <a:r>
              <a:rPr b="1"/>
              <a:t> Claude model family</a:t>
            </a:r>
            <a:r>
              <a:t> — Opus vs. Sonnet vs. Haiku, and when to pick each</a:t>
            </a:r>
          </a:p>
          <a:p>
            <a:r>
              <a:t> Building a</a:t>
            </a:r>
            <a:r>
              <a:rPr b="1"/>
              <a:t> multi-tool coding assistant</a:t>
            </a:r>
          </a:p>
          <a:p>
            <a:r>
              <a:rPr b="1"/>
              <a:t> Memory &amp; context management</a:t>
            </a:r>
            <a:r>
              <a:t> — the window, summarization, external files</a:t>
            </a:r>
          </a:p>
          <a:p>
            <a:r>
              <a:rPr b="1"/>
              <a:t> Prompt caching</a:t>
            </a:r>
            <a:r>
              <a:t> — pay once for the stable prefix</a:t>
            </a:r>
          </a:p>
          <a:p>
            <a:r>
              <a:rPr b="1"/>
              <a:t> Safety habits</a:t>
            </a:r>
            <a:r>
              <a:t> for an agent that reads and writes files and runs code</a:t>
            </a:r>
          </a:p>
          <a:p>
            <a:r>
              <a:t> Lab 14: a Claude coding assistant with persistent memory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686397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The API is small. The discipline — tools, memory, gates — is the whole job.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Messages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One endpoint: a list of</a:t>
            </a:r>
            <a:r>
              <a:rPr>
                <a:latin typeface="Courier New"/>
              </a:rPr>
              <a:t> messages</a:t>
            </a:r>
            <a:r>
              <a:t> (</a:t>
            </a:r>
            <a:r>
              <a:rPr>
                <a:latin typeface="Courier New"/>
              </a:rPr>
              <a:t> user</a:t>
            </a:r>
            <a:r>
              <a:t> /</a:t>
            </a:r>
            <a:r>
              <a:rPr>
                <a:latin typeface="Courier New"/>
              </a:rPr>
              <a:t> assistant</a:t>
            </a:r>
            <a:r>
              <a:t> ) + a top-level</a:t>
            </a:r>
            <a:r>
              <a:rPr>
                <a:latin typeface="Courier New"/>
              </a:rPr>
              <a:t> system</a:t>
            </a:r>
            <a:r>
              <a:t> prompt</a:t>
            </a:r>
          </a:p>
          <a:p>
            <a:r>
              <a:t> You always send the</a:t>
            </a:r>
            <a:r>
              <a:rPr b="1"/>
              <a:t> full conversation</a:t>
            </a:r>
            <a:r>
              <a:t> back — the API is</a:t>
            </a:r>
            <a:r>
              <a:rPr b="1"/>
              <a:t> stateless</a:t>
            </a:r>
          </a:p>
          <a:p>
            <a:r>
              <a:t> Response carries</a:t>
            </a:r>
          </a:p>
          <a:p>
            <a:r>
              <a:rPr b="1" i="1"/>
              <a:t> content</a:t>
            </a:r>
            <a:r>
              <a:t> (text and/or</a:t>
            </a:r>
            <a:r>
              <a:rPr>
                <a:latin typeface="Courier New"/>
              </a:rPr>
              <a:t> tool_use</a:t>
            </a:r>
            <a:r>
              <a:t> ) and a</a:t>
            </a:r>
          </a:p>
          <a:p>
            <a:r>
              <a:rPr b="1" i="1"/>
              <a:t> stop_reason</a:t>
            </a:r>
          </a:p>
          <a:p>
            <a:endParaRPr b="1" i="1"/>
          </a:p>
          <a:p>
            <a:endParaRPr b="1" i="1"/>
          </a:p>
          <a:p>
            <a:endParaRPr b="1" i="1"/>
          </a:p>
          <a:p>
            <a:endParaRPr b="1" i="1"/>
          </a:p>
          <a:p>
            <a:endParaRPr b="1" i="1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" y="4409201"/>
            <a:ext cx="9372280" cy="23430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63525" y="7173690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Stateless means you own the memory. That's a burden and a superpower — you control context.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Claude Model Family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r>
              <a:t> Same API and tool-use shape across all three — swap the</a:t>
            </a:r>
            <a:r>
              <a:rPr>
                <a:latin typeface="Courier New"/>
              </a:rPr>
              <a:t> model</a:t>
            </a:r>
            <a:r>
              <a:t> string.</a:t>
            </a:r>
          </a:p>
          <a:p>
            <a:r>
              <a:t> Common pattern:</a:t>
            </a:r>
            <a:r>
              <a:rPr b="1"/>
              <a:t> Haiku routes / triages</a:t>
            </a:r>
            <a:r>
              <a:t> ,</a:t>
            </a:r>
            <a:r>
              <a:rPr b="1"/>
              <a:t> Sonnet does the work</a:t>
            </a:r>
            <a:r>
              <a:t> ,</a:t>
            </a:r>
            <a:r>
              <a:rPr b="1"/>
              <a:t> Opus for the hard 5%</a:t>
            </a:r>
            <a:r>
              <a:t> .</a:t>
            </a:r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744" y="914400"/>
          <a:ext cx="89154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Pick it for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b="1"/>
                        <a:t>Opus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claude-opus-5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Hardest reasoning, big refactors, deep planning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b="1"/>
                        <a:t>Sonnet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claude-sonnet-5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The workhorse — coding, tool use, most agents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b="1"/>
                        <a:t>Haiku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>
                          <a:latin typeface="Courier New"/>
                        </a:rPr>
                        <a:t>claude-haiku-4-5-20251001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Fast, cheap: routing, classify, extract, high volume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6" name="Picture 5" descr="The_Claude_Van_Damme_Fami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0" y="4686804"/>
            <a:ext cx="3012059" cy="200803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95300" y="6945602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Default to Sonnet. Drop to Haiku for volume, reach for Opus only when Sonnet stalls.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Tool Use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You describe tools with a</a:t>
            </a:r>
            <a:r>
              <a:rPr b="1"/>
              <a:t> name, description, and</a:t>
            </a:r>
            <a:r>
              <a:t> (JSON Schema)</a:t>
            </a:r>
          </a:p>
          <a:p>
            <a:r>
              <a:t> Claude replies with a</a:t>
            </a:r>
            <a:r>
              <a:rPr>
                <a:latin typeface="Courier New"/>
              </a:rPr>
              <a:t> tool_use</a:t>
            </a:r>
            <a:r>
              <a:t> block and</a:t>
            </a:r>
            <a:r>
              <a:rPr>
                <a:latin typeface="Courier New"/>
              </a:rPr>
              <a:t> stop_reason="tool_use"</a:t>
            </a:r>
          </a:p>
          <a:p>
            <a:r>
              <a:t> You run the tool and send a</a:t>
            </a:r>
            <a:r>
              <a:rPr>
                <a:latin typeface="Courier New"/>
              </a:rPr>
              <a:t> tool_result</a:t>
            </a:r>
            <a:r>
              <a:t> block back as a new</a:t>
            </a:r>
            <a:r>
              <a:rPr>
                <a:latin typeface="Courier New"/>
              </a:rPr>
              <a:t> user</a:t>
            </a:r>
            <a:r>
              <a:t> message</a:t>
            </a:r>
          </a:p>
          <a:p>
            <a:r>
              <a:t> Loop until</a:t>
            </a:r>
            <a:r>
              <a:rPr>
                <a:latin typeface="Courier New"/>
              </a:rPr>
              <a:t> stop_reason="end_turn"</a:t>
            </a:r>
            <a:r>
              <a:t> — same ReAct loop, native shape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0" y="4409201"/>
            <a:ext cx="9093200" cy="787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9100" y="6945602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Tool use is a conversation, not a callback. You and Claude take turns until it's done.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Defining a Tool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endParaRPr dirty="0"/>
          </a:p>
          <a:p>
            <a:endParaRPr dirty="0"/>
          </a:p>
          <a:p>
            <a:endParaRPr lang="en-US" dirty="0"/>
          </a:p>
          <a:p>
            <a:endParaRPr dirty="0"/>
          </a:p>
          <a:p>
            <a:r>
              <a:rPr dirty="0"/>
              <a:t> The</a:t>
            </a:r>
            <a:r>
              <a:rPr b="1" dirty="0"/>
              <a:t> description is the API</a:t>
            </a:r>
            <a:r>
              <a:rPr dirty="0"/>
              <a:t> — Claude only knows what you tell it here.</a:t>
            </a:r>
          </a:p>
          <a:p>
            <a:r>
              <a:rPr dirty="0"/>
              <a:t> Give each tool a</a:t>
            </a:r>
            <a:r>
              <a:rPr b="1" dirty="0"/>
              <a:t> safety class</a:t>
            </a:r>
            <a:r>
              <a:rPr dirty="0"/>
              <a:t> :</a:t>
            </a:r>
            <a:r>
              <a:rPr dirty="0">
                <a:latin typeface="Courier New"/>
              </a:rPr>
              <a:t> </a:t>
            </a:r>
            <a:r>
              <a:rPr dirty="0" err="1">
                <a:latin typeface="Courier New"/>
              </a:rPr>
              <a:t>read_file</a:t>
            </a:r>
            <a:r>
              <a:rPr dirty="0"/>
              <a:t> is</a:t>
            </a:r>
            <a:r>
              <a:rPr dirty="0">
                <a:latin typeface="Courier New"/>
              </a:rPr>
              <a:t> safe</a:t>
            </a:r>
            <a:r>
              <a:rPr dirty="0"/>
              <a:t> ;</a:t>
            </a:r>
            <a:r>
              <a:rPr dirty="0">
                <a:latin typeface="Courier New"/>
              </a:rPr>
              <a:t> </a:t>
            </a:r>
            <a:r>
              <a:rPr dirty="0" err="1">
                <a:latin typeface="Courier New"/>
              </a:rPr>
              <a:t>write_file</a:t>
            </a:r>
            <a:r>
              <a:rPr dirty="0"/>
              <a:t> is</a:t>
            </a:r>
            <a:r>
              <a:rPr dirty="0">
                <a:latin typeface="Courier New"/>
              </a:rPr>
              <a:t> dangerous</a:t>
            </a:r>
            <a:r>
              <a:rPr dirty="0"/>
              <a:t> .</a:t>
            </a:r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4245"/>
            <a:ext cx="8915400" cy="20567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9100" y="7026178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Write the description for the model, not for yourself. Vague tools get misused.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Tool-Use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" y="1321732"/>
            <a:ext cx="8915400" cy="285656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95300" y="7026178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One create call is one turn. The for loop with a cap is the agent.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Multi-Tool Coding Assistant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Give the agent a small, sharp toolset — that's Lab 14:</a:t>
            </a:r>
          </a:p>
          <a:p>
            <a:pPr lvl="1"/>
            <a:r>
              <a:rPr dirty="0">
                <a:latin typeface="Courier New"/>
              </a:rPr>
              <a:t> </a:t>
            </a:r>
            <a:r>
              <a:rPr dirty="0" err="1">
                <a:latin typeface="Courier New"/>
              </a:rPr>
              <a:t>read_file</a:t>
            </a:r>
            <a:r>
              <a:rPr dirty="0"/>
              <a:t> —</a:t>
            </a:r>
            <a:r>
              <a:rPr b="1" dirty="0"/>
              <a:t> safe</a:t>
            </a:r>
            <a:r>
              <a:rPr dirty="0"/>
              <a:t> , read source</a:t>
            </a:r>
          </a:p>
          <a:p>
            <a:pPr lvl="1"/>
            <a:r>
              <a:rPr dirty="0">
                <a:latin typeface="Courier New"/>
              </a:rPr>
              <a:t> </a:t>
            </a:r>
            <a:r>
              <a:rPr dirty="0" err="1">
                <a:latin typeface="Courier New"/>
              </a:rPr>
              <a:t>write_file</a:t>
            </a:r>
            <a:r>
              <a:rPr dirty="0"/>
              <a:t> —</a:t>
            </a:r>
            <a:r>
              <a:rPr b="1" dirty="0"/>
              <a:t> dangerous</a:t>
            </a:r>
            <a:r>
              <a:rPr dirty="0"/>
              <a:t> , gated behind human approval</a:t>
            </a:r>
          </a:p>
          <a:p>
            <a:pPr lvl="1"/>
            <a:r>
              <a:rPr dirty="0">
                <a:latin typeface="Courier New"/>
              </a:rPr>
              <a:t> </a:t>
            </a:r>
            <a:r>
              <a:rPr dirty="0" err="1">
                <a:latin typeface="Courier New"/>
              </a:rPr>
              <a:t>run_python</a:t>
            </a:r>
            <a:r>
              <a:rPr dirty="0"/>
              <a:t> —</a:t>
            </a:r>
            <a:r>
              <a:rPr b="1" dirty="0"/>
              <a:t> dangerous</a:t>
            </a:r>
            <a:r>
              <a:rPr dirty="0"/>
              <a:t> , sandboxed + time/output limited</a:t>
            </a:r>
          </a:p>
          <a:p>
            <a:pPr lvl="1"/>
            <a:r>
              <a:rPr dirty="0">
                <a:latin typeface="Courier New"/>
              </a:rPr>
              <a:t> remember</a:t>
            </a:r>
            <a:r>
              <a:rPr dirty="0"/>
              <a:t> — update a persistent</a:t>
            </a:r>
            <a:r>
              <a:rPr dirty="0">
                <a:latin typeface="Courier New"/>
              </a:rPr>
              <a:t> </a:t>
            </a:r>
            <a:r>
              <a:rPr dirty="0" err="1">
                <a:latin typeface="Courier New"/>
              </a:rPr>
              <a:t>memory.json</a:t>
            </a:r>
            <a:r>
              <a:rPr dirty="0"/>
              <a:t> across sessions</a:t>
            </a:r>
          </a:p>
          <a:p>
            <a:r>
              <a:rPr dirty="0"/>
              <a:t> Loop: read code -&gt; propose change -&gt;</a:t>
            </a:r>
            <a:r>
              <a:rPr b="1" dirty="0"/>
              <a:t> ask</a:t>
            </a:r>
            <a:r>
              <a:rPr dirty="0"/>
              <a:t> -&gt; write -&gt; run tests -&gt; report</a:t>
            </a:r>
          </a:p>
          <a:p>
            <a:endParaRPr dirty="0"/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250" y="4459406"/>
            <a:ext cx="8915400" cy="293836"/>
          </a:xfrm>
          <a:prstGeom prst="rect">
            <a:avLst/>
          </a:prstGeom>
        </p:spPr>
      </p:pic>
      <p:pic>
        <p:nvPicPr>
          <p:cNvPr id="6" name="Picture 5" descr="pexels-andreas-naslund-92380530-3056282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8250" y="4874033"/>
            <a:ext cx="3105912" cy="207156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95300" y="7066393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A coding agent is dangerous by definition — it edits files and runs code. Gate accordingly.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Memory &amp; Context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</a:t>
            </a:r>
            <a:r>
              <a:rPr b="1"/>
              <a:t> context window</a:t>
            </a:r>
            <a:r>
              <a:t> is large but</a:t>
            </a:r>
            <a:r>
              <a:rPr b="1"/>
              <a:t> finite</a:t>
            </a:r>
            <a:r>
              <a:t> — and you pay for every token, every turn</a:t>
            </a:r>
          </a:p>
          <a:p>
            <a:r>
              <a:t> Because the API is stateless,</a:t>
            </a:r>
            <a:r>
              <a:rPr b="1"/>
              <a:t> context = memory</a:t>
            </a:r>
            <a:r>
              <a:t> , and it has a budget</a:t>
            </a:r>
          </a:p>
          <a:p>
            <a:r>
              <a:t> Three tiers of memory:</a:t>
            </a:r>
          </a:p>
          <a:p>
            <a:pPr lvl="1"/>
            <a:r>
              <a:rPr b="1"/>
              <a:t> Short-term</a:t>
            </a:r>
            <a:r>
              <a:t> — the message list this session (the scratchpad)</a:t>
            </a:r>
          </a:p>
          <a:p>
            <a:pPr lvl="1"/>
            <a:r>
              <a:rPr b="1"/>
              <a:t> Compressed</a:t>
            </a:r>
            <a:r>
              <a:t> — summarize old turns once they stop earning their tokens</a:t>
            </a:r>
          </a:p>
          <a:p>
            <a:pPr lvl="1"/>
            <a:r>
              <a:rPr b="1"/>
              <a:t> Long-term</a:t>
            </a:r>
            <a:r>
              <a:t> — an external store (</a:t>
            </a:r>
            <a:r>
              <a:rPr>
                <a:latin typeface="Courier New"/>
              </a:rPr>
              <a:t> memory.json</a:t>
            </a:r>
            <a:r>
              <a:t> , files, a vector DB) read at start</a:t>
            </a:r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50" y="5400611"/>
            <a:ext cx="8642350" cy="41201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95300" y="6945602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 dirty="0">
                <a:solidFill>
                  <a:srgbClr val="333333"/>
                </a:solidFill>
              </a:rPr>
              <a:t>Context is working memory, not a filing cabinet. Summarize the old; store facts outside.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Summarizing Old Turns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When the transcript grows, replace old turns with a</a:t>
            </a:r>
            <a:r>
              <a:rPr b="1" dirty="0"/>
              <a:t> summary turn</a:t>
            </a:r>
            <a:r>
              <a:rPr dirty="0"/>
              <a:t> — keep tokens bounded</a:t>
            </a:r>
          </a:p>
          <a:p>
            <a:r>
              <a:rPr dirty="0"/>
              <a:t> Keep the</a:t>
            </a:r>
            <a:r>
              <a:rPr b="1" dirty="0"/>
              <a:t> system prompt</a:t>
            </a:r>
            <a:r>
              <a:rPr dirty="0"/>
              <a:t> , the</a:t>
            </a:r>
            <a:r>
              <a:rPr b="1" dirty="0"/>
              <a:t> last few turns</a:t>
            </a:r>
            <a:r>
              <a:rPr dirty="0"/>
              <a:t> , and a running</a:t>
            </a:r>
            <a:r>
              <a:rPr b="1" dirty="0"/>
              <a:t> summary</a:t>
            </a:r>
          </a:p>
          <a:p>
            <a:r>
              <a:rPr dirty="0"/>
              <a:t> Persist durable facts (decisions, file paths, preferences) to</a:t>
            </a:r>
            <a:r>
              <a:rPr b="1" dirty="0"/>
              <a:t> external memory</a:t>
            </a:r>
          </a:p>
          <a:p>
            <a:endParaRPr lang="en-US" b="1" dirty="0"/>
          </a:p>
          <a:p>
            <a:endParaRPr b="1" dirty="0"/>
          </a:p>
          <a:p>
            <a:r>
              <a:rPr dirty="0"/>
              <a:t> Trigger on a</a:t>
            </a:r>
            <a:r>
              <a:rPr b="1" dirty="0"/>
              <a:t> token budget</a:t>
            </a:r>
            <a:r>
              <a:rPr dirty="0"/>
              <a:t> , not turn count — measure, don't guess.</a:t>
            </a:r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25" y="3617609"/>
            <a:ext cx="9137650" cy="64969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42900" y="7106031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Don't let the window fill with stale scrollback. Compress the past; keep the present sharp.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External Memory —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A tiny file the agent</a:t>
            </a:r>
            <a:r>
              <a:rPr b="1"/>
              <a:t> reads at startup</a:t>
            </a:r>
            <a:r>
              <a:t> and</a:t>
            </a:r>
            <a:r>
              <a:rPr b="1"/>
              <a:t> updates</a:t>
            </a:r>
            <a:r>
              <a:t> as it learns</a:t>
            </a:r>
          </a:p>
          <a:p>
            <a:r>
              <a:t> Survives across sessions — the assistant "remembers" you tomorrow</a:t>
            </a:r>
          </a:p>
          <a:p>
            <a:r>
              <a:t> Keep it</a:t>
            </a:r>
            <a:r>
              <a:rPr b="1"/>
              <a:t> small, structured, and reviewable</a:t>
            </a:r>
            <a:r>
              <a:t> — it's injected into context each run</a:t>
            </a:r>
          </a:p>
          <a:p>
            <a:endParaRPr/>
          </a:p>
          <a:p>
            <a:endParaRPr/>
          </a:p>
          <a:p>
            <a:endParaRPr/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575" y="3666693"/>
            <a:ext cx="9286875" cy="180303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19100" y="702259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External memory is a file you can read and edit. That's a feature — audit it, don't trust it blindly.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 Caching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Mark a</a:t>
            </a:r>
            <a:r>
              <a:rPr b="1" dirty="0"/>
              <a:t> stable prefix</a:t>
            </a:r>
            <a:r>
              <a:rPr dirty="0"/>
              <a:t> (system prompt, tool specs, big context) as cached</a:t>
            </a:r>
          </a:p>
          <a:p>
            <a:r>
              <a:rPr dirty="0"/>
              <a:t> Subsequent turns re-read the prefix from cache —</a:t>
            </a:r>
            <a:r>
              <a:rPr b="1" dirty="0"/>
              <a:t> cheaper and faster</a:t>
            </a:r>
          </a:p>
          <a:p>
            <a:r>
              <a:rPr dirty="0"/>
              <a:t> Ideal for agents: the tools and system prompt are identical every turn</a:t>
            </a:r>
          </a:p>
          <a:p>
            <a:endParaRPr dirty="0"/>
          </a:p>
          <a:p>
            <a:endParaRPr lang="en-US" dirty="0"/>
          </a:p>
          <a:p>
            <a:endParaRPr dirty="0"/>
          </a:p>
          <a:p>
            <a:r>
              <a:rPr dirty="0"/>
              <a:t> Order matters: put the</a:t>
            </a:r>
            <a:r>
              <a:rPr b="1" dirty="0"/>
              <a:t> stable</a:t>
            </a:r>
            <a:r>
              <a:rPr dirty="0"/>
              <a:t> stuff first, the</a:t>
            </a:r>
            <a:r>
              <a:rPr b="1" dirty="0"/>
              <a:t> changing</a:t>
            </a:r>
            <a:r>
              <a:rPr dirty="0"/>
              <a:t> stuff last.</a:t>
            </a:r>
          </a:p>
          <a:p>
            <a:endParaRPr dirty="0"/>
          </a:p>
          <a:p>
            <a:endParaRPr dirty="0"/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pic>
        <p:nvPicPr>
          <p:cNvPr id="5" name="Picture 4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87408"/>
            <a:ext cx="7264400" cy="1587500"/>
          </a:xfrm>
          <a:prstGeom prst="rect">
            <a:avLst/>
          </a:prstGeom>
        </p:spPr>
      </p:pic>
      <p:pic>
        <p:nvPicPr>
          <p:cNvPr id="6" name="Picture 5" descr="pexels-dash-cryptocurrency-48865747-758436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7900" y="5274670"/>
            <a:ext cx="2619420" cy="183359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62394" y="7187977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Your tool specs don't change every turn — stop paying to re-read them. Cache the prefix.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Habits for Claude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Max-steps cap</a:t>
            </a:r>
            <a:r>
              <a:t> and a token budget — enforced in code, not hoped for</a:t>
            </a:r>
          </a:p>
          <a:p>
            <a:r>
              <a:rPr b="1"/>
              <a:t> Human gate</a:t>
            </a:r>
            <a:r>
              <a:t> on every</a:t>
            </a:r>
            <a:r>
              <a:rPr>
                <a:latin typeface="Courier New"/>
              </a:rPr>
              <a:t> dangerous</a:t>
            </a:r>
            <a:r>
              <a:t> tool:</a:t>
            </a:r>
            <a:r>
              <a:rPr>
                <a:latin typeface="Courier New"/>
              </a:rPr>
              <a:t> write_file</a:t>
            </a:r>
            <a:r>
              <a:t> ,</a:t>
            </a:r>
            <a:r>
              <a:rPr>
                <a:latin typeface="Courier New"/>
              </a:rPr>
              <a:t> run_python</a:t>
            </a:r>
            <a:r>
              <a:t> , sends, deletes</a:t>
            </a:r>
          </a:p>
          <a:p>
            <a:r>
              <a:rPr b="1"/>
              <a:t> Sandbox</a:t>
            </a:r>
            <a:r>
              <a:t> code execution — temp dir, timeout, bounded output, no network</a:t>
            </a:r>
          </a:p>
          <a:p>
            <a:r>
              <a:t> Treat</a:t>
            </a:r>
            <a:r>
              <a:rPr b="1"/>
              <a:t> file contents and tool output as untrusted data</a:t>
            </a:r>
            <a:r>
              <a:t> , not instructions</a:t>
            </a:r>
          </a:p>
          <a:p>
            <a:r>
              <a:rPr b="1"/>
              <a:t> Log</a:t>
            </a:r>
            <a:r>
              <a:t> every tool call (name, args, safety class, result) to JSONL</a:t>
            </a:r>
          </a:p>
          <a:p>
            <a:r>
              <a:rPr b="1"/>
              <a:t> Least privilege</a:t>
            </a:r>
            <a:r>
              <a:t> — the smallest toolset that gets the job done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54000" y="6870735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Same five habits from Lab 1. A more capable model raises the stakes, not the rules.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Putting It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 The</a:t>
            </a:r>
            <a:r>
              <a:rPr b="1"/>
              <a:t> Messages API</a:t>
            </a:r>
            <a:r>
              <a:t> is stateless — you own the memory and the loop</a:t>
            </a:r>
          </a:p>
          <a:p>
            <a:r>
              <a:rPr b="1"/>
              <a:t> Tool use</a:t>
            </a:r>
            <a:r>
              <a:t> is a turn-taking conversation ending in</a:t>
            </a:r>
            <a:r>
              <a:rPr>
                <a:latin typeface="Courier New"/>
              </a:rPr>
              <a:t> end_turn</a:t>
            </a:r>
          </a:p>
          <a:p>
            <a:r>
              <a:t> Pick the model by job:</a:t>
            </a:r>
            <a:r>
              <a:rPr b="1"/>
              <a:t> Haiku</a:t>
            </a:r>
            <a:r>
              <a:t> volume,</a:t>
            </a:r>
            <a:r>
              <a:rPr b="1"/>
              <a:t> Sonnet</a:t>
            </a:r>
            <a:r>
              <a:t> default,</a:t>
            </a:r>
            <a:r>
              <a:rPr b="1"/>
              <a:t> Opus</a:t>
            </a:r>
            <a:r>
              <a:t> hard problems</a:t>
            </a:r>
          </a:p>
          <a:p>
            <a:r>
              <a:rPr b="1"/>
              <a:t> Manage context</a:t>
            </a:r>
            <a:r>
              <a:t> in tiers: scratchpad, summary, external file</a:t>
            </a:r>
          </a:p>
          <a:p>
            <a:r>
              <a:rPr b="1"/>
              <a:t> Prompt caching</a:t>
            </a:r>
            <a:r>
              <a:t> cuts cost/latency on the stable prefix</a:t>
            </a:r>
          </a:p>
          <a:p>
            <a:r>
              <a:rPr b="1"/>
              <a:t> Cap, gate, sandbox, log</a:t>
            </a:r>
            <a:r>
              <a:t> — safety scales with capability</a:t>
            </a:r>
          </a:p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95300" y="7066393"/>
            <a:ext cx="7507224" cy="877824"/>
          </a:xfrm>
          <a:prstGeom prst="rect">
            <a:avLst/>
          </a:prstGeom>
          <a:solidFill>
            <a:srgbClr val="F2F2F2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73152" rIns="128016" bIns="73152" rtlCol="0" anchor="ctr"/>
          <a:lstStyle/>
          <a:p>
            <a:pPr algn="ctr"/>
            <a:r>
              <a:rPr sz="1800" i="1">
                <a:solidFill>
                  <a:srgbClr val="333333"/>
                </a:solidFill>
              </a:rPr>
              <a:t>You have the pattern and the API. Next, build a coding assistant that remembers.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 14 — Claude Coding Assistant with Persistent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/>
              <a:t> Stop here and run Lab 14.</a:t>
            </a:r>
          </a:p>
          <a:p>
            <a:r>
              <a:t> You will:</a:t>
            </a:r>
          </a:p>
          <a:p>
            <a:r>
              <a:t> Build a tool-use loop on the</a:t>
            </a:r>
            <a:r>
              <a:rPr b="1"/>
              <a:t> Messages API</a:t>
            </a:r>
            <a:r>
              <a:t> with</a:t>
            </a:r>
            <a:r>
              <a:rPr>
                <a:latin typeface="Courier New"/>
              </a:rPr>
              <a:t> claude-sonnet-5</a:t>
            </a:r>
            <a:r>
              <a:t> .</a:t>
            </a:r>
          </a:p>
          <a:p>
            <a:r>
              <a:t> Wire four tools:</a:t>
            </a:r>
            <a:r>
              <a:rPr>
                <a:latin typeface="Courier New"/>
              </a:rPr>
              <a:t> read_file</a:t>
            </a:r>
            <a:r>
              <a:t> ,</a:t>
            </a:r>
            <a:r>
              <a:rPr>
                <a:latin typeface="Courier New"/>
              </a:rPr>
              <a:t> write_file</a:t>
            </a:r>
            <a:r>
              <a:t> (gated),</a:t>
            </a:r>
            <a:r>
              <a:rPr>
                <a:latin typeface="Courier New"/>
              </a:rPr>
              <a:t> run_python</a:t>
            </a:r>
            <a:r>
              <a:t> (sandboxed),</a:t>
            </a:r>
            <a:r>
              <a:rPr>
                <a:latin typeface="Courier New"/>
              </a:rPr>
              <a:t> remember</a:t>
            </a:r>
            <a:r>
              <a:t> .</a:t>
            </a:r>
          </a:p>
          <a:p>
            <a:r>
              <a:t> Load a</a:t>
            </a:r>
          </a:p>
          <a:p>
            <a:r>
              <a:rPr b="1" i="1"/>
              <a:t> memory.json</a:t>
            </a:r>
            <a:r>
              <a:t> at start and update it across sessions.</a:t>
            </a:r>
          </a:p>
          <a:p>
            <a:r>
              <a:t> Enforce a</a:t>
            </a:r>
            <a:r>
              <a:rPr b="1"/>
              <a:t> max-steps cap</a:t>
            </a:r>
            <a:r>
              <a:t> and a</a:t>
            </a:r>
            <a:r>
              <a:rPr b="1"/>
              <a:t> human gate</a:t>
            </a:r>
            <a:r>
              <a:t> on</a:t>
            </a:r>
            <a:r>
              <a:rPr>
                <a:latin typeface="Courier New"/>
              </a:rPr>
              <a:t> write_file</a:t>
            </a:r>
            <a:r>
              <a:t> and</a:t>
            </a:r>
            <a:r>
              <a:rPr>
                <a:latin typeface="Courier New"/>
              </a:rPr>
              <a:t> run_python</a:t>
            </a:r>
            <a:r>
              <a:t> .</a:t>
            </a:r>
          </a:p>
          <a:p>
            <a:r>
              <a:t> Summarize old turns to keep context bounded, and log every tool call.</a:t>
            </a:r>
          </a:p>
          <a:p>
            <a:r>
              <a:rPr b="1"/>
              <a:t> Deliverable:</a:t>
            </a:r>
            <a:r>
              <a:t> a runnable</a:t>
            </a:r>
            <a:r>
              <a:rPr>
                <a:latin typeface="Courier New"/>
              </a:rPr>
              <a:t> coding_assistant.py</a:t>
            </a:r>
            <a:r>
              <a:t> that fixes a bug across two sessions, using persistent memory and gated writes.</a:t>
            </a:r>
          </a:p>
          <a:p>
            <a:r>
              <a:rPr b="1"/>
              <a:t> Time:</a:t>
            </a:r>
            <a:r>
              <a:t> 60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8065008"/>
            <a:ext cx="8915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000000"/>
                </a:solidFill>
              </a:rPr>
              <a:t>Copyright © 2026 by Elephant Scale, All Rights 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Pc_New">
  <a:themeElements>
    <a:clrScheme name="LPc_New 7">
      <a:dk1>
        <a:srgbClr val="000000"/>
      </a:dk1>
      <a:lt1>
        <a:srgbClr val="FFFFFF"/>
      </a:lt1>
      <a:dk2>
        <a:srgbClr val="CCECFF"/>
      </a:dk2>
      <a:lt2>
        <a:srgbClr val="003399"/>
      </a:lt2>
      <a:accent1>
        <a:srgbClr val="0794FF"/>
      </a:accent1>
      <a:accent2>
        <a:srgbClr val="800080"/>
      </a:accent2>
      <a:accent3>
        <a:srgbClr val="E2F4FF"/>
      </a:accent3>
      <a:accent4>
        <a:srgbClr val="DADADA"/>
      </a:accent4>
      <a:accent5>
        <a:srgbClr val="AAC8FF"/>
      </a:accent5>
      <a:accent6>
        <a:srgbClr val="730073"/>
      </a:accent6>
      <a:hlink>
        <a:srgbClr val="FF0000"/>
      </a:hlink>
      <a:folHlink>
        <a:srgbClr val="FFFFD2"/>
      </a:folHlink>
    </a:clrScheme>
    <a:fontScheme name="LPc_New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30000"/>
          </a:spcBef>
          <a:spcAft>
            <a:spcPct val="0"/>
          </a:spcAft>
          <a:buClrTx/>
          <a:buSzTx/>
          <a:buFontTx/>
          <a:buNone/>
          <a:tabLst/>
          <a:defRPr kumimoji="0" lang="en-US" sz="10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Garamond" pitchFamily="-110" charset="0"/>
          </a:defRPr>
        </a:defPPr>
      </a:lstStyle>
    </a:lnDef>
  </a:objectDefaults>
  <a:extraClrSchemeLst>
    <a:extraClrScheme>
      <a:clrScheme name="LPc_New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Pc_New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5">
        <a:dk1>
          <a:srgbClr val="000000"/>
        </a:dk1>
        <a:lt1>
          <a:srgbClr val="FFFFFF"/>
        </a:lt1>
        <a:dk2>
          <a:srgbClr val="CCECFF"/>
        </a:dk2>
        <a:lt2>
          <a:srgbClr val="00008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6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9999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CACA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Pc_New 7">
        <a:dk1>
          <a:srgbClr val="000000"/>
        </a:dk1>
        <a:lt1>
          <a:srgbClr val="FFFFFF"/>
        </a:lt1>
        <a:dk2>
          <a:srgbClr val="CCECFF"/>
        </a:dk2>
        <a:lt2>
          <a:srgbClr val="003399"/>
        </a:lt2>
        <a:accent1>
          <a:srgbClr val="0794FF"/>
        </a:accent1>
        <a:accent2>
          <a:srgbClr val="800080"/>
        </a:accent2>
        <a:accent3>
          <a:srgbClr val="E2F4FF"/>
        </a:accent3>
        <a:accent4>
          <a:srgbClr val="DADADA"/>
        </a:accent4>
        <a:accent5>
          <a:srgbClr val="AAC8FF"/>
        </a:accent5>
        <a:accent6>
          <a:srgbClr val="730073"/>
        </a:accent6>
        <a:hlink>
          <a:srgbClr val="FF0000"/>
        </a:hlink>
        <a:folHlink>
          <a:srgbClr val="FFFFD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378296</TotalTime>
  <Words>1381</Words>
  <Application>Microsoft Macintosh PowerPoint</Application>
  <PresentationFormat>Custom</PresentationFormat>
  <Paragraphs>148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Arial Bold</vt:lpstr>
      <vt:lpstr>Courier New</vt:lpstr>
      <vt:lpstr>Garamond</vt:lpstr>
      <vt:lpstr>Monotype Sorts</vt:lpstr>
      <vt:lpstr>Times New Roman</vt:lpstr>
      <vt:lpstr>Verdana</vt:lpstr>
      <vt:lpstr>Wingdings</vt:lpstr>
      <vt:lpstr>LPc_New</vt:lpstr>
      <vt:lpstr>Agentic with Claude</vt:lpstr>
      <vt:lpstr>Part IV K–L — What We'll Cover</vt:lpstr>
      <vt:lpstr>The Messages API</vt:lpstr>
      <vt:lpstr>The Claude Model Family</vt:lpstr>
      <vt:lpstr>How Tool Use Works</vt:lpstr>
      <vt:lpstr>Defining a Tool</vt:lpstr>
      <vt:lpstr>The Tool-Use Loop</vt:lpstr>
      <vt:lpstr>A Multi-Tool Coding Assistant</vt:lpstr>
      <vt:lpstr>Memory &amp; Context Management</vt:lpstr>
      <vt:lpstr>Summarizing Old Turns</vt:lpstr>
      <vt:lpstr>External Memory — </vt:lpstr>
      <vt:lpstr>Prompt Caching</vt:lpstr>
      <vt:lpstr>Safety Habits for Claude Agents</vt:lpstr>
      <vt:lpstr>Putting It Together</vt:lpstr>
      <vt:lpstr>Lab 14 — Claude Coding Assistant with Persistent Memory</vt:lpstr>
    </vt:vector>
  </TitlesOfParts>
  <Company>Elephant Scale LLC &amp; LearningPatterns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</dc:title>
  <dc:subject>Spark</dc:subject>
  <dc:creator>Elephant Scale</dc:creator>
  <cp:lastModifiedBy>Warren Crawford</cp:lastModifiedBy>
  <cp:revision>4136</cp:revision>
  <cp:lastPrinted>2010-01-03T02:41:41Z</cp:lastPrinted>
  <dcterms:created xsi:type="dcterms:W3CDTF">2010-07-13T15:22:01Z</dcterms:created>
  <dcterms:modified xsi:type="dcterms:W3CDTF">2026-10-18T21:51:43Z</dcterms:modified>
</cp:coreProperties>
</file>