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Voice Agents with Google ADK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IV M–N — What We'll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Why voice agents are</a:t>
            </a:r>
            <a:r>
              <a:rPr i="1"/>
              <a:t> harder</a:t>
            </a:r>
            <a:r>
              <a:t> than text agents</a:t>
            </a:r>
          </a:p>
          <a:p>
            <a:r>
              <a:t> The voice loop:</a:t>
            </a:r>
            <a:r>
              <a:rPr b="1"/>
              <a:t> STT → agent (LLM + tools) → TTS</a:t>
            </a:r>
          </a:p>
          <a:p>
            <a:r>
              <a:t> Streaming, turn-taking, barge-in, latency budgets</a:t>
            </a:r>
          </a:p>
          <a:p>
            <a:r>
              <a:t> Google's</a:t>
            </a:r>
            <a:r>
              <a:rPr b="1"/>
              <a:t> Agent Development Kit (ADK)</a:t>
            </a:r>
            <a:r>
              <a:t> — agents, tools, sessions, runners</a:t>
            </a:r>
          </a:p>
          <a:p>
            <a:r>
              <a:t> ADK's voice / streaming path, and pairing ADK with an OpenAI model</a:t>
            </a:r>
          </a:p>
          <a:p>
            <a:r>
              <a:t> Designing for the things voice breaks: mishears, confirmations, context</a:t>
            </a:r>
          </a:p>
          <a:p>
            <a:r>
              <a:t> Then you build one — Lab 15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62748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voice agent is the same agent loop, under a stopwatch, listening for interruptions.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Voice Agents Are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Latency is felt</a:t>
            </a:r>
            <a:r>
              <a:t> — silence over ~800 ms reads as "it's broken"</a:t>
            </a:r>
          </a:p>
          <a:p>
            <a:r>
              <a:rPr b="1"/>
              <a:t> Turn-taking</a:t>
            </a:r>
            <a:r>
              <a:t> — who is speaking? when may the agent talk?</a:t>
            </a:r>
          </a:p>
          <a:p>
            <a:r>
              <a:rPr b="1"/>
              <a:t> Barge-in</a:t>
            </a:r>
            <a:r>
              <a:t> — the user cuts in; the agent must stop</a:t>
            </a:r>
            <a:r>
              <a:rPr i="1"/>
              <a:t> mid-sentence</a:t>
            </a:r>
          </a:p>
          <a:p>
            <a:r>
              <a:rPr b="1"/>
              <a:t> No screen</a:t>
            </a:r>
            <a:r>
              <a:t> — no buttons, no "click to confirm", no scrollback</a:t>
            </a:r>
          </a:p>
          <a:p>
            <a:r>
              <a:rPr b="1"/>
              <a:t> Context continuity</a:t>
            </a:r>
            <a:r>
              <a:t> — the caller expects it to remember 3 turns ago</a:t>
            </a:r>
          </a:p>
          <a:p>
            <a:r>
              <a:rPr b="1"/>
              <a:t> Errors compound</a:t>
            </a:r>
            <a:r>
              <a:t> — a mishear early derails the whole call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In text, the user waits for you. In voice, you are always interrupting each 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Voice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Same</a:t>
            </a:r>
            <a:r>
              <a:rPr b="1" dirty="0"/>
              <a:t> Input → Plan → Act → Reflect → Output</a:t>
            </a:r>
            <a:r>
              <a:rPr dirty="0"/>
              <a:t> loop — wrapped in audio.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882135"/>
            <a:ext cx="8037513" cy="51749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7187184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STT and TTS are plumbing. The agent in the middle is still the agent you already know.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Latency: The Budget You Live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Target end-to-end reply start under</a:t>
            </a:r>
            <a:r>
              <a:rPr b="1" dirty="0"/>
              <a:t> ~1 second</a:t>
            </a:r>
          </a:p>
          <a:p>
            <a:r>
              <a:rPr dirty="0"/>
              <a:t> Where the time goes: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Stream everything.</a:t>
            </a:r>
            <a:r>
              <a:rPr dirty="0"/>
              <a:t> Never wait for a whole transcript, reply, or clip.</a:t>
            </a:r>
          </a:p>
          <a:p>
            <a:r>
              <a:rPr dirty="0"/>
              <a:t> Speak a</a:t>
            </a:r>
            <a:r>
              <a:rPr b="1" dirty="0"/>
              <a:t> filler</a:t>
            </a:r>
            <a:r>
              <a:rPr dirty="0"/>
              <a:t> ("Let me check that…") while a slow tool runs.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2243931"/>
            <a:ext cx="8915400" cy="9461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697973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You don't beat the latency budget by being fast. You hide it by streaming and by talking sooner.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Turn-Taking and Barge-In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Endpointing</a:t>
            </a:r>
            <a:r>
              <a:t> — detect the caller stopped talking (silence + VAD)</a:t>
            </a:r>
          </a:p>
          <a:p>
            <a:r>
              <a:t> Don't grab the turn too early (cutting the caller off) or too late (dead air)</a:t>
            </a:r>
          </a:p>
          <a:p>
            <a:r>
              <a:rPr b="1"/>
              <a:t> Barge-in</a:t>
            </a:r>
            <a:r>
              <a:t> — when the caller speaks</a:t>
            </a:r>
            <a:r>
              <a:rPr i="1"/>
              <a:t> while the agent is talking</a:t>
            </a:r>
            <a:r>
              <a:t> :</a:t>
            </a:r>
          </a:p>
          <a:p>
            <a:pPr lvl="1"/>
            <a:r>
              <a:t> stop TTS playback</a:t>
            </a:r>
            <a:r>
              <a:rPr b="1"/>
              <a:t> immediately</a:t>
            </a:r>
          </a:p>
          <a:p>
            <a:pPr lvl="1"/>
            <a:r>
              <a:t> discard the half-spoken reply</a:t>
            </a:r>
          </a:p>
          <a:p>
            <a:pPr lvl="1"/>
            <a:r>
              <a:t> re-plan from what the caller just said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7131"/>
            <a:ext cx="8331200" cy="1054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988" y="697157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voice agent that can't be interrupted feels like an IVR menu. Barge-in is table stakes.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Continuity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call is</a:t>
            </a:r>
            <a:r>
              <a:rPr b="1"/>
              <a:t> one session</a:t>
            </a:r>
            <a:r>
              <a:t> — the agent must carry state across turns</a:t>
            </a:r>
          </a:p>
          <a:p>
            <a:r>
              <a:t> Keep a running</a:t>
            </a:r>
            <a:r>
              <a:rPr b="1"/>
              <a:t> scratchpad</a:t>
            </a:r>
            <a:r>
              <a:t> : who is this, what did they ask, what did tools return</a:t>
            </a:r>
          </a:p>
          <a:p>
            <a:r>
              <a:t> Resolve pronouns and ellipsis against session state</a:t>
            </a:r>
          </a:p>
          <a:p>
            <a:pPr lvl="1"/>
            <a:r>
              <a:t> "cancel</a:t>
            </a:r>
            <a:r>
              <a:rPr i="1"/>
              <a:t> it</a:t>
            </a:r>
            <a:r>
              <a:t> " →</a:t>
            </a:r>
            <a:r>
              <a:rPr i="1"/>
              <a:t> it</a:t>
            </a:r>
            <a:r>
              <a:t> = the order from two turns ago</a:t>
            </a:r>
          </a:p>
          <a:p>
            <a:r>
              <a:t> Summarize as the call grows — context has a</a:t>
            </a:r>
            <a:r>
              <a:rPr b="1"/>
              <a:t> budget</a:t>
            </a:r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691131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caller never repeats themselves to a human. Your agent's session memory is why it can keep 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Google's Agent Development Kit (ADK)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Google's open-source framework for building agents in Python</a:t>
            </a:r>
          </a:p>
          <a:p>
            <a:r>
              <a:t> Model-flexible (Gemini natively; other models via LiteLLM), tool-first</a:t>
            </a:r>
          </a:p>
          <a:p>
            <a:r>
              <a:t> Core concepts: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084195"/>
              </p:ext>
            </p:extLst>
          </p:nvPr>
        </p:nvGraphicFramePr>
        <p:xfrm>
          <a:off x="237744" y="3449320"/>
          <a:ext cx="8915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 LLM + instructions + a set of tools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Python function (or built-in) the agent may 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Per-conversation state + event history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Runner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Drives the loop: events in, agent steps, events 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ADK gives you the four pieces of our loop as named objects: the model, the tools, the memory, the runner.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Minimal ADK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Instruction = system prompt. Tools = the hands. The runner supplies the loop.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7" y="1329531"/>
            <a:ext cx="8915400" cy="33199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 describe what the agent is and what it may do. ADK runs the loop for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ADK's Voice / Streaming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ADK supports</a:t>
            </a:r>
            <a:r>
              <a:rPr b="1"/>
              <a:t> bidirectional streaming</a:t>
            </a:r>
            <a:r>
              <a:t> (</a:t>
            </a:r>
            <a:r>
              <a:rPr>
                <a:latin typeface="Courier New"/>
              </a:rPr>
              <a:t> run_live</a:t>
            </a:r>
            <a:r>
              <a:t> ) for audio in / audio out</a:t>
            </a:r>
          </a:p>
          <a:p>
            <a:r>
              <a:t> You attach STT + TTS (Gemini Live, or a Cloud Speech pipeline) to the runner</a:t>
            </a:r>
          </a:p>
          <a:p>
            <a:r>
              <a:t> The runner emits</a:t>
            </a:r>
            <a:r>
              <a:rPr b="1"/>
              <a:t> events</a:t>
            </a:r>
            <a:r>
              <a:t> as they happen: partial transcript, tool call, partial reply, audio</a:t>
            </a:r>
          </a:p>
          <a:p>
            <a:r>
              <a:t> Barge-in and endpointing are handled at the streaming layer, surfaced as events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17387"/>
            <a:ext cx="9258300" cy="134568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event stream is the voice loop. You react to events; you don't poll for a finished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Pairing ADK With an OpenAI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ADK is model-agnostic via</a:t>
            </a:r>
            <a:r>
              <a:rPr b="1" dirty="0"/>
              <a:t> </a:t>
            </a:r>
            <a:r>
              <a:rPr b="1" dirty="0" err="1"/>
              <a:t>LiteLLM</a:t>
            </a:r>
            <a:r>
              <a:rPr dirty="0"/>
              <a:t> — keep ADK's loop, swap the brain</a:t>
            </a:r>
          </a:p>
          <a:p>
            <a:r>
              <a:rPr dirty="0"/>
              <a:t> Use</a:t>
            </a:r>
            <a:r>
              <a:rPr dirty="0">
                <a:latin typeface="Courier New"/>
              </a:rPr>
              <a:t> gpt-4.1</a:t>
            </a:r>
            <a:r>
              <a:rPr dirty="0"/>
              <a:t> for reasoning while ADK handles sessions, tools, streaming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Same agent, different provider — this is the "provider-honest" habit again.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8" y="3063605"/>
            <a:ext cx="9283032" cy="21653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3525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Frameworks and models are separate choices. ADK owns the loop; the model is a plug-in.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for Errors — Voice Breaks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Mishears</a:t>
            </a:r>
            <a:r>
              <a:t> — STT confuses "fifteen" / "fifty", "Karen" / "Aaron"</a:t>
            </a:r>
          </a:p>
          <a:p>
            <a:pPr lvl="1"/>
            <a:r>
              <a:t> read back the risky bits: "That's fifty, five-zero — correct?"</a:t>
            </a:r>
          </a:p>
          <a:p>
            <a:r>
              <a:rPr b="1"/>
              <a:t> Confidence</a:t>
            </a:r>
            <a:r>
              <a:t> — low STT confidence → ask, don't guess</a:t>
            </a:r>
          </a:p>
          <a:p>
            <a:r>
              <a:rPr b="1"/>
              <a:t> Silence / noise</a:t>
            </a:r>
            <a:r>
              <a:t> — after two failed turns, offer a human or a callback</a:t>
            </a:r>
          </a:p>
          <a:p>
            <a:r>
              <a:rPr b="1"/>
              <a:t> Ambiguity</a:t>
            </a:r>
            <a:r>
              <a:t> — no screen to disambiguate; ask a short question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540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On the phone you cannot show your work. So you confirm out loud, and you confirm early.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Confirmation Gates for Dangerous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Everything that</a:t>
            </a:r>
            <a:r>
              <a:rPr b="1" dirty="0"/>
              <a:t> sends / cancels / refunds / changes a record</a:t>
            </a:r>
            <a:r>
              <a:rPr dirty="0"/>
              <a:t> is</a:t>
            </a:r>
            <a:r>
              <a:rPr dirty="0">
                <a:latin typeface="Courier New"/>
              </a:rPr>
              <a:t> dangerous</a:t>
            </a:r>
          </a:p>
          <a:p>
            <a:r>
              <a:rPr dirty="0"/>
              <a:t> Voice gate =</a:t>
            </a:r>
            <a:r>
              <a:rPr b="1" dirty="0"/>
              <a:t> explicit spoken confirmation</a:t>
            </a:r>
            <a:r>
              <a:rPr dirty="0"/>
              <a:t> , read back with specifics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Log the gate as a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human_gate</a:t>
            </a:r>
            <a:r>
              <a:rPr dirty="0"/>
              <a:t> event (</a:t>
            </a:r>
            <a:r>
              <a:rPr dirty="0">
                <a:latin typeface="Courier New"/>
              </a:rPr>
              <a:t> approved</a:t>
            </a:r>
            <a:r>
              <a:rPr dirty="0"/>
              <a:t> /</a:t>
            </a:r>
            <a:r>
              <a:rPr dirty="0">
                <a:latin typeface="Courier New"/>
              </a:rPr>
              <a:t> denied</a:t>
            </a:r>
            <a:r>
              <a:rPr dirty="0"/>
              <a:t> ) — never act first.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2798682"/>
            <a:ext cx="9266213" cy="14264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692258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misheard "yeah, whatever" must not cancel an account. Read it back, get a clean yes, then log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Doesn't Take a Day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phone call is an</a:t>
            </a:r>
            <a:r>
              <a:rPr b="1"/>
              <a:t> agent run</a:t>
            </a:r>
            <a:r>
              <a:t> — log it like any other (see</a:t>
            </a:r>
            <a:r>
              <a:rPr>
                <a:latin typeface="Courier New"/>
              </a:rPr>
              <a:t> audit-log-schema.md</a:t>
            </a:r>
            <a:r>
              <a:t> )</a:t>
            </a:r>
          </a:p>
          <a:p>
            <a:r>
              <a:t> Log per turn: transcript, plan,</a:t>
            </a:r>
            <a:r>
              <a:rPr>
                <a:latin typeface="Courier New"/>
              </a:rPr>
              <a:t> tool_call</a:t>
            </a:r>
            <a:r>
              <a:t> ,</a:t>
            </a:r>
            <a:r>
              <a:rPr>
                <a:latin typeface="Courier New"/>
              </a:rPr>
              <a:t> tool_result</a:t>
            </a:r>
            <a:r>
              <a:t> ,</a:t>
            </a:r>
            <a:r>
              <a:rPr>
                <a:latin typeface="Courier New"/>
              </a:rPr>
              <a:t> human_gate</a:t>
            </a:r>
            <a:r>
              <a:t> , final reply</a:t>
            </a:r>
          </a:p>
          <a:p>
            <a:r>
              <a:rPr b="1"/>
              <a:t> Redact</a:t>
            </a:r>
            <a:r>
              <a:t> PII (card numbers, health details) before it hits the log</a:t>
            </a:r>
          </a:p>
          <a:p>
            <a:r>
              <a:rPr b="1"/>
              <a:t> Least privilege</a:t>
            </a:r>
            <a:r>
              <a:t> — the voice agent reads the KB and drafts changes; humans approve them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fact that it was spoken doesn't make it unauditable. A call is a run; a run has a log.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voice agent = the</a:t>
            </a:r>
            <a:r>
              <a:rPr b="1"/>
              <a:t> agent loop</a:t>
            </a:r>
            <a:r>
              <a:t> + STT front, TTS back, on a</a:t>
            </a:r>
            <a:r>
              <a:rPr b="1"/>
              <a:t> latency budget</a:t>
            </a:r>
          </a:p>
          <a:p>
            <a:r>
              <a:rPr b="1"/>
              <a:t> Stream</a:t>
            </a:r>
            <a:r>
              <a:t> transcript, tokens, and audio; hide latency, allow</a:t>
            </a:r>
            <a:r>
              <a:rPr b="1"/>
              <a:t> barge-in</a:t>
            </a:r>
          </a:p>
          <a:p>
            <a:r>
              <a:rPr b="1"/>
              <a:t> ADK</a:t>
            </a:r>
            <a:r>
              <a:t> gives you agents, tools, sessions, and a streaming</a:t>
            </a:r>
            <a:r>
              <a:rPr b="1"/>
              <a:t> runner</a:t>
            </a:r>
          </a:p>
          <a:p>
            <a:r>
              <a:t> Keep the model a</a:t>
            </a:r>
            <a:r>
              <a:rPr b="1"/>
              <a:t> plug-in</a:t>
            </a:r>
            <a:r>
              <a:t> — ADK loop,</a:t>
            </a:r>
            <a:r>
              <a:rPr>
                <a:latin typeface="Courier New"/>
              </a:rPr>
              <a:t> gpt-4.1</a:t>
            </a:r>
            <a:r>
              <a:t> brain</a:t>
            </a:r>
          </a:p>
          <a:p>
            <a:r>
              <a:rPr b="1"/>
              <a:t> Confirm dangerous actions out loud</a:t>
            </a:r>
            <a:r>
              <a:t> , redact PII, log the whole call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950" y="691131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Everything you learned about agents still holds. Voice just removes your safety net of a screen.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15 — Live Voice Support Agent (ADK + OpenAI)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15.</a:t>
            </a:r>
          </a:p>
          <a:p>
            <a:r>
              <a:t> You will:</a:t>
            </a:r>
          </a:p>
          <a:p>
            <a:r>
              <a:t> Build a support agent (LLM + a</a:t>
            </a:r>
            <a:r>
              <a:rPr>
                <a:latin typeface="Courier New"/>
              </a:rPr>
              <a:t> search_help_center</a:t>
            </a:r>
            <a:r>
              <a:t> tool over</a:t>
            </a:r>
            <a:r>
              <a:rPr>
                <a:latin typeface="Courier New"/>
              </a:rPr>
              <a:t> labs/assets/help_center.md</a:t>
            </a:r>
            <a:r>
              <a:t> ).</a:t>
            </a:r>
          </a:p>
          <a:p>
            <a:r>
              <a:t> Run it on the</a:t>
            </a:r>
            <a:r>
              <a:rPr b="1"/>
              <a:t> real ADK voice path</a:t>
            </a:r>
            <a:r>
              <a:t> (audio in/out)</a:t>
            </a:r>
            <a:r>
              <a:rPr i="1"/>
              <a:t> or</a:t>
            </a:r>
            <a:r>
              <a:t> the</a:t>
            </a:r>
            <a:r>
              <a:rPr b="1"/>
              <a:t> local text fallback</a:t>
            </a:r>
            <a:r>
              <a:t> — same agent, backend chosen by an env var.</a:t>
            </a:r>
          </a:p>
          <a:p>
            <a:r>
              <a:t> Add a</a:t>
            </a:r>
            <a:r>
              <a:rPr b="1"/>
              <a:t> confirmation gate</a:t>
            </a:r>
            <a:r>
              <a:t> so no dangerous action (refund, cancel) runs without an explicit "yes".</a:t>
            </a:r>
          </a:p>
          <a:p>
            <a:r>
              <a:t> Handle a</a:t>
            </a:r>
            <a:r>
              <a:rPr b="1"/>
              <a:t> mishear</a:t>
            </a:r>
            <a:r>
              <a:t> : read back risky details before acting.</a:t>
            </a:r>
          </a:p>
          <a:p>
            <a:r>
              <a:t> Write a per-turn</a:t>
            </a:r>
            <a:r>
              <a:rPr b="1"/>
              <a:t> JSONL turn log</a:t>
            </a:r>
            <a:r>
              <a:t> (</a:t>
            </a:r>
            <a:r>
              <a:rPr>
                <a:latin typeface="Courier New"/>
              </a:rPr>
              <a:t> tool_call</a:t>
            </a:r>
            <a:r>
              <a:t> ,</a:t>
            </a:r>
            <a:r>
              <a:rPr>
                <a:latin typeface="Courier New"/>
              </a:rPr>
              <a:t> tool_result</a:t>
            </a:r>
            <a:r>
              <a:t> ,</a:t>
            </a:r>
            <a:r>
              <a:rPr>
                <a:latin typeface="Courier New"/>
              </a:rPr>
              <a:t> human_gate</a:t>
            </a:r>
            <a:r>
              <a:t> ,</a:t>
            </a:r>
            <a:r>
              <a:rPr>
                <a:latin typeface="Courier New"/>
              </a:rPr>
              <a:t> run_end</a:t>
            </a:r>
            <a:r>
              <a:t> ).</a:t>
            </a:r>
          </a:p>
          <a:p>
            <a:r>
              <a:rPr b="1"/>
              <a:t> Deliverable:</a:t>
            </a:r>
            <a:r>
              <a:t> a runnable</a:t>
            </a:r>
            <a:r>
              <a:rPr>
                <a:latin typeface="Courier New"/>
              </a:rPr>
              <a:t> voice_agent_local.py</a:t>
            </a:r>
            <a:r>
              <a:t> that answers support questions from the KB, gates dangerous actions, and produces a</a:t>
            </a:r>
            <a:r>
              <a:rPr>
                <a:latin typeface="Courier New"/>
              </a:rPr>
              <a:t> turn_log.jsonl</a:t>
            </a:r>
            <a:r>
              <a:t> from one conversation.</a:t>
            </a:r>
          </a:p>
          <a:p>
            <a:r>
              <a:rPr b="1"/>
              <a:t> Time:</a:t>
            </a:r>
            <a:r>
              <a:t>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378296</TotalTime>
  <Words>1522</Words>
  <Application>Microsoft Macintosh PowerPoint</Application>
  <PresentationFormat>Custom</PresentationFormat>
  <Paragraphs>154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Voice Agents with Google ADK</vt:lpstr>
      <vt:lpstr>Part IV M–N — What We'll Cover</vt:lpstr>
      <vt:lpstr>Why Voice Agents Are Different</vt:lpstr>
      <vt:lpstr>The Voice Loop</vt:lpstr>
      <vt:lpstr>Latency: The Budget You Live In</vt:lpstr>
      <vt:lpstr>Turn-Taking and Barge-In</vt:lpstr>
      <vt:lpstr>Context Continuity</vt:lpstr>
      <vt:lpstr>Google's Agent Development Kit (ADK)</vt:lpstr>
      <vt:lpstr>A Minimal ADK Agent</vt:lpstr>
      <vt:lpstr>ADK's Voice / Streaming Path</vt:lpstr>
      <vt:lpstr>Pairing ADK With an OpenAI Model</vt:lpstr>
      <vt:lpstr>Designing for Errors — Voice Breaks Things</vt:lpstr>
      <vt:lpstr>Confirmation Gates for Dangerous Actions</vt:lpstr>
      <vt:lpstr>Governance Doesn't Take a Day Off</vt:lpstr>
      <vt:lpstr>Putting It Together</vt:lpstr>
      <vt:lpstr>Lab 15 — Live Voice Support Agent (ADK + OpenAI)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4136</cp:revision>
  <cp:lastPrinted>2010-01-03T02:41:41Z</cp:lastPrinted>
  <dcterms:created xsi:type="dcterms:W3CDTF">2010-07-13T15:22:01Z</dcterms:created>
  <dcterms:modified xsi:type="dcterms:W3CDTF">2026-10-18T21:58:47Z</dcterms:modified>
</cp:coreProperties>
</file>