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1" r:id="rId1"/>
  </p:sldMasterIdLst>
  <p:notesMasterIdLst>
    <p:notesMasterId r:id="rId16"/>
  </p:notesMasterIdLst>
  <p:handoutMasterIdLst>
    <p:handoutMasterId r:id="rId17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372600" cy="829786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1pPr>
    <a:lvl2pPr marL="4572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2pPr>
    <a:lvl3pPr marL="9144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3pPr>
    <a:lvl4pPr marL="13716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4pPr>
    <a:lvl5pPr marL="18288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614" userDrawn="1">
          <p15:clr>
            <a:srgbClr val="A4A3A4"/>
          </p15:clr>
        </p15:guide>
        <p15:guide id="2" pos="295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y Conlee" initials="MC" lastIdx="1" clrIdx="0"/>
  <p:cmAuthor id="2" name="Mark Kerzner" initials="MK" lastIdx="6" clrIdx="1"/>
  <p:cmAuthor id="3" name="Mary Beth Conlee" initials="MBC" lastIdx="7" clrIdx="2"/>
  <p:cmAuthor id="4" name="Michelle" initials="M" lastIdx="5" clrIdx="3"/>
  <p:cmAuthor id="5" name="Tricia Murphy" initials="TM" lastIdx="4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A1A"/>
    <a:srgbClr val="D6B8EB"/>
    <a:srgbClr val="A77EC7"/>
    <a:srgbClr val="B59BC7"/>
    <a:srgbClr val="C7AAD9"/>
    <a:srgbClr val="C89EDF"/>
    <a:srgbClr val="BD83DF"/>
    <a:srgbClr val="CB89DF"/>
    <a:srgbClr val="CA87D1"/>
    <a:srgbClr val="CF86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959" autoAdjust="0"/>
    <p:restoredTop sz="86027" autoAdjust="0"/>
  </p:normalViewPr>
  <p:slideViewPr>
    <p:cSldViewPr>
      <p:cViewPr varScale="1">
        <p:scale>
          <a:sx n="90" d="100"/>
          <a:sy n="90" d="100"/>
        </p:scale>
        <p:origin x="3312" y="192"/>
      </p:cViewPr>
      <p:guideLst>
        <p:guide orient="horz" pos="2614"/>
        <p:guide pos="2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5" d="100"/>
        <a:sy n="85" d="100"/>
      </p:scale>
      <p:origin x="0" y="0"/>
    </p:cViewPr>
  </p:sorterViewPr>
  <p:notesViewPr>
    <p:cSldViewPr>
      <p:cViewPr>
        <p:scale>
          <a:sx n="80" d="100"/>
          <a:sy n="80" d="100"/>
        </p:scale>
        <p:origin x="3296" y="-56"/>
      </p:cViewPr>
      <p:guideLst>
        <p:guide orient="horz" pos="3024"/>
        <p:guide pos="23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3363"/>
            <a:ext cx="3170238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4963" y="9123363"/>
            <a:ext cx="3170237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algn="r"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97E62689-8C7D-4291-A094-4E689FEC4C3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29152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8375" y="473075"/>
            <a:ext cx="5365750" cy="4751388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38280" name="Rectangle 8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365250" y="9388475"/>
            <a:ext cx="4578350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1" compatLnSpc="1">
            <a:prstTxWarp prst="textNoShape">
              <a:avLst/>
            </a:prstTxWarp>
          </a:bodyPr>
          <a:lstStyle>
            <a:lvl1pPr algn="ctr" defTabSz="965200" eaLnBrk="0" hangingPunct="0">
              <a:defRPr sz="900">
                <a:latin typeface="Arial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438281" name="Rectangle 9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6400800" y="9388475"/>
            <a:ext cx="554038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b="1">
                <a:latin typeface="Arial" charset="0"/>
              </a:defRPr>
            </a:lvl1pPr>
          </a:lstStyle>
          <a:p>
            <a:pPr>
              <a:defRPr/>
            </a:pPr>
            <a:fld id="{EFAADD5D-AF76-45EE-AA5F-6DAC73BF167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438306" name="Text Box 34"/>
          <p:cNvSpPr txBox="1">
            <a:spLocks noChangeArrowheads="1"/>
          </p:cNvSpPr>
          <p:nvPr/>
        </p:nvSpPr>
        <p:spPr bwMode="auto">
          <a:xfrm>
            <a:off x="271463" y="5176838"/>
            <a:ext cx="617537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6386" tIns="48194" rIns="96386" bIns="48194"/>
          <a:lstStyle/>
          <a:p>
            <a:pPr defTabSz="960438">
              <a:defRPr/>
            </a:pPr>
            <a:r>
              <a:rPr lang="en-US" sz="1200" b="1" u="sng" dirty="0">
                <a:latin typeface="Times New Roman" pitchFamily="18" charset="0"/>
                <a:cs typeface="Times New Roman" pitchFamily="18" charset="0"/>
              </a:rPr>
              <a:t>Notes:</a:t>
            </a:r>
          </a:p>
        </p:txBody>
      </p:sp>
      <p:sp>
        <p:nvSpPr>
          <p:cNvPr id="438309" name="Rectangle 37"/>
          <p:cNvSpPr>
            <a:spLocks noGrp="1" noChangeArrowheads="1"/>
          </p:cNvSpPr>
          <p:nvPr>
            <p:ph type="body" sz="quarter" idx="3"/>
          </p:nvPr>
        </p:nvSpPr>
        <p:spPr bwMode="gray">
          <a:xfrm>
            <a:off x="322263" y="5462588"/>
            <a:ext cx="6607175" cy="375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537" tIns="45768" rIns="91537" bIns="45768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 dirty="0"/>
          </a:p>
        </p:txBody>
      </p:sp>
      <p:sp>
        <p:nvSpPr>
          <p:cNvPr id="438317" name="Line 45"/>
          <p:cNvSpPr>
            <a:spLocks noChangeShapeType="1"/>
          </p:cNvSpPr>
          <p:nvPr/>
        </p:nvSpPr>
        <p:spPr bwMode="auto">
          <a:xfrm>
            <a:off x="322263" y="9324975"/>
            <a:ext cx="6653212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ffectLst/>
        </p:spPr>
        <p:txBody>
          <a:bodyPr/>
          <a:lstStyle/>
          <a:p>
            <a:pPr algn="ctr">
              <a:spcBef>
                <a:spcPct val="30000"/>
              </a:spcBef>
              <a:defRPr/>
            </a:pPr>
            <a:endParaRPr lang="en-US" dirty="0">
              <a:latin typeface="Garamond" pitchFamily="-110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53744030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indent="0" algn="l" rtl="0" eaLnBrk="0" fontAlgn="base" hangingPunct="0">
      <a:spcBef>
        <a:spcPct val="30000"/>
      </a:spcBef>
      <a:spcAft>
        <a:spcPct val="0"/>
      </a:spcAft>
      <a:buSzPct val="65000"/>
      <a:buFont typeface="Wingdings" pitchFamily="2" charset="2"/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 pitchFamily="-110" charset="-128"/>
      </a:defRPr>
    </a:lvl1pPr>
    <a:lvl2pPr marL="282575" indent="0" algn="l" rtl="0" eaLnBrk="0" fontAlgn="base" hangingPunct="0">
      <a:spcBef>
        <a:spcPct val="30000"/>
      </a:spcBef>
      <a:spcAft>
        <a:spcPct val="0"/>
      </a:spcAft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2pPr>
    <a:lvl3pPr marL="744538" indent="-173038" algn="l" rtl="0" eaLnBrk="0" fontAlgn="base" hangingPunct="0">
      <a:spcBef>
        <a:spcPct val="30000"/>
      </a:spcBef>
      <a:spcAft>
        <a:spcPct val="0"/>
      </a:spcAft>
      <a:buChar char="•"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/>
          <p:cNvPicPr preferRelativeResize="0">
            <a:picLocks noChangeArrowheads="1"/>
          </p:cNvPicPr>
          <p:nvPr/>
        </p:nvPicPr>
        <p:blipFill rotWithShape="1">
          <a:blip r:embed="rId2"/>
          <a:srcRect t="19473"/>
          <a:stretch/>
        </p:blipFill>
        <p:spPr bwMode="auto">
          <a:xfrm>
            <a:off x="1" y="-1801"/>
            <a:ext cx="2498725" cy="830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04898" name="Rectangle 2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2498726" y="4984481"/>
            <a:ext cx="6335713" cy="400685"/>
          </a:xfrm>
        </p:spPr>
        <p:txBody>
          <a:bodyPr>
            <a:spAutoFit/>
          </a:bodyPr>
          <a:lstStyle>
            <a:lvl1pPr marL="0" indent="0" algn="r">
              <a:buFont typeface="Monotype Sorts" pitchFamily="-110" charset="2"/>
              <a:buNone/>
              <a:defRPr sz="2000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04900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704850" y="3226947"/>
            <a:ext cx="8121650" cy="1469414"/>
          </a:xfrm>
        </p:spPr>
        <p:txBody>
          <a:bodyPr lIns="91440" anchor="ctr"/>
          <a:lstStyle>
            <a:lvl1pPr algn="ctr" defTabSz="1825625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7EF9825-4C23-4085-A4E3-B5565466BD91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762500" y="994975"/>
            <a:ext cx="4375150" cy="33210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762500" y="4500439"/>
            <a:ext cx="4375150" cy="3322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0E4B02-67B9-4228-B08B-2561CEE6B94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6250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6CC632-9864-46F1-8EAB-FCD3BB9CEC9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234950" y="994976"/>
            <a:ext cx="8902700" cy="6828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03876" name="Rectangle 4"/>
          <p:cNvSpPr>
            <a:spLocks noGrp="1" noChangeArrowheads="1"/>
          </p:cNvSpPr>
          <p:nvPr>
            <p:ph type="sldNum" sz="quarter" idx="4"/>
          </p:nvPr>
        </p:nvSpPr>
        <p:spPr bwMode="hidden">
          <a:xfrm>
            <a:off x="8777288" y="7961724"/>
            <a:ext cx="546100" cy="272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b="1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fld id="{77EF9825-4C23-4085-A4E3-B5565466BD9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03877" name="Rectangle 5"/>
          <p:cNvSpPr>
            <a:spLocks noGrp="1" noChangeArrowheads="1"/>
          </p:cNvSpPr>
          <p:nvPr>
            <p:ph type="ftr" sz="quarter" idx="3"/>
          </p:nvPr>
        </p:nvSpPr>
        <p:spPr bwMode="hidden">
          <a:xfrm>
            <a:off x="234950" y="8032785"/>
            <a:ext cx="544195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ctr" eaLnBrk="0" hangingPunct="0">
              <a:spcBef>
                <a:spcPct val="0"/>
              </a:spcBef>
              <a:defRPr sz="9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pic>
        <p:nvPicPr>
          <p:cNvPr id="1030" name="Picture 6"/>
          <p:cNvPicPr preferRelativeResize="0">
            <a:picLocks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ltGray">
          <a:xfrm>
            <a:off x="0" y="1"/>
            <a:ext cx="704850" cy="8355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31" name="Rectangle 7"/>
          <p:cNvSpPr>
            <a:spLocks noGrp="1" noChangeArrowheads="1"/>
          </p:cNvSpPr>
          <p:nvPr>
            <p:ph type="title"/>
          </p:nvPr>
        </p:nvSpPr>
        <p:spPr bwMode="invGray">
          <a:xfrm>
            <a:off x="704850" y="1"/>
            <a:ext cx="8667750" cy="83554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54" r:id="rId3"/>
    <p:sldLayoutId id="2147483653" r:id="rId4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+mj-lt"/>
          <a:ea typeface="ＭＳ Ｐゴシック" pitchFamily="-110" charset="-128"/>
          <a:cs typeface="ＭＳ Ｐゴシック" pitchFamily="-11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9pPr>
    </p:titleStyle>
    <p:bodyStyle>
      <a:lvl1pPr marL="290513" indent="-2905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5000"/>
        <a:buFont typeface="Wingdings" pitchFamily="2" charset="2"/>
        <a:buChar char=""/>
        <a:defRPr sz="2400">
          <a:solidFill>
            <a:srgbClr val="000000"/>
          </a:solidFill>
          <a:latin typeface="+mn-lt"/>
          <a:ea typeface="ＭＳ Ｐゴシック" pitchFamily="-110" charset="-128"/>
          <a:cs typeface="ＭＳ Ｐゴシック" pitchFamily="-110" charset="-128"/>
        </a:defRPr>
      </a:lvl1pPr>
      <a:lvl2pPr marL="633413" indent="-228600" algn="l" rtl="0" eaLnBrk="0" fontAlgn="base" hangingPunct="0">
        <a:spcBef>
          <a:spcPct val="20000"/>
        </a:spcBef>
        <a:spcAft>
          <a:spcPct val="0"/>
        </a:spcAft>
        <a:buClr>
          <a:srgbClr val="000000"/>
        </a:buClr>
        <a:buChar char="–"/>
        <a:defRPr sz="22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2pPr>
      <a:lvl3pPr marL="969963" indent="-22225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3pPr>
      <a:lvl4pPr marL="1258888" indent="-228600" algn="l" rtl="0" eaLnBrk="0" fontAlgn="base" hangingPunct="0">
        <a:spcBef>
          <a:spcPct val="0"/>
        </a:spcBef>
        <a:spcAft>
          <a:spcPct val="0"/>
        </a:spcAft>
        <a:buClr>
          <a:srgbClr val="5F5F5F"/>
        </a:buClr>
        <a:buSzPct val="65000"/>
        <a:buFont typeface="Arial Bold" pitchFamily="34" charset="0"/>
        <a:buChar char="‒"/>
        <a:defRPr lang="en-US" dirty="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4pPr>
      <a:lvl5pPr marL="20558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  <a:cs typeface="ＭＳ Ｐゴシック"/>
        </a:defRPr>
      </a:lvl5pPr>
      <a:lvl6pPr marL="25130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6pPr>
      <a:lvl7pPr marL="29702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7pPr>
      <a:lvl8pPr marL="34274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8pPr>
      <a:lvl9pPr marL="38846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 wrap="square">
            <a:noAutofit/>
          </a:bodyPr>
          <a:lstStyle/>
          <a:p>
            <a:r>
              <a:rPr sz="4200" b="1" i="0">
                <a:latin typeface="Times New Roman"/>
              </a:rPr>
              <a:t>Capstone: Enterprise AI Agent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Challenge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In teams,</a:t>
            </a:r>
            <a:r>
              <a:rPr b="1"/>
              <a:t> design and build a multi-agent system</a:t>
            </a:r>
            <a:r>
              <a:t> in one domain:</a:t>
            </a:r>
          </a:p>
          <a:p>
            <a:pPr lvl="1"/>
            <a:r>
              <a:rPr b="1"/>
              <a:t> Finance</a:t>
            </a:r>
            <a:r>
              <a:t> ·</a:t>
            </a:r>
            <a:r>
              <a:rPr b="1"/>
              <a:t> HR</a:t>
            </a:r>
            <a:r>
              <a:t> ·</a:t>
            </a:r>
            <a:r>
              <a:rPr b="1"/>
              <a:t> Real Estate</a:t>
            </a:r>
            <a:r>
              <a:t> ·</a:t>
            </a:r>
            <a:r>
              <a:rPr b="1"/>
              <a:t> Customer Support</a:t>
            </a:r>
          </a:p>
          <a:p>
            <a:r>
              <a:t> You have one day:</a:t>
            </a:r>
            <a:r>
              <a:rPr b="1"/>
              <a:t> design → build → evaluate → demo</a:t>
            </a:r>
          </a:p>
          <a:p>
            <a:r>
              <a:t> It must be a</a:t>
            </a:r>
            <a:r>
              <a:rPr i="1"/>
              <a:t> system</a:t>
            </a:r>
            <a:r>
              <a:t> , not a single prompt — agents that</a:t>
            </a:r>
            <a:r>
              <a:rPr b="1"/>
              <a:t> cooperate</a:t>
            </a:r>
          </a:p>
          <a:p>
            <a:r>
              <a:t> Everything you learned this week shows up here</a:t>
            </a:r>
            <a:r>
              <a:rPr b="1"/>
              <a:t> at least once</a:t>
            </a:r>
          </a:p>
          <a:p>
            <a:endParaRPr b="1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6863975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This is the whole course in one project. Small scope, done well, beats big scope, half-built.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Required Capabilities (all six)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 passing project shows</a:t>
            </a:r>
            <a:r>
              <a:rPr b="1"/>
              <a:t> every</a:t>
            </a:r>
            <a:r>
              <a:t> capability at least once (ref</a:t>
            </a:r>
            <a:r>
              <a:rPr>
                <a:latin typeface="Courier New"/>
              </a:rPr>
              <a:t> capstone-rubric.md</a:t>
            </a:r>
            <a:r>
              <a:t> ):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4222188"/>
              </p:ext>
            </p:extLst>
          </p:nvPr>
        </p:nvGraphicFramePr>
        <p:xfrm>
          <a:off x="250444" y="1602231"/>
          <a:ext cx="8902700" cy="34626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42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384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t>Capability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Minimum bar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6147">
                <a:tc>
                  <a:txBody>
                    <a:bodyPr/>
                    <a:lstStyle/>
                    <a:p>
                      <a:r>
                        <a:rPr b="1"/>
                        <a:t>Reasoning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An explicit plan / ReAct loop, not one prompt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6147">
                <a:tc>
                  <a:txBody>
                    <a:bodyPr/>
                    <a:lstStyle/>
                    <a:p>
                      <a:r>
                        <a:rPr b="1"/>
                        <a:t>Tool 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≥ 2 real tools with validated schemas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6147">
                <a:tc>
                  <a:txBody>
                    <a:bodyPr/>
                    <a:lstStyle/>
                    <a:p>
                      <a:r>
                        <a:rPr b="1"/>
                        <a:t>Reflection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The system self-checks or revises ≥ 1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6147">
                <a:tc>
                  <a:txBody>
                    <a:bodyPr/>
                    <a:lstStyle/>
                    <a:p>
                      <a:r>
                        <a:rPr b="1"/>
                        <a:t>Multi-agent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≥ 2 cooperating roles/agents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6147">
                <a:tc>
                  <a:txBody>
                    <a:bodyPr/>
                    <a:lstStyle/>
                    <a:p>
                      <a:r>
                        <a:rPr b="1"/>
                        <a:t>Evaluation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 small frozen eval set + before/after scores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6147">
                <a:tc>
                  <a:txBody>
                    <a:bodyPr/>
                    <a:lstStyle/>
                    <a:p>
                      <a:r>
                        <a:rPr b="1" dirty="0"/>
                        <a:t>Governance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Audit log + human gate on dangerous actions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71500" y="7040448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Six checkboxes. Wire all six early with one thin thread, then make each one good.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Scope It With the Agent Design Canvas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Fill</a:t>
            </a:r>
            <a:r>
              <a:rPr dirty="0">
                <a:latin typeface="Courier New"/>
              </a:rPr>
              <a:t> agent-design-</a:t>
            </a:r>
            <a:r>
              <a:rPr dirty="0" err="1">
                <a:latin typeface="Courier New"/>
              </a:rPr>
              <a:t>canvas.md</a:t>
            </a:r>
            <a:r>
              <a:rPr dirty="0"/>
              <a:t> </a:t>
            </a:r>
            <a:r>
              <a:rPr b="1" dirty="0"/>
              <a:t> before</a:t>
            </a:r>
            <a:r>
              <a:rPr dirty="0"/>
              <a:t> you write code — one page, seven boxes:</a:t>
            </a:r>
          </a:p>
          <a:p>
            <a:endParaRPr dirty="0"/>
          </a:p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r>
              <a:rPr dirty="0"/>
              <a:t> The</a:t>
            </a:r>
            <a:r>
              <a:rPr b="1" dirty="0"/>
              <a:t> "out of scope"</a:t>
            </a:r>
            <a:r>
              <a:rPr dirty="0"/>
              <a:t> line is the most valuable thing you'll write today.</a:t>
            </a:r>
          </a:p>
          <a:p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" y="2404691"/>
            <a:ext cx="9358313" cy="174423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85267" y="6978592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A finished canvas is a scoped project. A blank canvas is a demo that dies at 4 p.m.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Timeline for the 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r>
              <a:rPr dirty="0"/>
              <a:t> Use the</a:t>
            </a:r>
            <a:r>
              <a:rPr dirty="0">
                <a:latin typeface="Courier New"/>
              </a:rPr>
              <a:t> starter/</a:t>
            </a:r>
            <a:r>
              <a:rPr dirty="0"/>
              <a:t> scaffold in</a:t>
            </a:r>
            <a:r>
              <a:rPr dirty="0">
                <a:latin typeface="Courier New"/>
              </a:rPr>
              <a:t> labs/17-Capstone</a:t>
            </a:r>
            <a:r>
              <a:rPr dirty="0"/>
              <a:t> so hour one isn't plumbing.</a:t>
            </a:r>
          </a:p>
          <a:p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250" y="1474555"/>
            <a:ext cx="8915400" cy="163044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71500" y="6872450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Hit "end-to-end but ugly" by lunch. Everything after lunch is making it good, not making it work.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Demo Format (10 min / team)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From</a:t>
            </a:r>
            <a:r>
              <a:rPr dirty="0">
                <a:latin typeface="Courier New"/>
              </a:rPr>
              <a:t> capstone-</a:t>
            </a:r>
            <a:r>
              <a:rPr dirty="0" err="1">
                <a:latin typeface="Courier New"/>
              </a:rPr>
              <a:t>rubric.md</a:t>
            </a:r>
            <a:r>
              <a:rPr dirty="0"/>
              <a:t> :</a:t>
            </a:r>
          </a:p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r>
              <a:rPr dirty="0"/>
              <a:t> Show the</a:t>
            </a:r>
            <a:r>
              <a:rPr b="1" dirty="0"/>
              <a:t> audit log</a:t>
            </a:r>
            <a:r>
              <a:rPr dirty="0"/>
              <a:t> live — reviewers grade the</a:t>
            </a:r>
            <a:r>
              <a:rPr i="1" dirty="0"/>
              <a:t> process</a:t>
            </a:r>
            <a:r>
              <a:rPr dirty="0"/>
              <a:t> , not just the answer.</a:t>
            </a:r>
          </a:p>
          <a:p>
            <a:r>
              <a:rPr dirty="0"/>
              <a:t> A handled edge case earns more than a flawless happy path.</a:t>
            </a:r>
          </a:p>
          <a:p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" y="1806829"/>
            <a:ext cx="9363075" cy="114830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9100" y="6863975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Don't narrate what it would do. Run it, break it on purpose, and show the gate catching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You're Graded (100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8740026"/>
              </p:ext>
            </p:extLst>
          </p:nvPr>
        </p:nvGraphicFramePr>
        <p:xfrm>
          <a:off x="237744" y="1540382"/>
          <a:ext cx="891540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79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858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t>Dimension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Full marks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Problem &amp; design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Clear goal, sane scope, completed canvas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Reasoning &amp; planning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Robust loop; recovers from surprises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Tools &amp; integration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Well-specified tools; clean error handling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Reflection &amp; quality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Measurable lift from self-evaluation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Multi-agent coordination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Distinct roles that actually cooperate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Evaluation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Frozen set, honest metrics, before/after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Governance &amp; safety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Least privilege, human gate, full audit log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Demo &amp; communication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Clear demo; team explains tradeoffs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219456" y="6932108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Notice the weights: reasoning, tools, multi-agent, and eval are 60 of 100. Depth beats features.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Repo with runnable code (or a documented low-code flow) +</a:t>
            </a:r>
            <a:r>
              <a:rPr>
                <a:latin typeface="Courier New"/>
              </a:rPr>
              <a:t> requirements.txt</a:t>
            </a:r>
          </a:p>
          <a:p>
            <a:r>
              <a:t> Completed</a:t>
            </a:r>
            <a:r>
              <a:rPr>
                <a:latin typeface="Courier New"/>
              </a:rPr>
              <a:t> agent-design-canvas.md</a:t>
            </a:r>
            <a:r>
              <a:t> </a:t>
            </a:r>
            <a:r>
              <a:rPr b="1"/>
              <a:t> and</a:t>
            </a:r>
            <a:r>
              <a:t> </a:t>
            </a:r>
            <a:r>
              <a:rPr>
                <a:latin typeface="Courier New"/>
              </a:rPr>
              <a:t> agent-safety-checklist.md</a:t>
            </a:r>
          </a:p>
          <a:p>
            <a:r>
              <a:t> Eval set + a results table (before/after one change)</a:t>
            </a:r>
          </a:p>
          <a:p>
            <a:r>
              <a:t> A sample</a:t>
            </a:r>
            <a:r>
              <a:rPr b="1"/>
              <a:t> audit log (JSONL)</a:t>
            </a:r>
            <a:r>
              <a:t> from a real run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59521"/>
            <a:ext cx="8636000" cy="1854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95300" y="6661612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If the audit log and the eval results are missing, two of the six capabilities are unproven.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Thin thread first</a:t>
            </a:r>
            <a:r>
              <a:t> — one supervisor, one worker, one tool, one logged run</a:t>
            </a:r>
          </a:p>
          <a:p>
            <a:r>
              <a:rPr b="1"/>
              <a:t> Freeze the eval set early</a:t>
            </a:r>
            <a:r>
              <a:t> and never edit it — that's how "before/after" means anything</a:t>
            </a:r>
          </a:p>
          <a:p>
            <a:r>
              <a:rPr b="1"/>
              <a:t> Fake slow/expensive tools</a:t>
            </a:r>
            <a:r>
              <a:t> with local stubs; spend your time on the</a:t>
            </a:r>
            <a:r>
              <a:rPr i="1"/>
              <a:t> loop</a:t>
            </a:r>
            <a:r>
              <a:t> , not integrations</a:t>
            </a:r>
          </a:p>
          <a:p>
            <a:r>
              <a:rPr b="1"/>
              <a:t> Cap the loop</a:t>
            </a:r>
            <a:r>
              <a:t> (max steps + cost) on line one</a:t>
            </a:r>
          </a:p>
          <a:p>
            <a:r>
              <a:rPr b="1"/>
              <a:t> One dangerous action, well-gated</a:t>
            </a:r>
            <a:r>
              <a:t> beats five ungated ones</a:t>
            </a:r>
          </a:p>
          <a:p>
            <a:r>
              <a:t> Reuse the course assets:</a:t>
            </a:r>
            <a:r>
              <a:rPr>
                <a:latin typeface="Courier New"/>
              </a:rPr>
              <a:t> help_center.md</a:t>
            </a:r>
            <a:r>
              <a:t> ,</a:t>
            </a:r>
            <a:r>
              <a:rPr>
                <a:latin typeface="Courier New"/>
              </a:rPr>
              <a:t> support_tickets.csv</a:t>
            </a:r>
            <a:r>
              <a:t> , the audit schema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9100" y="6863975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Every hour ask: "what's the one thing that, if it breaks in the demo, sinks us?" Fix that.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Common Pitfalls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Scope creep</a:t>
            </a:r>
            <a:r>
              <a:t> — five domains, zero finished. Pick one use case.</a:t>
            </a:r>
          </a:p>
          <a:p>
            <a:r>
              <a:rPr b="1"/>
              <a:t> Prompt-in-a-trenchcoat</a:t>
            </a:r>
            <a:r>
              <a:t> — one giant prompt pretending to be multi-agent</a:t>
            </a:r>
          </a:p>
          <a:p>
            <a:r>
              <a:rPr b="1"/>
              <a:t> No eval set</a:t>
            </a:r>
            <a:r>
              <a:t> — "it worked when I tried it" is not evaluation</a:t>
            </a:r>
          </a:p>
          <a:p>
            <a:r>
              <a:rPr b="1"/>
              <a:t> Governance bolted on at 4 p.m.</a:t>
            </a:r>
            <a:r>
              <a:t> — the log and the gate are design, not garnish</a:t>
            </a:r>
          </a:p>
          <a:p>
            <a:r>
              <a:rPr b="1"/>
              <a:t> Demo-by-slides</a:t>
            </a:r>
            <a:r>
              <a:t> — reviewers want it</a:t>
            </a:r>
            <a:r>
              <a:rPr i="1"/>
              <a:t> live</a:t>
            </a:r>
            <a:r>
              <a:t> , including the failure case</a:t>
            </a:r>
          </a:p>
          <a:p>
            <a:r>
              <a:rPr b="1"/>
              <a:t> Real integrations eating the day</a:t>
            </a:r>
            <a:r>
              <a:t> — a flaky API will cost you the eval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9100" y="6863975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The failure mode is always the same: too much scope, safety last, and nothing that runs end to end.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Gallery — Finance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Invoice triage &amp; approval</a:t>
            </a:r>
            <a:r>
              <a:t> — extract → validate against PO → flag anomalies →</a:t>
            </a:r>
            <a:r>
              <a:rPr b="1"/>
              <a:t> human gate</a:t>
            </a:r>
            <a:r>
              <a:t> to approve payment</a:t>
            </a:r>
          </a:p>
          <a:p>
            <a:r>
              <a:rPr b="1"/>
              <a:t> Expense-policy auditor</a:t>
            </a:r>
            <a:r>
              <a:t> — read expense rows, cite the policy clause, escalate the gray areas</a:t>
            </a:r>
          </a:p>
          <a:p>
            <a:r>
              <a:rPr b="1"/>
              <a:t> Earnings-call briefer</a:t>
            </a:r>
            <a:r>
              <a:t> — retrieve transcript → summarize → reflect for factuality → cite sources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239712" y="6863975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Finance = high stakes, clear rules to cite, obvious dangerous action (pay). A natural governance story.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Gallery — HR &amp; Real Estate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HR</a:t>
            </a:r>
          </a:p>
          <a:p>
            <a:pPr lvl="1"/>
            <a:r>
              <a:rPr b="1"/>
              <a:t> Onboarding coordinator</a:t>
            </a:r>
            <a:r>
              <a:t> — schedule, draft welcome emails, checklist (draft-only, human sends)</a:t>
            </a:r>
          </a:p>
          <a:p>
            <a:pPr lvl="1"/>
            <a:r>
              <a:rPr b="1"/>
              <a:t> Pay-equity analyst</a:t>
            </a:r>
            <a:r>
              <a:t> — query aggregates (no raw PII), reflect on the finding, gated report</a:t>
            </a:r>
          </a:p>
          <a:p>
            <a:pPr lvl="1"/>
            <a:r>
              <a:rPr b="1"/>
              <a:t> Policy Q&amp;A</a:t>
            </a:r>
            <a:r>
              <a:t> — answer only from the handbook; escalate anything legal</a:t>
            </a:r>
          </a:p>
          <a:p>
            <a:r>
              <a:rPr b="1"/>
              <a:t> Real Estate</a:t>
            </a:r>
          </a:p>
          <a:p>
            <a:pPr lvl="1"/>
            <a:r>
              <a:rPr b="1"/>
              <a:t> Listing assistant</a:t>
            </a:r>
            <a:r>
              <a:t> — draft listings from specs + comps; reflect for compliance wording</a:t>
            </a:r>
          </a:p>
          <a:p>
            <a:pPr lvl="1"/>
            <a:r>
              <a:rPr b="1"/>
              <a:t> Lead qualifier</a:t>
            </a:r>
            <a:r>
              <a:t> — score inbound leads, route hot ones, book viewings (gated)</a:t>
            </a:r>
          </a:p>
          <a:p>
            <a:pPr lvl="1"/>
            <a:r>
              <a:rPr b="1"/>
              <a:t> Comps analyst</a:t>
            </a:r>
            <a:r>
              <a:t> — pull comparables, compute a range, cite each comp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244475" y="6907883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HR and Real Estate both live near regulated data — perfect for showing least privilege and gates.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Gallery — Customer Support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Tier-1 resolver</a:t>
            </a:r>
            <a:r>
              <a:t> — answer from</a:t>
            </a:r>
            <a:r>
              <a:rPr>
                <a:latin typeface="Courier New"/>
              </a:rPr>
              <a:t> help_center.md</a:t>
            </a:r>
            <a:r>
              <a:t> , escalate what it can't ground</a:t>
            </a:r>
          </a:p>
          <a:p>
            <a:r>
              <a:rPr b="1"/>
              <a:t> Refund handler</a:t>
            </a:r>
            <a:r>
              <a:t> — verify eligibility from the KB, then a</a:t>
            </a:r>
            <a:r>
              <a:rPr b="1"/>
              <a:t> human gate</a:t>
            </a:r>
            <a:r>
              <a:t> before issuing</a:t>
            </a:r>
          </a:p>
          <a:p>
            <a:r>
              <a:rPr b="1"/>
              <a:t> Voice support line</a:t>
            </a:r>
            <a:r>
              <a:t> — reuse your Lab 15 agent; add a second agent for account changes</a:t>
            </a:r>
          </a:p>
          <a:p>
            <a:r>
              <a:rPr b="1"/>
              <a:t> Ticket triage swarm</a:t>
            </a:r>
            <a:r>
              <a:t> — classifier agent + drafting agent + a QA/reflection agent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100" y="6945602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Support has ready-made assets (help_center.md, support_tickets.csv) — you can be building by 10:15.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Build It — Good Luck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Go to</a:t>
            </a:r>
          </a:p>
          <a:p>
            <a:r>
              <a:rPr b="1" i="1"/>
              <a:t> labs/17-Capstone</a:t>
            </a:r>
            <a:r>
              <a:t> — run-of-show, the</a:t>
            </a:r>
            <a:r>
              <a:rPr>
                <a:latin typeface="Courier New"/>
              </a:rPr>
              <a:t> starter/</a:t>
            </a:r>
            <a:r>
              <a:t> scaffold, and the rubric</a:t>
            </a:r>
          </a:p>
          <a:p>
            <a:r>
              <a:t> Design on paper first. Get one thread running. Then make it good.</a:t>
            </a:r>
          </a:p>
          <a:p>
            <a:r>
              <a:t> Log everything. Gate the dangerous thing. Prove it with the eval set.</a:t>
            </a:r>
          </a:p>
          <a:p>
            <a:r>
              <a:t> Demo it</a:t>
            </a:r>
            <a:r>
              <a:rPr b="1"/>
              <a:t> live</a:t>
            </a:r>
            <a:r>
              <a:t> — edge case and all.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6874735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You started the week hand-building a ReAct loop. Today you ship a governed multi-agent system. Go build.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Pc_New">
  <a:themeElements>
    <a:clrScheme name="LPc_New 7">
      <a:dk1>
        <a:srgbClr val="000000"/>
      </a:dk1>
      <a:lt1>
        <a:srgbClr val="FFFFFF"/>
      </a:lt1>
      <a:dk2>
        <a:srgbClr val="CCECFF"/>
      </a:dk2>
      <a:lt2>
        <a:srgbClr val="003399"/>
      </a:lt2>
      <a:accent1>
        <a:srgbClr val="0794FF"/>
      </a:accent1>
      <a:accent2>
        <a:srgbClr val="800080"/>
      </a:accent2>
      <a:accent3>
        <a:srgbClr val="E2F4FF"/>
      </a:accent3>
      <a:accent4>
        <a:srgbClr val="DADADA"/>
      </a:accent4>
      <a:accent5>
        <a:srgbClr val="AAC8FF"/>
      </a:accent5>
      <a:accent6>
        <a:srgbClr val="730073"/>
      </a:accent6>
      <a:hlink>
        <a:srgbClr val="FF0000"/>
      </a:hlink>
      <a:folHlink>
        <a:srgbClr val="FFFFD2"/>
      </a:folHlink>
    </a:clrScheme>
    <a:fontScheme name="LPc_New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lnDef>
  </a:objectDefaults>
  <a:extraClrSchemeLst>
    <a:extraClrScheme>
      <a:clrScheme name="LPc_New 1">
        <a:dk1>
          <a:srgbClr val="000099"/>
        </a:dk1>
        <a:lt1>
          <a:srgbClr val="FFFFFF"/>
        </a:lt1>
        <a:dk2>
          <a:srgbClr val="0000FF"/>
        </a:dk2>
        <a:lt2>
          <a:srgbClr val="FFFF00"/>
        </a:lt2>
        <a:accent1>
          <a:srgbClr val="FF6633"/>
        </a:accent1>
        <a:accent2>
          <a:srgbClr val="FF00FF"/>
        </a:accent2>
        <a:accent3>
          <a:srgbClr val="AAAAFF"/>
        </a:accent3>
        <a:accent4>
          <a:srgbClr val="DADADA"/>
        </a:accent4>
        <a:accent5>
          <a:srgbClr val="FFB8AD"/>
        </a:accent5>
        <a:accent6>
          <a:srgbClr val="E700E7"/>
        </a:accent6>
        <a:hlink>
          <a:srgbClr val="FF0000"/>
        </a:hlink>
        <a:folHlink>
          <a:srgbClr val="8080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2">
        <a:dk1>
          <a:srgbClr val="000066"/>
        </a:dk1>
        <a:lt1>
          <a:srgbClr val="CCECFF"/>
        </a:lt1>
        <a:dk2>
          <a:srgbClr val="000080"/>
        </a:dk2>
        <a:lt2>
          <a:srgbClr val="00000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000056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3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B2B2B2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D5D5D5"/>
        </a:accent5>
        <a:accent6>
          <a:srgbClr val="797979"/>
        </a:accent6>
        <a:hlink>
          <a:srgbClr val="5F5F5F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4">
        <a:dk1>
          <a:srgbClr val="000000"/>
        </a:dk1>
        <a:lt1>
          <a:srgbClr val="FFFFFF"/>
        </a:lt1>
        <a:dk2>
          <a:srgbClr val="660033"/>
        </a:dk2>
        <a:lt2>
          <a:srgbClr val="FFFF66"/>
        </a:lt2>
        <a:accent1>
          <a:srgbClr val="FF0033"/>
        </a:accent1>
        <a:accent2>
          <a:srgbClr val="CC6600"/>
        </a:accent2>
        <a:accent3>
          <a:srgbClr val="B8AAAD"/>
        </a:accent3>
        <a:accent4>
          <a:srgbClr val="DADADA"/>
        </a:accent4>
        <a:accent5>
          <a:srgbClr val="FFAAAD"/>
        </a:accent5>
        <a:accent6>
          <a:srgbClr val="B95C00"/>
        </a:accent6>
        <a:hlink>
          <a:srgbClr val="999933"/>
        </a:hlink>
        <a:folHlink>
          <a:srgbClr val="A5002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5">
        <a:dk1>
          <a:srgbClr val="000000"/>
        </a:dk1>
        <a:lt1>
          <a:srgbClr val="FFFFFF"/>
        </a:lt1>
        <a:dk2>
          <a:srgbClr val="CCECFF"/>
        </a:dk2>
        <a:lt2>
          <a:srgbClr val="00008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6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9999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7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0794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AAC8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378297</TotalTime>
  <Words>1309</Words>
  <Application>Microsoft Macintosh PowerPoint</Application>
  <PresentationFormat>Custom</PresentationFormat>
  <Paragraphs>165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3" baseType="lpstr">
      <vt:lpstr>Arial</vt:lpstr>
      <vt:lpstr>Arial Bold</vt:lpstr>
      <vt:lpstr>Courier New</vt:lpstr>
      <vt:lpstr>Garamond</vt:lpstr>
      <vt:lpstr>Monotype Sorts</vt:lpstr>
      <vt:lpstr>Times New Roman</vt:lpstr>
      <vt:lpstr>Verdana</vt:lpstr>
      <vt:lpstr>Wingdings</vt:lpstr>
      <vt:lpstr>LPc_New</vt:lpstr>
      <vt:lpstr>Capstone: Enterprise AI Agent Challenge</vt:lpstr>
      <vt:lpstr>The Challenge</vt:lpstr>
      <vt:lpstr>Required Capabilities (all six)</vt:lpstr>
      <vt:lpstr>Scope It With the Agent Design Canvas</vt:lpstr>
      <vt:lpstr>Timeline for the Day</vt:lpstr>
      <vt:lpstr>The Demo Format (10 min / team)</vt:lpstr>
      <vt:lpstr>How You're Graded (100 pts)</vt:lpstr>
      <vt:lpstr>Deliverables</vt:lpstr>
      <vt:lpstr>Tips</vt:lpstr>
      <vt:lpstr>Common Pitfalls</vt:lpstr>
      <vt:lpstr>Gallery — Finance</vt:lpstr>
      <vt:lpstr>Gallery — HR &amp; Real Estate</vt:lpstr>
      <vt:lpstr>Gallery — Customer Support</vt:lpstr>
      <vt:lpstr>Build It — Good Luck</vt:lpstr>
    </vt:vector>
  </TitlesOfParts>
  <Company>Elephant Scale LLC &amp; LearningPatterns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</dc:title>
  <dc:subject>Spark</dc:subject>
  <dc:creator>Elephant Scale</dc:creator>
  <cp:lastModifiedBy>Warren Crawford</cp:lastModifiedBy>
  <cp:revision>4136</cp:revision>
  <cp:lastPrinted>2010-01-03T02:41:41Z</cp:lastPrinted>
  <dcterms:created xsi:type="dcterms:W3CDTF">2010-07-13T15:22:01Z</dcterms:created>
  <dcterms:modified xsi:type="dcterms:W3CDTF">2026-10-18T22:08:19Z</dcterms:modified>
</cp:coreProperties>
</file>