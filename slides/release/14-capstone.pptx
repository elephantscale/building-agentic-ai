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Capstone: Enterprise AI Agent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In teams,</a:t>
            </a:r>
            <a:r>
              <a:rPr b="1"/>
              <a:t> design a multi-agent system</a:t>
            </a:r>
            <a:r>
              <a:t> in one domain:</a:t>
            </a:r>
          </a:p>
          <a:p>
            <a:pPr lvl="1"/>
            <a:r>
              <a:rPr b="1"/>
              <a:t> Finance</a:t>
            </a:r>
            <a:r>
              <a:t> ·</a:t>
            </a:r>
            <a:r>
              <a:rPr b="1"/>
              <a:t> HR</a:t>
            </a:r>
            <a:r>
              <a:t> ·</a:t>
            </a:r>
            <a:r>
              <a:rPr b="1"/>
              <a:t> Real Estate</a:t>
            </a:r>
            <a:r>
              <a:t> ·</a:t>
            </a:r>
            <a:r>
              <a:rPr b="1"/>
              <a:t> Customer Support</a:t>
            </a:r>
          </a:p>
          <a:p>
            <a:r>
              <a:t> You have one day:</a:t>
            </a:r>
            <a:r>
              <a:rPr b="1"/>
              <a:t> design → draw → pressure-test → defend</a:t>
            </a:r>
          </a:p>
          <a:p>
            <a:r>
              <a:t> It must be a</a:t>
            </a:r>
            <a:r>
              <a:rPr i="1"/>
              <a:t> system</a:t>
            </a:r>
            <a:r>
              <a:t> , not a single prompt — agents that</a:t>
            </a:r>
            <a:r>
              <a:rPr b="1"/>
              <a:t> cooperate</a:t>
            </a:r>
          </a:p>
          <a:p>
            <a:r>
              <a:t> Everything you learned this week shows up here</a:t>
            </a:r>
            <a:r>
              <a:rPr b="1"/>
              <a:t> at least once</a:t>
            </a:r>
          </a:p>
          <a:p>
            <a:endParaRPr b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6945602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 are not writing code today. A design you can defend beats a demo that happens to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Required Capabilities (all six)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passing project shows</a:t>
            </a:r>
            <a:r>
              <a:rPr b="1"/>
              <a:t> every</a:t>
            </a:r>
            <a:r>
              <a:t> capability at least once (ref</a:t>
            </a:r>
            <a:r>
              <a:rPr>
                <a:latin typeface="Courier New"/>
              </a:rPr>
              <a:t> capstone-rubric.md</a:t>
            </a:r>
            <a:r>
              <a:t> ):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450752"/>
              </p:ext>
            </p:extLst>
          </p:nvPr>
        </p:nvGraphicFramePr>
        <p:xfrm>
          <a:off x="244475" y="2228691"/>
          <a:ext cx="8915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Minimum bar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Reasoning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An explicit plan / ReAct loop, not one prompt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Tool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≥ 2 real tools with validated schemas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Reflection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The system self-checks or revises ≥ 1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Multi-agent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≥ 2 cooperating roles/agents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5-8 </a:t>
                      </a:r>
                      <a:r>
                        <a:rPr b="1"/>
                        <a:t>named</a:t>
                      </a:r>
                      <a:r>
                        <a:t> test cases, incl. one unsafe request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A gate on the picture + what gets logged, per step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91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Six checkboxes — and every one of them has to be visible on your picture.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It With the Agent Design Canvas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Fill</a:t>
            </a:r>
            <a:r>
              <a:rPr dirty="0">
                <a:latin typeface="Courier New"/>
              </a:rPr>
              <a:t> agent-design-</a:t>
            </a:r>
            <a:r>
              <a:rPr dirty="0" err="1">
                <a:latin typeface="Courier New"/>
              </a:rPr>
              <a:t>canvas.md</a:t>
            </a:r>
            <a:r>
              <a:rPr dirty="0"/>
              <a:t> —</a:t>
            </a:r>
            <a:r>
              <a:rPr b="1" dirty="0"/>
              <a:t> this is the deliverable.</a:t>
            </a:r>
            <a:r>
              <a:rPr dirty="0"/>
              <a:t> One page, seven boxes: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</a:t>
            </a:r>
            <a:r>
              <a:rPr b="1" dirty="0"/>
              <a:t> "out of scope"</a:t>
            </a:r>
            <a:r>
              <a:rPr dirty="0"/>
              <a:t> line is the most valuable thing you'll write today.</a:t>
            </a:r>
          </a:p>
          <a:p>
            <a:r>
              <a:rPr dirty="0"/>
              <a:t> Strong teams have a</a:t>
            </a:r>
            <a:r>
              <a:rPr b="1" dirty="0"/>
              <a:t> longer out-of-scope list than feature list</a:t>
            </a:r>
            <a:r>
              <a:rPr dirty="0"/>
              <a:t> 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2" y="2091531"/>
            <a:ext cx="9335032" cy="17399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697973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 finished canvas is a scoped project. A blank canvas is a team still arguing about features.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2 — The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 One diagram</a:t>
            </a:r>
            <a:r>
              <a:rPr dirty="0"/>
              <a:t> , and it has to carry all six capabilities:</a:t>
            </a:r>
          </a:p>
          <a:p>
            <a:endParaRPr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Draw it</a:t>
            </a:r>
            <a:r>
              <a:rPr b="1" dirty="0"/>
              <a:t> as text</a:t>
            </a:r>
            <a:r>
              <a:rPr dirty="0"/>
              <a:t> so it lives inside your canvas — ASCII, or Mermaid pasted into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mermaid.live</a:t>
            </a:r>
            <a:r>
              <a:rPr dirty="0"/>
              <a:t> . Same text-becomes-picture trick as Lab 9's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graph.md</a:t>
            </a:r>
            <a:r>
              <a:rPr dirty="0"/>
              <a:t> 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1634331"/>
            <a:ext cx="8915400" cy="12964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953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If a capability is not visible on the picture, you have not designed it yet.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Run-of-Show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>
                <a:latin typeface="Courier New"/>
              </a:rPr>
              <a:t> starter/</a:t>
            </a:r>
            <a:r>
              <a:rPr dirty="0" err="1">
                <a:latin typeface="Courier New"/>
              </a:rPr>
              <a:t>agent_scaffold.py</a:t>
            </a:r>
            <a:r>
              <a:rPr dirty="0"/>
              <a:t> is</a:t>
            </a:r>
            <a:r>
              <a:rPr b="1" dirty="0"/>
              <a:t> reference reading</a:t>
            </a:r>
            <a:r>
              <a:rPr dirty="0"/>
              <a:t> — use it to check your design is buildable.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08865"/>
            <a:ext cx="8915400" cy="161163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34950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Have the picture drawn by lunch. The afternoon makes it defensible, not makes it exist.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Pressure Test (14:15)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 hand your canvas + picture to another team. They hand you theirs.</a:t>
            </a:r>
          </a:p>
          <a:p>
            <a:r>
              <a:t> Each side comes back with</a:t>
            </a:r>
            <a:r>
              <a:rPr b="1"/>
              <a:t> three specific holes</a:t>
            </a:r>
            <a:r>
              <a:t> — not "looks good".</a:t>
            </a:r>
          </a:p>
          <a:p>
            <a:r>
              <a:t> Three questions that find them fast: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67930"/>
            <a:ext cx="9223484" cy="18847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3050" y="6732720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Everyone presents having already been attacked once. At 16:00 you defend a design, not read one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Presentation (10 min / team)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</a:t>
            </a:r>
            <a:r>
              <a:rPr b="1" dirty="0"/>
              <a:t> "where it breaks"</a:t>
            </a:r>
            <a:r>
              <a:rPr dirty="0"/>
              <a:t> slot is required, not optional.</a:t>
            </a:r>
          </a:p>
          <a:p>
            <a:r>
              <a:rPr dirty="0"/>
              <a:t> Naming your own failure modes beats any happy path.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" y="1758455"/>
            <a:ext cx="9358313" cy="10442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42900" y="694455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Don't tell us it works. Tell us how it fails, and show us where the gate stands.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You're Graded (100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7631501"/>
              </p:ext>
            </p:extLst>
          </p:nvPr>
        </p:nvGraphicFramePr>
        <p:xfrm>
          <a:off x="237744" y="1253331"/>
          <a:ext cx="89154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43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9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8269">
                <a:tc>
                  <a:txBody>
                    <a:bodyPr/>
                    <a:lstStyle/>
                    <a:p>
                      <a: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marks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Problem &amp;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Clear goal, sane scope, completed canvas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Reasoning &amp; planning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loop you can trace on the picture; says how it recovers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Tools &amp;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Well-specified tools, safety classes, least 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Reflection &amp;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named check — and what happens when it fails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Multi-agent coordination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Distinct roles that actually cooperate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5-8 named cases incl. one unsafe; says what it measures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Governance &amp; 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Gate on the picture, approver named, logging per step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Communication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Defends the design under pushback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71500" y="6670880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Notice the weights: reasoning, tools, multi-agent, and eval are 60 of 100. Depth beats features.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completed</a:t>
            </a:r>
          </a:p>
          <a:p>
            <a:r>
              <a:rPr b="1" i="1"/>
              <a:t> agent-design-canvas.md</a:t>
            </a:r>
            <a:r>
              <a:t> — all seven sections, your own copy</a:t>
            </a:r>
          </a:p>
          <a:p>
            <a:r>
              <a:rPr b="1"/>
              <a:t> One picture</a:t>
            </a:r>
            <a:r>
              <a:t> carrying all six capabilities</a:t>
            </a:r>
          </a:p>
          <a:p>
            <a:r>
              <a:rPr b="1"/>
              <a:t> 5-8 named test cases</a:t>
            </a:r>
            <a:r>
              <a:t> , one of them an unsafe request — you name them, you don't run them</a:t>
            </a:r>
          </a:p>
          <a:p>
            <a:r>
              <a:t> Ten minutes that survive the room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42109"/>
            <a:ext cx="9372600" cy="10878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6936870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most valuable line you will write today is "out of scope".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One use case, two roles, one dangerous action</a:t>
            </a:r>
            <a:r>
              <a:t> — that is the whole scope</a:t>
            </a:r>
          </a:p>
          <a:p>
            <a:r>
              <a:rPr b="1"/>
              <a:t> Nothing dangerous in your tools table?</a:t>
            </a:r>
            <a:r>
              <a:t> Then there's no gate and no governance — add a real action</a:t>
            </a:r>
          </a:p>
          <a:p>
            <a:r>
              <a:rPr b="1"/>
              <a:t> Label every arrow</a:t>
            </a:r>
            <a:r>
              <a:t> — an unlabelled arrow means "related somehow", which is not a design</a:t>
            </a:r>
          </a:p>
          <a:p>
            <a:r>
              <a:rPr b="1"/>
              <a:t> Name the approver</a:t>
            </a:r>
            <a:r>
              <a:t> , not just the gate: who are they, and what do they see?</a:t>
            </a:r>
          </a:p>
          <a:p>
            <a:r>
              <a:rPr b="1"/>
              <a:t> Write "out of scope" early</a:t>
            </a:r>
            <a:r>
              <a:t> — it is the fastest way to stop a team arguing</a:t>
            </a:r>
          </a:p>
          <a:p>
            <a:r>
              <a:t> Reuse the course assets:</a:t>
            </a:r>
            <a:r>
              <a:rPr>
                <a:latin typeface="Courier New"/>
              </a:rPr>
              <a:t> help_center.md</a:t>
            </a:r>
            <a:r>
              <a:t> ,</a:t>
            </a:r>
            <a:r>
              <a:rPr>
                <a:latin typeface="Courier New"/>
              </a:rPr>
              <a:t> support_tickets.csv</a:t>
            </a:r>
            <a:r>
              <a:t> , the audit schema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Every hour ask: "if someone senior read this page, what's the first question they'd ask?" Answer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Scope creep</a:t>
            </a:r>
            <a:r>
              <a:t> — five domains, zero defended. Pick one use case.</a:t>
            </a:r>
          </a:p>
          <a:p>
            <a:r>
              <a:rPr b="1"/>
              <a:t> Prompt-in-a-trenchcoat</a:t>
            </a:r>
            <a:r>
              <a:t> — one box labelled "the agent" is not multi-agent</a:t>
            </a:r>
          </a:p>
          <a:p>
            <a:r>
              <a:rPr b="1"/>
              <a:t> A blind approver</a:t>
            </a:r>
            <a:r>
              <a:t> — a gate the human has no basis to decide at</a:t>
            </a:r>
          </a:p>
          <a:p>
            <a:r>
              <a:rPr b="1"/>
              <a:t> No unsafe test case</a:t>
            </a:r>
            <a:r>
              <a:t> — the one case that proves you thought about misuse</a:t>
            </a:r>
          </a:p>
          <a:p>
            <a:r>
              <a:rPr b="1"/>
              <a:t> Unlabelled arrows</a:t>
            </a:r>
            <a:r>
              <a:t> — a drawing that looks like a design and isn't</a:t>
            </a:r>
          </a:p>
          <a:p>
            <a:r>
              <a:rPr b="1"/>
              <a:t> Governance drawn last</a:t>
            </a:r>
            <a:r>
              <a:t> — it's one star and one box; put it in at 11:00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The failure mode is always the same: too much scope, safety last, and a picture nobody can walk.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Gallery — Finance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Invoice triage &amp; approval</a:t>
            </a:r>
            <a:r>
              <a:t> — extract → validate against PO → flag anomalies →</a:t>
            </a:r>
            <a:r>
              <a:rPr b="1"/>
              <a:t> human gate</a:t>
            </a:r>
            <a:r>
              <a:t> to approve payment</a:t>
            </a:r>
          </a:p>
          <a:p>
            <a:r>
              <a:rPr b="1"/>
              <a:t> Expense-policy auditor</a:t>
            </a:r>
            <a:r>
              <a:t> — read expense rows, cite the policy clause, escalate the gray areas</a:t>
            </a:r>
          </a:p>
          <a:p>
            <a:r>
              <a:rPr b="1"/>
              <a:t> Earnings-call briefer</a:t>
            </a:r>
            <a:r>
              <a:t> — retrieve transcript → summarize → reflect for factuality → cite sources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44475" y="6945602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Finance = high stakes, clear rules to cite, obvious dangerous action (pay). A natural governance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Gallery — HR &amp; Real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HR</a:t>
            </a:r>
          </a:p>
          <a:p>
            <a:pPr lvl="1"/>
            <a:r>
              <a:rPr b="1"/>
              <a:t> Onboarding coordinator</a:t>
            </a:r>
            <a:r>
              <a:t> — schedule, draft welcome emails, checklist (draft-only, human sends)</a:t>
            </a:r>
          </a:p>
          <a:p>
            <a:pPr lvl="1"/>
            <a:r>
              <a:rPr b="1"/>
              <a:t> Pay-equity analyst</a:t>
            </a:r>
            <a:r>
              <a:t> — query aggregates (no raw PII), reflect on the finding, gated report</a:t>
            </a:r>
          </a:p>
          <a:p>
            <a:pPr lvl="1"/>
            <a:r>
              <a:rPr b="1"/>
              <a:t> Policy Q&amp;A</a:t>
            </a:r>
            <a:r>
              <a:t> — answer only from the handbook; escalate anything legal</a:t>
            </a:r>
          </a:p>
          <a:p>
            <a:r>
              <a:rPr b="1"/>
              <a:t> Real Estate</a:t>
            </a:r>
          </a:p>
          <a:p>
            <a:pPr lvl="1"/>
            <a:r>
              <a:rPr b="1"/>
              <a:t> Listing assistant</a:t>
            </a:r>
            <a:r>
              <a:t> — draft listings from specs + comps; reflect for compliance wording</a:t>
            </a:r>
          </a:p>
          <a:p>
            <a:pPr lvl="1"/>
            <a:r>
              <a:rPr b="1"/>
              <a:t> Lead qualifier</a:t>
            </a:r>
            <a:r>
              <a:t> — score inbound leads, route hot ones, book viewings (gated)</a:t>
            </a:r>
          </a:p>
          <a:p>
            <a:pPr lvl="1"/>
            <a:r>
              <a:rPr b="1"/>
              <a:t> Comps analyst</a:t>
            </a:r>
            <a:r>
              <a:t> — pull comparables, compute a range, cite each comp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67397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HR and Real Estate both live near regulated data — perfect for showing least privilege and gates.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Gallery — Customer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Tier-1 resolver</a:t>
            </a:r>
            <a:r>
              <a:t> — answer from</a:t>
            </a:r>
            <a:r>
              <a:rPr>
                <a:latin typeface="Courier New"/>
              </a:rPr>
              <a:t> help_center.md</a:t>
            </a:r>
            <a:r>
              <a:t> , escalate what it can't ground</a:t>
            </a:r>
          </a:p>
          <a:p>
            <a:r>
              <a:rPr b="1"/>
              <a:t> Refund handler</a:t>
            </a:r>
            <a:r>
              <a:t> — verify eligibility from the KB, then a</a:t>
            </a:r>
            <a:r>
              <a:rPr b="1"/>
              <a:t> human gate</a:t>
            </a:r>
            <a:r>
              <a:t> before issuing</a:t>
            </a:r>
          </a:p>
          <a:p>
            <a:r>
              <a:rPr b="1"/>
              <a:t> Voice support line</a:t>
            </a:r>
            <a:r>
              <a:t> — reuse your Lab 15 agent; add a second agent for account changes</a:t>
            </a:r>
          </a:p>
          <a:p>
            <a:r>
              <a:rPr b="1"/>
              <a:t> Ticket triage swarm</a:t>
            </a:r>
            <a:r>
              <a:t> — classifier agent + drafting agent + a QA/reflection agent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038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Support has ready-made assets (help_center.md, support_tickets.csv) — you can be designing by 10:05.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It — Good Luck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Go to</a:t>
            </a:r>
          </a:p>
          <a:p>
            <a:r>
              <a:rPr b="1" i="1"/>
              <a:t> labs/17-Capstone</a:t>
            </a:r>
            <a:r>
              <a:t> — run-of-show, the picture checklist, and the rubric</a:t>
            </a:r>
          </a:p>
          <a:p>
            <a:r>
              <a:t> One use case. Two roles. One dangerous action. One page and one picture.</a:t>
            </a:r>
          </a:p>
          <a:p>
            <a:r>
              <a:t> Name the approver. Name what's logged. Name the case that would fail.</a:t>
            </a:r>
          </a:p>
          <a:p>
            <a:r>
              <a:t> Then defend it — the room gets to push back.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5825331"/>
            <a:ext cx="7507224" cy="175564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Monday: a ReAct loop with two read-only tools and a regex. Today: a governed multi-agent system you can defend. The loop never changed — you just know where the gate goes.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378297</TotalTime>
  <Words>1495</Words>
  <Application>Microsoft Macintosh PowerPoint</Application>
  <PresentationFormat>Custom</PresentationFormat>
  <Paragraphs>181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Capstone: Enterprise AI Agent Challenge</vt:lpstr>
      <vt:lpstr>The Challenge</vt:lpstr>
      <vt:lpstr>Required Capabilities (all six)</vt:lpstr>
      <vt:lpstr>Scope It With the Agent Design Canvas</vt:lpstr>
      <vt:lpstr>Deliverable 2 — The Picture</vt:lpstr>
      <vt:lpstr>Run-of-Show</vt:lpstr>
      <vt:lpstr>The Pressure Test (14:15)</vt:lpstr>
      <vt:lpstr>The Presentation (10 min / team)</vt:lpstr>
      <vt:lpstr>How You're Graded (100 pts)</vt:lpstr>
      <vt:lpstr>Deliverables</vt:lpstr>
      <vt:lpstr>Tips</vt:lpstr>
      <vt:lpstr>Common Pitfalls</vt:lpstr>
      <vt:lpstr>Gallery — Finance</vt:lpstr>
      <vt:lpstr>Gallery — HR &amp; Real Estate</vt:lpstr>
      <vt:lpstr>Gallery — Customer Support</vt:lpstr>
      <vt:lpstr>Design It — Good Luck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4136</cp:revision>
  <cp:lastPrinted>2010-01-03T02:41:41Z</cp:lastPrinted>
  <dcterms:created xsi:type="dcterms:W3CDTF">2010-07-13T15:22:01Z</dcterms:created>
  <dcterms:modified xsi:type="dcterms:W3CDTF">2026-10-23T04:03:50Z</dcterms:modified>
</cp:coreProperties>
</file>