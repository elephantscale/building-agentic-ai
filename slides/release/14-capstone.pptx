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Capstone: Enterprise AI Agent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 teams,</a:t>
            </a:r>
            <a:r>
              <a:rPr b="1"/>
              <a:t> design and build a multi-agent system</a:t>
            </a:r>
            <a:r>
              <a:t> in one domain:</a:t>
            </a:r>
          </a:p>
          <a:p>
            <a:pPr lvl="1"/>
            <a:r>
              <a:rPr b="1"/>
              <a:t> Finance</a:t>
            </a:r>
            <a:r>
              <a:t> ·</a:t>
            </a:r>
            <a:r>
              <a:rPr b="1"/>
              <a:t> HR</a:t>
            </a:r>
            <a:r>
              <a:t> ·</a:t>
            </a:r>
            <a:r>
              <a:rPr b="1"/>
              <a:t> Real Estate</a:t>
            </a:r>
            <a:r>
              <a:t> ·</a:t>
            </a:r>
            <a:r>
              <a:rPr b="1"/>
              <a:t> Customer Support</a:t>
            </a:r>
          </a:p>
          <a:p>
            <a:r>
              <a:t> You have one day:</a:t>
            </a:r>
            <a:r>
              <a:rPr b="1"/>
              <a:t> design → build → evaluate → demo</a:t>
            </a:r>
          </a:p>
          <a:p>
            <a:r>
              <a:t> It must be a</a:t>
            </a:r>
            <a:r>
              <a:rPr i="1"/>
              <a:t> system</a:t>
            </a:r>
            <a:r>
              <a:t> , not a single prompt — agents that</a:t>
            </a:r>
            <a:r>
              <a:rPr b="1"/>
              <a:t> cooperate</a:t>
            </a:r>
          </a:p>
          <a:p>
            <a:r>
              <a:t> Everything you learned this week shows up here</a:t>
            </a:r>
            <a:r>
              <a:rPr b="1"/>
              <a:t> at least once</a:t>
            </a:r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This is the whole course in one project. Small scope, done well, beats big scope, half-built.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Capabilities (all six)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passing project shows</a:t>
            </a:r>
            <a:r>
              <a:rPr b="1"/>
              <a:t> every</a:t>
            </a:r>
            <a:r>
              <a:t> capability at least once (ref</a:t>
            </a:r>
            <a:r>
              <a:rPr>
                <a:latin typeface="Courier New"/>
              </a:rPr>
              <a:t> capstone-rubric.md</a:t>
            </a:r>
            <a:r>
              <a:t> ):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261191"/>
              </p:ext>
            </p:extLst>
          </p:nvPr>
        </p:nvGraphicFramePr>
        <p:xfrm>
          <a:off x="234950" y="2286391"/>
          <a:ext cx="8902700" cy="3462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4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8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Minimum bar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147">
                <a:tc>
                  <a:txBody>
                    <a:bodyPr/>
                    <a:lstStyle/>
                    <a:p>
                      <a:r>
                        <a:rPr b="1"/>
                        <a:t>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 explicit plan / ReAct loop, not one prompt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147">
                <a:tc>
                  <a:txBody>
                    <a:bodyPr/>
                    <a:lstStyle/>
                    <a:p>
                      <a:r>
                        <a:rPr b="1"/>
                        <a:t>Tool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≥ 2 real tools with validated schemas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147">
                <a:tc>
                  <a:txBody>
                    <a:bodyPr/>
                    <a:lstStyle/>
                    <a:p>
                      <a:r>
                        <a:rPr b="1"/>
                        <a:t>Reflection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 system self-checks or revises ≥ 1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147">
                <a:tc>
                  <a:txBody>
                    <a:bodyPr/>
                    <a:lstStyle/>
                    <a:p>
                      <a:r>
                        <a:rPr b="1"/>
                        <a:t>Multi-agent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≥ 2 cooperating roles/agents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147">
                <a:tc>
                  <a:txBody>
                    <a:bodyPr/>
                    <a:lstStyle/>
                    <a:p>
                      <a:r>
                        <a:rPr b="1"/>
                        <a:t>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small frozen eval set + before/after scores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147">
                <a:tc>
                  <a:txBody>
                    <a:bodyPr/>
                    <a:lstStyle/>
                    <a:p>
                      <a:r>
                        <a:rPr b="1" dirty="0"/>
                        <a:t>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Audit log + human gate on dangerous 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1500" y="704044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Six checkboxes. Wire all six early with one thin thread, then make each one good.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It With the Agent Design Canvas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Fill</a:t>
            </a:r>
            <a:r>
              <a:rPr dirty="0">
                <a:latin typeface="Courier New"/>
              </a:rPr>
              <a:t> agent-design-</a:t>
            </a:r>
            <a:r>
              <a:rPr dirty="0" err="1">
                <a:latin typeface="Courier New"/>
              </a:rPr>
              <a:t>canvas.md</a:t>
            </a:r>
            <a:r>
              <a:rPr dirty="0"/>
              <a:t> </a:t>
            </a:r>
            <a:r>
              <a:rPr b="1" dirty="0"/>
              <a:t> before</a:t>
            </a:r>
            <a:r>
              <a:rPr dirty="0"/>
              <a:t> you write code — one page, seven boxes:</a:t>
            </a:r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The</a:t>
            </a:r>
            <a:r>
              <a:rPr b="1" dirty="0"/>
              <a:t> "out of scope"</a:t>
            </a:r>
            <a:r>
              <a:rPr dirty="0"/>
              <a:t> line is the most valuable thing you'll write today.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" y="2404691"/>
            <a:ext cx="9358313" cy="17442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85267" y="697859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finished canvas is a scoped project. A blank canvas is a demo that dies at 4 p.m.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for the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Use the</a:t>
            </a:r>
            <a:r>
              <a:rPr dirty="0">
                <a:latin typeface="Courier New"/>
              </a:rPr>
              <a:t> starter/</a:t>
            </a:r>
            <a:r>
              <a:rPr dirty="0"/>
              <a:t> scaffold in</a:t>
            </a:r>
            <a:r>
              <a:rPr dirty="0">
                <a:latin typeface="Courier New"/>
              </a:rPr>
              <a:t> labs/17-Capstone</a:t>
            </a:r>
            <a:r>
              <a:rPr dirty="0"/>
              <a:t> so hour one isn't plumbing.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" y="1474555"/>
            <a:ext cx="8915400" cy="16304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6872450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Hit "end-to-end but ugly" by lunch. Everything after lunch is making it good, not making it 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Demo Format (10 min / team)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From</a:t>
            </a:r>
            <a:r>
              <a:rPr dirty="0">
                <a:latin typeface="Courier New"/>
              </a:rPr>
              <a:t> capstone-</a:t>
            </a:r>
            <a:r>
              <a:rPr dirty="0" err="1">
                <a:latin typeface="Courier New"/>
              </a:rPr>
              <a:t>rubric.md</a:t>
            </a:r>
            <a:r>
              <a:rPr dirty="0"/>
              <a:t> :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Show the</a:t>
            </a:r>
            <a:r>
              <a:rPr b="1" dirty="0"/>
              <a:t> audit log</a:t>
            </a:r>
            <a:r>
              <a:rPr dirty="0"/>
              <a:t> live — reviewers grade the</a:t>
            </a:r>
            <a:r>
              <a:rPr i="1" dirty="0"/>
              <a:t> process</a:t>
            </a:r>
            <a:r>
              <a:rPr dirty="0"/>
              <a:t> , not just the answer.</a:t>
            </a:r>
          </a:p>
          <a:p>
            <a:r>
              <a:rPr dirty="0"/>
              <a:t> A handled edge case earns more than a flawless happy path.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1806829"/>
            <a:ext cx="9363075" cy="11483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Don't narrate what it would do. Run it, break it on purpose, and show the gate catching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You're Graded (100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740026"/>
              </p:ext>
            </p:extLst>
          </p:nvPr>
        </p:nvGraphicFramePr>
        <p:xfrm>
          <a:off x="237744" y="1540382"/>
          <a:ext cx="89154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7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5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Full 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Problem &amp;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Clear goal, sane scope, completed canvas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Reasoning &amp;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Robust loop; recovers from surprises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Tools &amp;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Well-specified tools; clean error handling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Reflection &amp;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Measurable lift from self-evaluation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Multi-agent coordination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Distinct roles that actually cooperate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Frozen set, honest metrics, before/after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Governance &amp;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Least privilege, human gate, full audit 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Demo &amp; 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Clear demo; team explains tradeoffs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19456" y="693210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Notice the weights: reasoning, tools, multi-agent, and eval are 60 of 100. Depth beats features.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Repo with runnable code (or a documented low-code flow) +</a:t>
            </a:r>
            <a:r>
              <a:rPr>
                <a:latin typeface="Courier New"/>
              </a:rPr>
              <a:t> requirements.txt</a:t>
            </a:r>
          </a:p>
          <a:p>
            <a:r>
              <a:t> Completed</a:t>
            </a:r>
            <a:r>
              <a:rPr>
                <a:latin typeface="Courier New"/>
              </a:rPr>
              <a:t> agent-design-canvas.md</a:t>
            </a:r>
            <a:r>
              <a:t> </a:t>
            </a:r>
            <a:r>
              <a:rPr b="1"/>
              <a:t> and</a:t>
            </a:r>
            <a:r>
              <a:t> </a:t>
            </a:r>
            <a:r>
              <a:rPr>
                <a:latin typeface="Courier New"/>
              </a:rPr>
              <a:t> agent-safety-checklist.md</a:t>
            </a:r>
          </a:p>
          <a:p>
            <a:r>
              <a:t> Eval set + a results table (before/after one change)</a:t>
            </a:r>
          </a:p>
          <a:p>
            <a:r>
              <a:t> A sample</a:t>
            </a:r>
            <a:r>
              <a:rPr b="1"/>
              <a:t> audit log (JSONL)</a:t>
            </a:r>
            <a:r>
              <a:t> from a real run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59521"/>
            <a:ext cx="8636000" cy="1854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66161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If the audit log and the eval results are missing, two of the six capabilities are unproven.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Thin thread first</a:t>
            </a:r>
            <a:r>
              <a:t> — one supervisor, one worker, one tool, one logged run</a:t>
            </a:r>
          </a:p>
          <a:p>
            <a:r>
              <a:rPr b="1"/>
              <a:t> Freeze the eval set early</a:t>
            </a:r>
            <a:r>
              <a:t> and never edit it — that's how "before/after" means anything</a:t>
            </a:r>
          </a:p>
          <a:p>
            <a:r>
              <a:rPr b="1"/>
              <a:t> Fake slow/expensive tools</a:t>
            </a:r>
            <a:r>
              <a:t> with local stubs; spend your time on the</a:t>
            </a:r>
            <a:r>
              <a:rPr i="1"/>
              <a:t> loop</a:t>
            </a:r>
            <a:r>
              <a:t> , not integrations</a:t>
            </a:r>
          </a:p>
          <a:p>
            <a:r>
              <a:rPr b="1"/>
              <a:t> Cap the loop</a:t>
            </a:r>
            <a:r>
              <a:t> (max steps + cost) on line one</a:t>
            </a:r>
          </a:p>
          <a:p>
            <a:r>
              <a:rPr b="1"/>
              <a:t> One dangerous action, well-gated</a:t>
            </a:r>
            <a:r>
              <a:t> beats five ungated ones</a:t>
            </a:r>
          </a:p>
          <a:p>
            <a:r>
              <a:t> Reuse the course assets:</a:t>
            </a:r>
            <a:r>
              <a:rPr>
                <a:latin typeface="Courier New"/>
              </a:rPr>
              <a:t> help_center.md</a:t>
            </a:r>
            <a:r>
              <a:t> ,</a:t>
            </a:r>
            <a:r>
              <a:rPr>
                <a:latin typeface="Courier New"/>
              </a:rPr>
              <a:t> support_tickets.csv</a:t>
            </a:r>
            <a:r>
              <a:t> , the audit schema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Every hour ask: "what's the one thing that, if it breaks in the demo, sinks us?" Fix that.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Scope creep</a:t>
            </a:r>
            <a:r>
              <a:t> — five domains, zero finished. Pick one use case.</a:t>
            </a:r>
          </a:p>
          <a:p>
            <a:r>
              <a:rPr b="1"/>
              <a:t> Prompt-in-a-trenchcoat</a:t>
            </a:r>
            <a:r>
              <a:t> — one giant prompt pretending to be multi-agent</a:t>
            </a:r>
          </a:p>
          <a:p>
            <a:r>
              <a:rPr b="1"/>
              <a:t> No eval set</a:t>
            </a:r>
            <a:r>
              <a:t> — "it worked when I tried it" is not evaluation</a:t>
            </a:r>
          </a:p>
          <a:p>
            <a:r>
              <a:rPr b="1"/>
              <a:t> Governance bolted on at 4 p.m.</a:t>
            </a:r>
            <a:r>
              <a:t> — the log and the gate are design, not garnish</a:t>
            </a:r>
          </a:p>
          <a:p>
            <a:r>
              <a:rPr b="1"/>
              <a:t> Demo-by-slides</a:t>
            </a:r>
            <a:r>
              <a:t> — reviewers want it</a:t>
            </a:r>
            <a:r>
              <a:rPr i="1"/>
              <a:t> live</a:t>
            </a:r>
            <a:r>
              <a:t> , including the failure case</a:t>
            </a:r>
          </a:p>
          <a:p>
            <a:r>
              <a:rPr b="1"/>
              <a:t> Real integrations eating the day</a:t>
            </a:r>
            <a:r>
              <a:t> — a flaky API will cost you the eval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failure mode is always the same: too much scope, safety last, and nothing that runs end to 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Gallery —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Invoice triage &amp; approval</a:t>
            </a:r>
            <a:r>
              <a:t> — extract → validate against PO → flag anomalies →</a:t>
            </a:r>
            <a:r>
              <a:rPr b="1"/>
              <a:t> human gate</a:t>
            </a:r>
            <a:r>
              <a:t> to approve payment</a:t>
            </a:r>
          </a:p>
          <a:p>
            <a:r>
              <a:rPr b="1"/>
              <a:t> Expense-policy auditor</a:t>
            </a:r>
            <a:r>
              <a:t> — read expense rows, cite the policy clause, escalate the gray areas</a:t>
            </a:r>
          </a:p>
          <a:p>
            <a:r>
              <a:rPr b="1"/>
              <a:t> Earnings-call briefer</a:t>
            </a:r>
            <a:r>
              <a:t> — retrieve transcript → summarize → reflect for factuality → cite sources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39712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Finance = high stakes, clear rules to cite, obvious dangerous action (pay). A natural governance 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Gallery — HR &amp; Real Estate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HR</a:t>
            </a:r>
          </a:p>
          <a:p>
            <a:pPr lvl="1"/>
            <a:r>
              <a:rPr b="1"/>
              <a:t> Onboarding coordinator</a:t>
            </a:r>
            <a:r>
              <a:t> — schedule, draft welcome emails, checklist (draft-only, human sends)</a:t>
            </a:r>
          </a:p>
          <a:p>
            <a:pPr lvl="1"/>
            <a:r>
              <a:rPr b="1"/>
              <a:t> Pay-equity analyst</a:t>
            </a:r>
            <a:r>
              <a:t> — query aggregates (no raw PII), reflect on the finding, gated report</a:t>
            </a:r>
          </a:p>
          <a:p>
            <a:pPr lvl="1"/>
            <a:r>
              <a:rPr b="1"/>
              <a:t> Policy Q&amp;A</a:t>
            </a:r>
            <a:r>
              <a:t> — answer only from the handbook; escalate anything legal</a:t>
            </a:r>
          </a:p>
          <a:p>
            <a:r>
              <a:rPr b="1"/>
              <a:t> Real Estate</a:t>
            </a:r>
          </a:p>
          <a:p>
            <a:pPr lvl="1"/>
            <a:r>
              <a:rPr b="1"/>
              <a:t> Listing assistant</a:t>
            </a:r>
            <a:r>
              <a:t> — draft listings from specs + comps; reflect for compliance wording</a:t>
            </a:r>
          </a:p>
          <a:p>
            <a:pPr lvl="1"/>
            <a:r>
              <a:rPr b="1"/>
              <a:t> Lead qualifier</a:t>
            </a:r>
            <a:r>
              <a:t> — score inbound leads, route hot ones, book viewings (gated)</a:t>
            </a:r>
          </a:p>
          <a:p>
            <a:pPr lvl="1"/>
            <a:r>
              <a:rPr b="1"/>
              <a:t> Comps analyst</a:t>
            </a:r>
            <a:r>
              <a:t> — pull comparables, compute a range, cite each comp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44475" y="690788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HR and Real Estate both live near regulated data — perfect for showing least privilege and gates.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Gallery — Customer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Tier-1 resolver</a:t>
            </a:r>
            <a:r>
              <a:t> — answer from</a:t>
            </a:r>
            <a:r>
              <a:rPr>
                <a:latin typeface="Courier New"/>
              </a:rPr>
              <a:t> help_center.md</a:t>
            </a:r>
            <a:r>
              <a:t> , escalate what it can't ground</a:t>
            </a:r>
          </a:p>
          <a:p>
            <a:r>
              <a:rPr b="1"/>
              <a:t> Refund handler</a:t>
            </a:r>
            <a:r>
              <a:t> — verify eligibility from the KB, then a</a:t>
            </a:r>
            <a:r>
              <a:rPr b="1"/>
              <a:t> human gate</a:t>
            </a:r>
            <a:r>
              <a:t> before issuing</a:t>
            </a:r>
          </a:p>
          <a:p>
            <a:r>
              <a:rPr b="1"/>
              <a:t> Voice support line</a:t>
            </a:r>
            <a:r>
              <a:t> — reuse your Lab 15 agent; add a second agent for account changes</a:t>
            </a:r>
          </a:p>
          <a:p>
            <a:r>
              <a:rPr b="1"/>
              <a:t> Ticket triage swarm</a:t>
            </a:r>
            <a:r>
              <a:t> — classifier agent + drafting agent + a QA/reflection agent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Support has ready-made assets (help_center.md, support_tickets.csv) — you can be building by 10:15.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It — Good Luck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Go to</a:t>
            </a:r>
          </a:p>
          <a:p>
            <a:r>
              <a:rPr b="1" i="1"/>
              <a:t> labs/17-Capstone</a:t>
            </a:r>
            <a:r>
              <a:t> — run-of-show, the</a:t>
            </a:r>
            <a:r>
              <a:rPr>
                <a:latin typeface="Courier New"/>
              </a:rPr>
              <a:t> starter/</a:t>
            </a:r>
            <a:r>
              <a:t> scaffold, and the rubric</a:t>
            </a:r>
          </a:p>
          <a:p>
            <a:r>
              <a:t> Design on paper first. Get one thread running. Then make it good.</a:t>
            </a:r>
          </a:p>
          <a:p>
            <a:r>
              <a:t> Log everything. Gate the dangerous thing. Prove it with the eval set.</a:t>
            </a:r>
          </a:p>
          <a:p>
            <a:r>
              <a:t> Demo it</a:t>
            </a:r>
            <a:r>
              <a:rPr b="1"/>
              <a:t> live</a:t>
            </a:r>
            <a:r>
              <a:t> — edge case and all.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687473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You started the week hand-building a ReAct loop. Today you ship a governed multi-agent system. Go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378297</TotalTime>
  <Words>1309</Words>
  <Application>Microsoft Macintosh PowerPoint</Application>
  <PresentationFormat>Custom</PresentationFormat>
  <Paragraphs>165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Capstone: Enterprise AI Agent Challenge</vt:lpstr>
      <vt:lpstr>The Challenge</vt:lpstr>
      <vt:lpstr>Required Capabilities (all six)</vt:lpstr>
      <vt:lpstr>Scope It With the Agent Design Canvas</vt:lpstr>
      <vt:lpstr>Timeline for the Day</vt:lpstr>
      <vt:lpstr>The Demo Format (10 min / team)</vt:lpstr>
      <vt:lpstr>How You're Graded (100 pts)</vt:lpstr>
      <vt:lpstr>Deliverables</vt:lpstr>
      <vt:lpstr>Tips</vt:lpstr>
      <vt:lpstr>Common Pitfalls</vt:lpstr>
      <vt:lpstr>Gallery — Finance</vt:lpstr>
      <vt:lpstr>Gallery — HR &amp; Real Estate</vt:lpstr>
      <vt:lpstr>Gallery — Customer Support</vt:lpstr>
      <vt:lpstr>Build It — Good Luck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4137</cp:revision>
  <cp:lastPrinted>2010-01-03T02:41:41Z</cp:lastPrinted>
  <dcterms:created xsi:type="dcterms:W3CDTF">2010-07-13T15:22:01Z</dcterms:created>
  <dcterms:modified xsi:type="dcterms:W3CDTF">2026-10-23T01:15:20Z</dcterms:modified>
</cp:coreProperties>
</file>